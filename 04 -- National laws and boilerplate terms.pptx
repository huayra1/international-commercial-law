
<file path=[Content_Types].xml><?xml version="1.0" encoding="utf-8"?>
<Types xmlns="http://schemas.openxmlformats.org/package/2006/content-types">
  <Default Extension="fntdata" ContentType="application/x-fontdata"/>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1" r:id="rId4"/>
  </p:sldMasterIdLst>
  <p:notesMasterIdLst>
    <p:notesMasterId r:id="rId63"/>
  </p:notesMasterIdLst>
  <p:sldIdLst>
    <p:sldId id="526" r:id="rId5"/>
    <p:sldId id="262" r:id="rId6"/>
    <p:sldId id="557" r:id="rId7"/>
    <p:sldId id="560" r:id="rId8"/>
    <p:sldId id="645" r:id="rId9"/>
    <p:sldId id="648" r:id="rId10"/>
    <p:sldId id="649" r:id="rId11"/>
    <p:sldId id="650" r:id="rId12"/>
    <p:sldId id="631" r:id="rId13"/>
    <p:sldId id="297" r:id="rId14"/>
    <p:sldId id="300" r:id="rId15"/>
    <p:sldId id="259" r:id="rId16"/>
    <p:sldId id="311" r:id="rId17"/>
    <p:sldId id="312" r:id="rId18"/>
    <p:sldId id="313" r:id="rId19"/>
    <p:sldId id="314" r:id="rId20"/>
    <p:sldId id="315" r:id="rId21"/>
    <p:sldId id="302" r:id="rId22"/>
    <p:sldId id="316" r:id="rId23"/>
    <p:sldId id="299" r:id="rId24"/>
    <p:sldId id="301" r:id="rId25"/>
    <p:sldId id="303" r:id="rId26"/>
    <p:sldId id="304" r:id="rId27"/>
    <p:sldId id="305" r:id="rId28"/>
    <p:sldId id="306" r:id="rId29"/>
    <p:sldId id="307" r:id="rId30"/>
    <p:sldId id="308" r:id="rId31"/>
    <p:sldId id="309" r:id="rId32"/>
    <p:sldId id="310" r:id="rId33"/>
    <p:sldId id="630" r:id="rId34"/>
    <p:sldId id="298" r:id="rId35"/>
    <p:sldId id="652" r:id="rId36"/>
    <p:sldId id="653" r:id="rId37"/>
    <p:sldId id="666" r:id="rId38"/>
    <p:sldId id="656" r:id="rId39"/>
    <p:sldId id="657" r:id="rId40"/>
    <p:sldId id="658" r:id="rId41"/>
    <p:sldId id="659" r:id="rId42"/>
    <p:sldId id="660" r:id="rId43"/>
    <p:sldId id="661" r:id="rId44"/>
    <p:sldId id="662" r:id="rId45"/>
    <p:sldId id="663" r:id="rId46"/>
    <p:sldId id="664" r:id="rId47"/>
    <p:sldId id="665" r:id="rId48"/>
    <p:sldId id="317" r:id="rId49"/>
    <p:sldId id="318" r:id="rId50"/>
    <p:sldId id="667" r:id="rId51"/>
    <p:sldId id="320" r:id="rId52"/>
    <p:sldId id="321" r:id="rId53"/>
    <p:sldId id="322" r:id="rId54"/>
    <p:sldId id="323" r:id="rId55"/>
    <p:sldId id="324" r:id="rId56"/>
    <p:sldId id="325" r:id="rId57"/>
    <p:sldId id="329" r:id="rId58"/>
    <p:sldId id="330" r:id="rId59"/>
    <p:sldId id="670" r:id="rId60"/>
    <p:sldId id="671" r:id="rId61"/>
    <p:sldId id="468" r:id="rId62"/>
  </p:sldIdLst>
  <p:sldSz cx="12192000" cy="6858000"/>
  <p:notesSz cx="6858000" cy="9144000"/>
  <p:embeddedFontLst>
    <p:embeddedFont>
      <p:font typeface="Calibri" panose="020F0502020204030204" pitchFamily="34" charset="0"/>
      <p:regular r:id="rId64"/>
      <p:bold r:id="rId65"/>
      <p:italic r:id="rId66"/>
      <p:boldItalic r:id="rId67"/>
    </p:embeddedFont>
    <p:embeddedFont>
      <p:font typeface="Source Sans Pro Light" panose="020B0403030403020204" pitchFamily="34" charset="0"/>
      <p:regular r:id="rId68"/>
      <p:italic r:id="rId69"/>
    </p:embeddedFont>
  </p:embeddedFontLst>
  <p:defaultText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EEEEE"/>
    <a:srgbClr val="4490C2"/>
    <a:srgbClr val="CAE9F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FA572D8-648E-46C0-ACBC-3554A9A42D31}" v="35" dt="2020-02-11T20:20:18.9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1" autoAdjust="0"/>
    <p:restoredTop sz="94660"/>
  </p:normalViewPr>
  <p:slideViewPr>
    <p:cSldViewPr snapToGrid="0">
      <p:cViewPr varScale="1">
        <p:scale>
          <a:sx n="164" d="100"/>
          <a:sy n="164" d="100"/>
        </p:scale>
        <p:origin x="172" y="1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notesMaster" Target="notesMasters/notesMaster1.xml"/><Relationship Id="rId68" Type="http://schemas.openxmlformats.org/officeDocument/2006/relationships/font" Target="fonts/font5.fntdata"/><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font" Target="fonts/font3.fntdata"/><Relationship Id="rId74" Type="http://schemas.microsoft.com/office/2016/11/relationships/changesInfo" Target="changesInfos/changesInfo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font" Target="fonts/font1.fntdata"/><Relationship Id="rId69" Type="http://schemas.openxmlformats.org/officeDocument/2006/relationships/font" Target="fonts/font6.fntdata"/><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font" Target="fonts/font4.fntdata"/><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presProps" Target="presProps.xml"/><Relationship Id="rId75"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font" Target="fonts/font2.fntdata"/><Relationship Id="rId7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7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los Novovic" userId="a1d7132c96a2f9fa" providerId="LiveId" clId="{B7769489-8460-416E-B206-A856F37237CE}"/>
    <pc:docChg chg="modSld">
      <pc:chgData name="Milos Novovic" userId="a1d7132c96a2f9fa" providerId="LiveId" clId="{B7769489-8460-416E-B206-A856F37237CE}" dt="2020-02-11T20:20:18.983" v="34" actId="20577"/>
      <pc:docMkLst>
        <pc:docMk/>
      </pc:docMkLst>
      <pc:sldChg chg="modSp">
        <pc:chgData name="Milos Novovic" userId="a1d7132c96a2f9fa" providerId="LiveId" clId="{B7769489-8460-416E-B206-A856F37237CE}" dt="2020-02-11T20:20:18.983" v="34" actId="20577"/>
        <pc:sldMkLst>
          <pc:docMk/>
          <pc:sldMk cId="3836151005" sldId="526"/>
        </pc:sldMkLst>
        <pc:spChg chg="mod">
          <ac:chgData name="Milos Novovic" userId="a1d7132c96a2f9fa" providerId="LiveId" clId="{B7769489-8460-416E-B206-A856F37237CE}" dt="2020-02-11T20:20:18.983" v="34" actId="20577"/>
          <ac:spMkLst>
            <pc:docMk/>
            <pc:sldMk cId="3836151005" sldId="526"/>
            <ac:spMk id="2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opptekst 1">
            <a:extLst>
              <a:ext uri="{FF2B5EF4-FFF2-40B4-BE49-F238E27FC236}">
                <a16:creationId xmlns:a16="http://schemas.microsoft.com/office/drawing/2014/main" id="{2F7F0081-A9B3-4535-B513-078247E21E1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b-NO"/>
          </a:p>
        </p:txBody>
      </p:sp>
      <p:sp>
        <p:nvSpPr>
          <p:cNvPr id="3" name="Plassholder for dato 2">
            <a:extLst>
              <a:ext uri="{FF2B5EF4-FFF2-40B4-BE49-F238E27FC236}">
                <a16:creationId xmlns:a16="http://schemas.microsoft.com/office/drawing/2014/main" id="{3DAA706C-6D4F-4472-8F24-6984F6EE08DA}"/>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B475CD-C60F-4097-A3D3-9509919E9BA6}" type="datetimeFigureOut">
              <a:rPr lang="nb-NO" smtClean="0"/>
              <a:t>11.02.2020</a:t>
            </a:fld>
            <a:endParaRPr lang="nb-NO"/>
          </a:p>
        </p:txBody>
      </p:sp>
      <p:sp>
        <p:nvSpPr>
          <p:cNvPr id="4" name="Plassholder for lysbilde 3">
            <a:extLst>
              <a:ext uri="{FF2B5EF4-FFF2-40B4-BE49-F238E27FC236}">
                <a16:creationId xmlns:a16="http://schemas.microsoft.com/office/drawing/2014/main" id="{93DE8450-1FCF-43C8-A5D2-84D68741C6D8}"/>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b-NO"/>
          </a:p>
        </p:txBody>
      </p:sp>
      <p:sp>
        <p:nvSpPr>
          <p:cNvPr id="5" name="Plassholder for notater 4">
            <a:extLst>
              <a:ext uri="{FF2B5EF4-FFF2-40B4-BE49-F238E27FC236}">
                <a16:creationId xmlns:a16="http://schemas.microsoft.com/office/drawing/2014/main" id="{CEE9AB8C-9182-49AA-BE1E-B1D23BED289C}"/>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6" name="Plassholder for bunntekst 5">
            <a:extLst>
              <a:ext uri="{FF2B5EF4-FFF2-40B4-BE49-F238E27FC236}">
                <a16:creationId xmlns:a16="http://schemas.microsoft.com/office/drawing/2014/main" id="{24557CEC-17A1-4EA1-BB8F-43269AB196DB}"/>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b-NO"/>
          </a:p>
        </p:txBody>
      </p:sp>
      <p:sp>
        <p:nvSpPr>
          <p:cNvPr id="7" name="Plassholder for lysbildenummer 6">
            <a:extLst>
              <a:ext uri="{FF2B5EF4-FFF2-40B4-BE49-F238E27FC236}">
                <a16:creationId xmlns:a16="http://schemas.microsoft.com/office/drawing/2014/main" id="{BB57E1C2-1E1B-4C2A-9F83-6A4237264AFD}"/>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37FAB6-014A-4D5D-996C-3AA26FE08398}" type="slidenum">
              <a:rPr lang="nb-NO" smtClean="0"/>
              <a:t>‹#›</a:t>
            </a:fld>
            <a:endParaRPr lang="nb-NO"/>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6464666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Rectangle 1"/>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6"/>
          <p:cNvSpPr txBox="1"/>
          <p:nvPr userDrawn="1"/>
        </p:nvSpPr>
        <p:spPr>
          <a:xfrm>
            <a:off x="11560205" y="305131"/>
            <a:ext cx="399468"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400" dirty="0">
              <a:solidFill>
                <a:schemeClr val="bg1"/>
              </a:solidFill>
            </a:endParaRPr>
          </a:p>
        </p:txBody>
      </p:sp>
      <p:grpSp>
        <p:nvGrpSpPr>
          <p:cNvPr id="6" name="Group 5"/>
          <p:cNvGrpSpPr/>
          <p:nvPr userDrawn="1"/>
        </p:nvGrpSpPr>
        <p:grpSpPr>
          <a:xfrm>
            <a:off x="347419" y="6409324"/>
            <a:ext cx="224082" cy="221156"/>
            <a:chOff x="4328868" y="5502988"/>
            <a:chExt cx="500307" cy="493774"/>
          </a:xfrm>
        </p:grpSpPr>
        <p:sp>
          <p:nvSpPr>
            <p:cNvPr id="8" name="Freeform 7">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9" name="Freeform 8">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10" name="Group 9"/>
          <p:cNvGrpSpPr/>
          <p:nvPr userDrawn="1"/>
        </p:nvGrpSpPr>
        <p:grpSpPr>
          <a:xfrm flipH="1">
            <a:off x="933709" y="6409324"/>
            <a:ext cx="224082" cy="221156"/>
            <a:chOff x="4328868" y="5502988"/>
            <a:chExt cx="500307" cy="493774"/>
          </a:xfrm>
        </p:grpSpPr>
        <p:sp>
          <p:nvSpPr>
            <p:cNvPr id="11" name="Freeform 10">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12" name="Freeform 11">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4" name="Straight Connector 3"/>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344686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2_Title Slide">
    <p:spTree>
      <p:nvGrpSpPr>
        <p:cNvPr id="1" name=""/>
        <p:cNvGrpSpPr/>
        <p:nvPr/>
      </p:nvGrpSpPr>
      <p:grpSpPr>
        <a:xfrm>
          <a:off x="0" y="0"/>
          <a:ext cx="0" cy="0"/>
          <a:chOff x="0" y="0"/>
          <a:chExt cx="0" cy="0"/>
        </a:xfrm>
      </p:grpSpPr>
      <p:sp>
        <p:nvSpPr>
          <p:cNvPr id="2" name="Rectangle 1"/>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6"/>
          <p:cNvSpPr txBox="1"/>
          <p:nvPr userDrawn="1"/>
        </p:nvSpPr>
        <p:spPr>
          <a:xfrm>
            <a:off x="11560205" y="305131"/>
            <a:ext cx="399468"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400" dirty="0">
              <a:solidFill>
                <a:schemeClr val="bg1"/>
              </a:solidFill>
            </a:endParaRPr>
          </a:p>
        </p:txBody>
      </p:sp>
    </p:spTree>
    <p:extLst>
      <p:ext uri="{BB962C8B-B14F-4D97-AF65-F5344CB8AC3E}">
        <p14:creationId xmlns:p14="http://schemas.microsoft.com/office/powerpoint/2010/main" val="27059028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8" name="Rectangle 7"/>
          <p:cNvSpPr/>
          <p:nvPr userDrawn="1"/>
        </p:nvSpPr>
        <p:spPr>
          <a:xfrm>
            <a:off x="0" y="-1"/>
            <a:ext cx="12192000" cy="4152123"/>
          </a:xfrm>
          <a:prstGeom prst="rect">
            <a:avLst/>
          </a:prstGeom>
          <a:pattFill prst="pct5">
            <a:fgClr>
              <a:schemeClr val="tx2">
                <a:lumMod val="75000"/>
              </a:schemeClr>
            </a:fgClr>
            <a:bgClr>
              <a:schemeClr val="tx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Rectangle 1"/>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6"/>
          <p:cNvSpPr txBox="1"/>
          <p:nvPr userDrawn="1"/>
        </p:nvSpPr>
        <p:spPr>
          <a:xfrm>
            <a:off x="11560205" y="305131"/>
            <a:ext cx="399468"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400" dirty="0">
              <a:solidFill>
                <a:schemeClr val="bg1"/>
              </a:solidFill>
            </a:endParaRPr>
          </a:p>
        </p:txBody>
      </p:sp>
      <p:sp>
        <p:nvSpPr>
          <p:cNvPr id="6" name="Picture Placeholder 3"/>
          <p:cNvSpPr>
            <a:spLocks noGrp="1"/>
          </p:cNvSpPr>
          <p:nvPr>
            <p:ph type="pic" sz="quarter" idx="10"/>
          </p:nvPr>
        </p:nvSpPr>
        <p:spPr>
          <a:xfrm>
            <a:off x="5265737" y="921256"/>
            <a:ext cx="1660525" cy="1658937"/>
          </a:xfrm>
          <a:prstGeom prst="ellipse">
            <a:avLst/>
          </a:prstGeom>
        </p:spPr>
        <p:txBody>
          <a:bodyPr>
            <a:normAutofit/>
          </a:bodyPr>
          <a:lstStyle>
            <a:lvl1pPr>
              <a:defRPr sz="1600">
                <a:solidFill>
                  <a:schemeClr val="accent2"/>
                </a:solidFill>
              </a:defRPr>
            </a:lvl1pPr>
          </a:lstStyle>
          <a:p>
            <a:endParaRPr lang="id-ID" dirty="0"/>
          </a:p>
        </p:txBody>
      </p:sp>
      <p:grpSp>
        <p:nvGrpSpPr>
          <p:cNvPr id="16" name="Group 15"/>
          <p:cNvGrpSpPr/>
          <p:nvPr userDrawn="1"/>
        </p:nvGrpSpPr>
        <p:grpSpPr>
          <a:xfrm>
            <a:off x="347419" y="6409324"/>
            <a:ext cx="224082" cy="221156"/>
            <a:chOff x="4328868" y="5502988"/>
            <a:chExt cx="500307" cy="493774"/>
          </a:xfrm>
        </p:grpSpPr>
        <p:sp>
          <p:nvSpPr>
            <p:cNvPr id="17" name="Freeform 16">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18" name="Freeform 17">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19" name="Group 18"/>
          <p:cNvGrpSpPr/>
          <p:nvPr userDrawn="1"/>
        </p:nvGrpSpPr>
        <p:grpSpPr>
          <a:xfrm flipH="1">
            <a:off x="933709" y="6409324"/>
            <a:ext cx="224082" cy="221156"/>
            <a:chOff x="4328868" y="5502988"/>
            <a:chExt cx="500307" cy="493774"/>
          </a:xfrm>
        </p:grpSpPr>
        <p:sp>
          <p:nvSpPr>
            <p:cNvPr id="20" name="Freeform 19">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1" name="Freeform 20">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22" name="Straight Connector 21"/>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53848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2" name="Rectangle 1"/>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accent2"/>
              </a:solidFill>
            </a:endParaRPr>
          </a:p>
        </p:txBody>
      </p:sp>
      <p:sp>
        <p:nvSpPr>
          <p:cNvPr id="5" name="Rectangle 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accent2"/>
              </a:solidFill>
            </a:endParaRPr>
          </a:p>
        </p:txBody>
      </p:sp>
      <p:sp>
        <p:nvSpPr>
          <p:cNvPr id="7" name="TextBox 6"/>
          <p:cNvSpPr txBox="1"/>
          <p:nvPr userDrawn="1"/>
        </p:nvSpPr>
        <p:spPr>
          <a:xfrm>
            <a:off x="11560205" y="305131"/>
            <a:ext cx="399468"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400" dirty="0">
              <a:solidFill>
                <a:schemeClr val="bg1"/>
              </a:solidFill>
            </a:endParaRPr>
          </a:p>
        </p:txBody>
      </p:sp>
      <p:sp>
        <p:nvSpPr>
          <p:cNvPr id="8" name="Picture Placeholder 3"/>
          <p:cNvSpPr>
            <a:spLocks noGrp="1"/>
          </p:cNvSpPr>
          <p:nvPr>
            <p:ph type="pic" sz="quarter" idx="11"/>
          </p:nvPr>
        </p:nvSpPr>
        <p:spPr>
          <a:xfrm>
            <a:off x="8116673" y="1993246"/>
            <a:ext cx="4059266" cy="2635316"/>
          </a:xfrm>
        </p:spPr>
        <p:txBody>
          <a:bodyPr>
            <a:normAutofit/>
          </a:bodyPr>
          <a:lstStyle>
            <a:lvl1pPr>
              <a:defRPr sz="1600">
                <a:solidFill>
                  <a:schemeClr val="accent2"/>
                </a:solidFill>
              </a:defRPr>
            </a:lvl1pPr>
          </a:lstStyle>
          <a:p>
            <a:endParaRPr lang="id-ID"/>
          </a:p>
        </p:txBody>
      </p:sp>
      <p:sp>
        <p:nvSpPr>
          <p:cNvPr id="11" name="Picture Placeholder 3"/>
          <p:cNvSpPr>
            <a:spLocks noGrp="1"/>
          </p:cNvSpPr>
          <p:nvPr>
            <p:ph type="pic" sz="quarter" idx="12"/>
          </p:nvPr>
        </p:nvSpPr>
        <p:spPr>
          <a:xfrm>
            <a:off x="0" y="1993246"/>
            <a:ext cx="4058337" cy="2635316"/>
          </a:xfrm>
        </p:spPr>
        <p:txBody>
          <a:bodyPr>
            <a:normAutofit/>
          </a:bodyPr>
          <a:lstStyle>
            <a:lvl1pPr>
              <a:defRPr sz="1600">
                <a:solidFill>
                  <a:schemeClr val="accent2"/>
                </a:solidFill>
              </a:defRPr>
            </a:lvl1pPr>
          </a:lstStyle>
          <a:p>
            <a:endParaRPr lang="id-ID"/>
          </a:p>
        </p:txBody>
      </p:sp>
      <p:grpSp>
        <p:nvGrpSpPr>
          <p:cNvPr id="17" name="Group 16"/>
          <p:cNvGrpSpPr/>
          <p:nvPr userDrawn="1"/>
        </p:nvGrpSpPr>
        <p:grpSpPr>
          <a:xfrm>
            <a:off x="347419" y="6409324"/>
            <a:ext cx="224082" cy="221156"/>
            <a:chOff x="4328868" y="5502988"/>
            <a:chExt cx="500307" cy="493774"/>
          </a:xfrm>
        </p:grpSpPr>
        <p:sp>
          <p:nvSpPr>
            <p:cNvPr id="18" name="Freeform 17">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19" name="Freeform 18">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0" name="Group 19"/>
          <p:cNvGrpSpPr/>
          <p:nvPr userDrawn="1"/>
        </p:nvGrpSpPr>
        <p:grpSpPr>
          <a:xfrm flipH="1">
            <a:off x="933709" y="6409324"/>
            <a:ext cx="224082" cy="221156"/>
            <a:chOff x="4328868" y="5502988"/>
            <a:chExt cx="500307" cy="493774"/>
          </a:xfrm>
        </p:grpSpPr>
        <p:sp>
          <p:nvSpPr>
            <p:cNvPr id="21" name="Freeform 20">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2" name="Freeform 21">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23" name="Straight Connector 22"/>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16236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2" name="Rectangle 1"/>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accent2"/>
              </a:solidFill>
            </a:endParaRPr>
          </a:p>
        </p:txBody>
      </p:sp>
      <p:sp>
        <p:nvSpPr>
          <p:cNvPr id="5" name="Rectangle 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accent2"/>
              </a:solidFill>
            </a:endParaRPr>
          </a:p>
        </p:txBody>
      </p:sp>
      <p:sp>
        <p:nvSpPr>
          <p:cNvPr id="7" name="TextBox 6"/>
          <p:cNvSpPr txBox="1"/>
          <p:nvPr userDrawn="1"/>
        </p:nvSpPr>
        <p:spPr>
          <a:xfrm>
            <a:off x="11560205" y="305131"/>
            <a:ext cx="399468"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400" dirty="0">
              <a:solidFill>
                <a:schemeClr val="bg1"/>
              </a:solidFill>
            </a:endParaRPr>
          </a:p>
        </p:txBody>
      </p:sp>
      <p:sp>
        <p:nvSpPr>
          <p:cNvPr id="11" name="Picture Placeholder 3"/>
          <p:cNvSpPr>
            <a:spLocks noGrp="1"/>
          </p:cNvSpPr>
          <p:nvPr>
            <p:ph type="pic" sz="quarter" idx="12"/>
          </p:nvPr>
        </p:nvSpPr>
        <p:spPr>
          <a:xfrm>
            <a:off x="0" y="1993246"/>
            <a:ext cx="12192000" cy="2635316"/>
          </a:xfrm>
        </p:spPr>
        <p:txBody>
          <a:bodyPr>
            <a:normAutofit/>
          </a:bodyPr>
          <a:lstStyle>
            <a:lvl1pPr>
              <a:defRPr sz="1600">
                <a:solidFill>
                  <a:schemeClr val="accent2"/>
                </a:solidFill>
              </a:defRPr>
            </a:lvl1pPr>
          </a:lstStyle>
          <a:p>
            <a:endParaRPr lang="id-ID"/>
          </a:p>
        </p:txBody>
      </p:sp>
      <p:grpSp>
        <p:nvGrpSpPr>
          <p:cNvPr id="15" name="Group 14"/>
          <p:cNvGrpSpPr/>
          <p:nvPr userDrawn="1"/>
        </p:nvGrpSpPr>
        <p:grpSpPr>
          <a:xfrm>
            <a:off x="347419" y="6409324"/>
            <a:ext cx="224082" cy="221156"/>
            <a:chOff x="4328868" y="5502988"/>
            <a:chExt cx="500307" cy="493774"/>
          </a:xfrm>
        </p:grpSpPr>
        <p:sp>
          <p:nvSpPr>
            <p:cNvPr id="16" name="Freeform 15">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17" name="Freeform 16">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18" name="Group 17"/>
          <p:cNvGrpSpPr/>
          <p:nvPr userDrawn="1"/>
        </p:nvGrpSpPr>
        <p:grpSpPr>
          <a:xfrm flipH="1">
            <a:off x="933709" y="6409324"/>
            <a:ext cx="224082" cy="221156"/>
            <a:chOff x="4328868" y="5502988"/>
            <a:chExt cx="500307" cy="493774"/>
          </a:xfrm>
        </p:grpSpPr>
        <p:sp>
          <p:nvSpPr>
            <p:cNvPr id="19" name="Freeform 18">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0" name="Freeform 19">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21" name="Straight Connector 20"/>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9859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sp>
        <p:nvSpPr>
          <p:cNvPr id="6" name="Picture Placeholder 3"/>
          <p:cNvSpPr>
            <a:spLocks noGrp="1"/>
          </p:cNvSpPr>
          <p:nvPr>
            <p:ph type="pic" sz="quarter" idx="10"/>
          </p:nvPr>
        </p:nvSpPr>
        <p:spPr>
          <a:xfrm>
            <a:off x="0" y="0"/>
            <a:ext cx="2034000" cy="2286000"/>
          </a:xfrm>
        </p:spPr>
        <p:txBody>
          <a:bodyPr/>
          <a:lstStyle>
            <a:lvl1pPr>
              <a:defRPr sz="1800">
                <a:solidFill>
                  <a:schemeClr val="accent2"/>
                </a:solidFill>
              </a:defRPr>
            </a:lvl1pPr>
          </a:lstStyle>
          <a:p>
            <a:endParaRPr lang="id-ID"/>
          </a:p>
        </p:txBody>
      </p:sp>
      <p:sp>
        <p:nvSpPr>
          <p:cNvPr id="8" name="Picture Placeholder 3"/>
          <p:cNvSpPr>
            <a:spLocks noGrp="1"/>
          </p:cNvSpPr>
          <p:nvPr>
            <p:ph type="pic" sz="quarter" idx="11"/>
          </p:nvPr>
        </p:nvSpPr>
        <p:spPr>
          <a:xfrm>
            <a:off x="0" y="2286000"/>
            <a:ext cx="2034000" cy="2286000"/>
          </a:xfrm>
        </p:spPr>
        <p:txBody>
          <a:bodyPr/>
          <a:lstStyle>
            <a:lvl1pPr>
              <a:defRPr sz="1800">
                <a:solidFill>
                  <a:schemeClr val="accent2"/>
                </a:solidFill>
              </a:defRPr>
            </a:lvl1pPr>
          </a:lstStyle>
          <a:p>
            <a:endParaRPr lang="id-ID"/>
          </a:p>
        </p:txBody>
      </p:sp>
      <p:sp>
        <p:nvSpPr>
          <p:cNvPr id="9" name="Picture Placeholder 3"/>
          <p:cNvSpPr>
            <a:spLocks noGrp="1"/>
          </p:cNvSpPr>
          <p:nvPr>
            <p:ph type="pic" sz="quarter" idx="12"/>
          </p:nvPr>
        </p:nvSpPr>
        <p:spPr>
          <a:xfrm>
            <a:off x="0" y="4572000"/>
            <a:ext cx="2034000" cy="2286000"/>
          </a:xfrm>
        </p:spPr>
        <p:txBody>
          <a:bodyPr/>
          <a:lstStyle>
            <a:lvl1pPr>
              <a:defRPr sz="1800">
                <a:solidFill>
                  <a:schemeClr val="accent2"/>
                </a:solidFill>
              </a:defRPr>
            </a:lvl1pPr>
          </a:lstStyle>
          <a:p>
            <a:endParaRPr lang="id-ID"/>
          </a:p>
        </p:txBody>
      </p:sp>
      <p:sp>
        <p:nvSpPr>
          <p:cNvPr id="10" name="Picture Placeholder 3"/>
          <p:cNvSpPr>
            <a:spLocks noGrp="1"/>
          </p:cNvSpPr>
          <p:nvPr>
            <p:ph type="pic" sz="quarter" idx="13"/>
          </p:nvPr>
        </p:nvSpPr>
        <p:spPr>
          <a:xfrm>
            <a:off x="2037319" y="0"/>
            <a:ext cx="2034000" cy="2286000"/>
          </a:xfrm>
        </p:spPr>
        <p:txBody>
          <a:bodyPr/>
          <a:lstStyle>
            <a:lvl1pPr>
              <a:defRPr sz="1800">
                <a:solidFill>
                  <a:schemeClr val="accent2"/>
                </a:solidFill>
              </a:defRPr>
            </a:lvl1pPr>
          </a:lstStyle>
          <a:p>
            <a:endParaRPr lang="id-ID"/>
          </a:p>
        </p:txBody>
      </p:sp>
      <p:sp>
        <p:nvSpPr>
          <p:cNvPr id="12" name="Picture Placeholder 3"/>
          <p:cNvSpPr>
            <a:spLocks noGrp="1"/>
          </p:cNvSpPr>
          <p:nvPr>
            <p:ph type="pic" sz="quarter" idx="14"/>
          </p:nvPr>
        </p:nvSpPr>
        <p:spPr>
          <a:xfrm>
            <a:off x="2037319" y="2286000"/>
            <a:ext cx="2034000" cy="2286000"/>
          </a:xfrm>
        </p:spPr>
        <p:txBody>
          <a:bodyPr/>
          <a:lstStyle>
            <a:lvl1pPr>
              <a:defRPr sz="1800">
                <a:solidFill>
                  <a:schemeClr val="accent2"/>
                </a:solidFill>
              </a:defRPr>
            </a:lvl1pPr>
          </a:lstStyle>
          <a:p>
            <a:endParaRPr lang="id-ID"/>
          </a:p>
        </p:txBody>
      </p:sp>
      <p:sp>
        <p:nvSpPr>
          <p:cNvPr id="13" name="Picture Placeholder 3"/>
          <p:cNvSpPr>
            <a:spLocks noGrp="1"/>
          </p:cNvSpPr>
          <p:nvPr>
            <p:ph type="pic" sz="quarter" idx="15"/>
          </p:nvPr>
        </p:nvSpPr>
        <p:spPr>
          <a:xfrm>
            <a:off x="2037319" y="4572000"/>
            <a:ext cx="2034000" cy="2286000"/>
          </a:xfrm>
        </p:spPr>
        <p:txBody>
          <a:bodyPr/>
          <a:lstStyle>
            <a:lvl1pPr>
              <a:defRPr sz="1800">
                <a:solidFill>
                  <a:schemeClr val="accent2"/>
                </a:solidFill>
              </a:defRPr>
            </a:lvl1pPr>
          </a:lstStyle>
          <a:p>
            <a:endParaRPr lang="id-ID"/>
          </a:p>
        </p:txBody>
      </p:sp>
      <p:sp>
        <p:nvSpPr>
          <p:cNvPr id="14" name="Picture Placeholder 3"/>
          <p:cNvSpPr>
            <a:spLocks noGrp="1"/>
          </p:cNvSpPr>
          <p:nvPr>
            <p:ph type="pic" sz="quarter" idx="16"/>
          </p:nvPr>
        </p:nvSpPr>
        <p:spPr>
          <a:xfrm>
            <a:off x="4071319" y="0"/>
            <a:ext cx="2034000" cy="2286000"/>
          </a:xfrm>
        </p:spPr>
        <p:txBody>
          <a:bodyPr/>
          <a:lstStyle>
            <a:lvl1pPr>
              <a:defRPr sz="1800">
                <a:solidFill>
                  <a:schemeClr val="accent2"/>
                </a:solidFill>
              </a:defRPr>
            </a:lvl1pPr>
          </a:lstStyle>
          <a:p>
            <a:endParaRPr lang="id-ID"/>
          </a:p>
        </p:txBody>
      </p:sp>
      <p:sp>
        <p:nvSpPr>
          <p:cNvPr id="15" name="Picture Placeholder 3"/>
          <p:cNvSpPr>
            <a:spLocks noGrp="1"/>
          </p:cNvSpPr>
          <p:nvPr>
            <p:ph type="pic" sz="quarter" idx="17"/>
          </p:nvPr>
        </p:nvSpPr>
        <p:spPr>
          <a:xfrm>
            <a:off x="4071319" y="2286000"/>
            <a:ext cx="2034000" cy="2286000"/>
          </a:xfrm>
        </p:spPr>
        <p:txBody>
          <a:bodyPr/>
          <a:lstStyle>
            <a:lvl1pPr>
              <a:defRPr sz="1800">
                <a:solidFill>
                  <a:schemeClr val="accent2"/>
                </a:solidFill>
              </a:defRPr>
            </a:lvl1pPr>
          </a:lstStyle>
          <a:p>
            <a:endParaRPr lang="id-ID"/>
          </a:p>
        </p:txBody>
      </p:sp>
      <p:sp>
        <p:nvSpPr>
          <p:cNvPr id="16" name="Picture Placeholder 3"/>
          <p:cNvSpPr>
            <a:spLocks noGrp="1"/>
          </p:cNvSpPr>
          <p:nvPr>
            <p:ph type="pic" sz="quarter" idx="18"/>
          </p:nvPr>
        </p:nvSpPr>
        <p:spPr>
          <a:xfrm>
            <a:off x="4071319" y="4572000"/>
            <a:ext cx="2034000" cy="2286000"/>
          </a:xfrm>
        </p:spPr>
        <p:txBody>
          <a:bodyPr/>
          <a:lstStyle>
            <a:lvl1pPr>
              <a:defRPr sz="1800">
                <a:solidFill>
                  <a:schemeClr val="accent2"/>
                </a:solidFill>
              </a:defRPr>
            </a:lvl1pPr>
          </a:lstStyle>
          <a:p>
            <a:endParaRPr lang="id-ID"/>
          </a:p>
        </p:txBody>
      </p:sp>
      <p:sp>
        <p:nvSpPr>
          <p:cNvPr id="17" name="Picture Placeholder 3"/>
          <p:cNvSpPr>
            <a:spLocks noGrp="1"/>
          </p:cNvSpPr>
          <p:nvPr>
            <p:ph type="pic" sz="quarter" idx="19"/>
          </p:nvPr>
        </p:nvSpPr>
        <p:spPr>
          <a:xfrm>
            <a:off x="6108638" y="0"/>
            <a:ext cx="2034000" cy="2286000"/>
          </a:xfrm>
        </p:spPr>
        <p:txBody>
          <a:bodyPr/>
          <a:lstStyle>
            <a:lvl1pPr>
              <a:defRPr sz="1800">
                <a:solidFill>
                  <a:schemeClr val="accent2"/>
                </a:solidFill>
              </a:defRPr>
            </a:lvl1pPr>
          </a:lstStyle>
          <a:p>
            <a:endParaRPr lang="id-ID"/>
          </a:p>
        </p:txBody>
      </p:sp>
      <p:sp>
        <p:nvSpPr>
          <p:cNvPr id="18" name="Picture Placeholder 3"/>
          <p:cNvSpPr>
            <a:spLocks noGrp="1"/>
          </p:cNvSpPr>
          <p:nvPr>
            <p:ph type="pic" sz="quarter" idx="20"/>
          </p:nvPr>
        </p:nvSpPr>
        <p:spPr>
          <a:xfrm>
            <a:off x="6108638" y="2286000"/>
            <a:ext cx="2034000" cy="2286000"/>
          </a:xfrm>
        </p:spPr>
        <p:txBody>
          <a:bodyPr/>
          <a:lstStyle>
            <a:lvl1pPr>
              <a:defRPr sz="1800">
                <a:solidFill>
                  <a:schemeClr val="accent2"/>
                </a:solidFill>
              </a:defRPr>
            </a:lvl1pPr>
          </a:lstStyle>
          <a:p>
            <a:endParaRPr lang="id-ID"/>
          </a:p>
        </p:txBody>
      </p:sp>
      <p:sp>
        <p:nvSpPr>
          <p:cNvPr id="19" name="Picture Placeholder 3"/>
          <p:cNvSpPr>
            <a:spLocks noGrp="1"/>
          </p:cNvSpPr>
          <p:nvPr>
            <p:ph type="pic" sz="quarter" idx="21"/>
          </p:nvPr>
        </p:nvSpPr>
        <p:spPr>
          <a:xfrm>
            <a:off x="6108638" y="4572000"/>
            <a:ext cx="2034000" cy="2286000"/>
          </a:xfrm>
        </p:spPr>
        <p:txBody>
          <a:bodyPr/>
          <a:lstStyle>
            <a:lvl1pPr>
              <a:defRPr sz="1800">
                <a:solidFill>
                  <a:schemeClr val="accent2"/>
                </a:solidFill>
              </a:defRPr>
            </a:lvl1pPr>
          </a:lstStyle>
          <a:p>
            <a:endParaRPr lang="id-ID"/>
          </a:p>
        </p:txBody>
      </p:sp>
      <p:sp>
        <p:nvSpPr>
          <p:cNvPr id="20" name="Picture Placeholder 3"/>
          <p:cNvSpPr>
            <a:spLocks noGrp="1"/>
          </p:cNvSpPr>
          <p:nvPr>
            <p:ph type="pic" sz="quarter" idx="22"/>
          </p:nvPr>
        </p:nvSpPr>
        <p:spPr>
          <a:xfrm>
            <a:off x="8139319" y="0"/>
            <a:ext cx="2034000" cy="2286000"/>
          </a:xfrm>
        </p:spPr>
        <p:txBody>
          <a:bodyPr/>
          <a:lstStyle>
            <a:lvl1pPr>
              <a:defRPr sz="1800">
                <a:solidFill>
                  <a:schemeClr val="accent2"/>
                </a:solidFill>
              </a:defRPr>
            </a:lvl1pPr>
          </a:lstStyle>
          <a:p>
            <a:endParaRPr lang="id-ID"/>
          </a:p>
        </p:txBody>
      </p:sp>
      <p:sp>
        <p:nvSpPr>
          <p:cNvPr id="21" name="Picture Placeholder 3"/>
          <p:cNvSpPr>
            <a:spLocks noGrp="1"/>
          </p:cNvSpPr>
          <p:nvPr>
            <p:ph type="pic" sz="quarter" idx="23"/>
          </p:nvPr>
        </p:nvSpPr>
        <p:spPr>
          <a:xfrm>
            <a:off x="8139319" y="2286000"/>
            <a:ext cx="2034000" cy="2286000"/>
          </a:xfrm>
        </p:spPr>
        <p:txBody>
          <a:bodyPr/>
          <a:lstStyle>
            <a:lvl1pPr>
              <a:defRPr sz="1800">
                <a:solidFill>
                  <a:schemeClr val="accent2"/>
                </a:solidFill>
              </a:defRPr>
            </a:lvl1pPr>
          </a:lstStyle>
          <a:p>
            <a:endParaRPr lang="id-ID"/>
          </a:p>
        </p:txBody>
      </p:sp>
      <p:sp>
        <p:nvSpPr>
          <p:cNvPr id="22" name="Picture Placeholder 3"/>
          <p:cNvSpPr>
            <a:spLocks noGrp="1"/>
          </p:cNvSpPr>
          <p:nvPr>
            <p:ph type="pic" sz="quarter" idx="24"/>
          </p:nvPr>
        </p:nvSpPr>
        <p:spPr>
          <a:xfrm>
            <a:off x="8139319" y="4572000"/>
            <a:ext cx="2034000" cy="2286000"/>
          </a:xfrm>
        </p:spPr>
        <p:txBody>
          <a:bodyPr/>
          <a:lstStyle>
            <a:lvl1pPr>
              <a:defRPr sz="1800">
                <a:solidFill>
                  <a:schemeClr val="accent2"/>
                </a:solidFill>
              </a:defRPr>
            </a:lvl1pPr>
          </a:lstStyle>
          <a:p>
            <a:endParaRPr lang="id-ID"/>
          </a:p>
        </p:txBody>
      </p:sp>
      <p:sp>
        <p:nvSpPr>
          <p:cNvPr id="23" name="Picture Placeholder 3"/>
          <p:cNvSpPr>
            <a:spLocks noGrp="1"/>
          </p:cNvSpPr>
          <p:nvPr>
            <p:ph type="pic" sz="quarter" idx="25"/>
          </p:nvPr>
        </p:nvSpPr>
        <p:spPr>
          <a:xfrm>
            <a:off x="10176638" y="0"/>
            <a:ext cx="2034000" cy="2286000"/>
          </a:xfrm>
        </p:spPr>
        <p:txBody>
          <a:bodyPr/>
          <a:lstStyle>
            <a:lvl1pPr>
              <a:defRPr sz="1800">
                <a:solidFill>
                  <a:schemeClr val="accent2"/>
                </a:solidFill>
              </a:defRPr>
            </a:lvl1pPr>
          </a:lstStyle>
          <a:p>
            <a:endParaRPr lang="id-ID"/>
          </a:p>
        </p:txBody>
      </p:sp>
      <p:sp>
        <p:nvSpPr>
          <p:cNvPr id="24" name="Picture Placeholder 3"/>
          <p:cNvSpPr>
            <a:spLocks noGrp="1"/>
          </p:cNvSpPr>
          <p:nvPr>
            <p:ph type="pic" sz="quarter" idx="26"/>
          </p:nvPr>
        </p:nvSpPr>
        <p:spPr>
          <a:xfrm>
            <a:off x="10176638" y="2286000"/>
            <a:ext cx="2034000" cy="2286000"/>
          </a:xfrm>
        </p:spPr>
        <p:txBody>
          <a:bodyPr/>
          <a:lstStyle>
            <a:lvl1pPr>
              <a:defRPr sz="1800">
                <a:solidFill>
                  <a:schemeClr val="accent2"/>
                </a:solidFill>
              </a:defRPr>
            </a:lvl1pPr>
          </a:lstStyle>
          <a:p>
            <a:endParaRPr lang="id-ID"/>
          </a:p>
        </p:txBody>
      </p:sp>
      <p:sp>
        <p:nvSpPr>
          <p:cNvPr id="25" name="Picture Placeholder 3"/>
          <p:cNvSpPr>
            <a:spLocks noGrp="1"/>
          </p:cNvSpPr>
          <p:nvPr>
            <p:ph type="pic" sz="quarter" idx="27"/>
          </p:nvPr>
        </p:nvSpPr>
        <p:spPr>
          <a:xfrm>
            <a:off x="10176638" y="4572000"/>
            <a:ext cx="2034000" cy="2286000"/>
          </a:xfrm>
        </p:spPr>
        <p:txBody>
          <a:bodyPr/>
          <a:lstStyle>
            <a:lvl1pPr>
              <a:defRPr sz="1800">
                <a:solidFill>
                  <a:schemeClr val="accent2"/>
                </a:solidFill>
              </a:defRPr>
            </a:lvl1pPr>
          </a:lstStyle>
          <a:p>
            <a:endParaRPr lang="id-ID"/>
          </a:p>
        </p:txBody>
      </p:sp>
      <p:sp>
        <p:nvSpPr>
          <p:cNvPr id="2" name="Rectangle 1"/>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200">
              <a:solidFill>
                <a:schemeClr val="accent2"/>
              </a:solidFill>
            </a:endParaRPr>
          </a:p>
        </p:txBody>
      </p:sp>
      <p:sp>
        <p:nvSpPr>
          <p:cNvPr id="5" name="Rectangle 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200">
              <a:solidFill>
                <a:schemeClr val="accent2"/>
              </a:solidFill>
            </a:endParaRPr>
          </a:p>
        </p:txBody>
      </p:sp>
      <p:sp>
        <p:nvSpPr>
          <p:cNvPr id="7" name="TextBox 6"/>
          <p:cNvSpPr txBox="1"/>
          <p:nvPr userDrawn="1"/>
        </p:nvSpPr>
        <p:spPr>
          <a:xfrm>
            <a:off x="11584250" y="305131"/>
            <a:ext cx="351378" cy="261610"/>
          </a:xfrm>
          <a:prstGeom prst="rect">
            <a:avLst/>
          </a:prstGeom>
          <a:noFill/>
        </p:spPr>
        <p:txBody>
          <a:bodyPr wrap="none" rtlCol="0">
            <a:spAutoFit/>
          </a:bodyPr>
          <a:lstStyle/>
          <a:p>
            <a:pPr algn="ctr"/>
            <a:fld id="{260E2A6B-A809-4840-BF14-8648BC0BDF87}" type="slidenum">
              <a:rPr lang="id-ID" sz="1050" b="1" smtClean="0">
                <a:solidFill>
                  <a:schemeClr val="accent2"/>
                </a:solidFill>
              </a:rPr>
              <a:pPr algn="ctr"/>
              <a:t>‹#›</a:t>
            </a:fld>
            <a:endParaRPr lang="id-ID" sz="1050" dirty="0">
              <a:solidFill>
                <a:schemeClr val="accent2"/>
              </a:solidFill>
            </a:endParaRPr>
          </a:p>
        </p:txBody>
      </p:sp>
    </p:spTree>
    <p:extLst>
      <p:ext uri="{BB962C8B-B14F-4D97-AF65-F5344CB8AC3E}">
        <p14:creationId xmlns:p14="http://schemas.microsoft.com/office/powerpoint/2010/main" val="1286186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_Title Slide">
    <p:spTree>
      <p:nvGrpSpPr>
        <p:cNvPr id="1" name=""/>
        <p:cNvGrpSpPr/>
        <p:nvPr/>
      </p:nvGrpSpPr>
      <p:grpSpPr>
        <a:xfrm>
          <a:off x="0" y="0"/>
          <a:ext cx="0" cy="0"/>
          <a:chOff x="0" y="0"/>
          <a:chExt cx="0" cy="0"/>
        </a:xfrm>
      </p:grpSpPr>
      <p:sp>
        <p:nvSpPr>
          <p:cNvPr id="2" name="Rectangle 1"/>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5" name="Rectangle 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7" name="TextBox 6"/>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dirty="0">
              <a:solidFill>
                <a:schemeClr val="bg1"/>
              </a:solidFill>
            </a:endParaRPr>
          </a:p>
        </p:txBody>
      </p:sp>
      <p:sp>
        <p:nvSpPr>
          <p:cNvPr id="26" name="Picture Placeholder 3"/>
          <p:cNvSpPr>
            <a:spLocks noGrp="1"/>
          </p:cNvSpPr>
          <p:nvPr>
            <p:ph type="pic" sz="quarter" idx="10"/>
          </p:nvPr>
        </p:nvSpPr>
        <p:spPr>
          <a:xfrm>
            <a:off x="1450174" y="2284944"/>
            <a:ext cx="1697846" cy="1697847"/>
          </a:xfrm>
          <a:prstGeom prst="ellipse">
            <a:avLst/>
          </a:prstGeom>
        </p:spPr>
        <p:txBody>
          <a:bodyPr>
            <a:normAutofit/>
          </a:bodyPr>
          <a:lstStyle>
            <a:lvl1pPr>
              <a:defRPr sz="1600">
                <a:solidFill>
                  <a:schemeClr val="accent2"/>
                </a:solidFill>
              </a:defRPr>
            </a:lvl1pPr>
          </a:lstStyle>
          <a:p>
            <a:endParaRPr lang="id-ID" dirty="0"/>
          </a:p>
        </p:txBody>
      </p:sp>
      <p:sp>
        <p:nvSpPr>
          <p:cNvPr id="27" name="Picture Placeholder 3"/>
          <p:cNvSpPr>
            <a:spLocks noGrp="1"/>
          </p:cNvSpPr>
          <p:nvPr>
            <p:ph type="pic" sz="quarter" idx="11"/>
          </p:nvPr>
        </p:nvSpPr>
        <p:spPr>
          <a:xfrm>
            <a:off x="3971864" y="2284944"/>
            <a:ext cx="1697846" cy="1697847"/>
          </a:xfrm>
          <a:prstGeom prst="ellipse">
            <a:avLst/>
          </a:prstGeom>
        </p:spPr>
        <p:txBody>
          <a:bodyPr>
            <a:normAutofit/>
          </a:bodyPr>
          <a:lstStyle>
            <a:lvl1pPr>
              <a:defRPr sz="1600">
                <a:solidFill>
                  <a:schemeClr val="accent2"/>
                </a:solidFill>
              </a:defRPr>
            </a:lvl1pPr>
          </a:lstStyle>
          <a:p>
            <a:endParaRPr lang="id-ID" dirty="0"/>
          </a:p>
        </p:txBody>
      </p:sp>
      <p:sp>
        <p:nvSpPr>
          <p:cNvPr id="28" name="Picture Placeholder 3"/>
          <p:cNvSpPr>
            <a:spLocks noGrp="1"/>
          </p:cNvSpPr>
          <p:nvPr>
            <p:ph type="pic" sz="quarter" idx="12"/>
          </p:nvPr>
        </p:nvSpPr>
        <p:spPr>
          <a:xfrm>
            <a:off x="6508785" y="2284944"/>
            <a:ext cx="1697846" cy="1697847"/>
          </a:xfrm>
          <a:prstGeom prst="ellipse">
            <a:avLst/>
          </a:prstGeom>
        </p:spPr>
        <p:txBody>
          <a:bodyPr>
            <a:normAutofit/>
          </a:bodyPr>
          <a:lstStyle>
            <a:lvl1pPr>
              <a:defRPr sz="1600">
                <a:solidFill>
                  <a:schemeClr val="accent2"/>
                </a:solidFill>
              </a:defRPr>
            </a:lvl1pPr>
          </a:lstStyle>
          <a:p>
            <a:endParaRPr lang="id-ID" dirty="0"/>
          </a:p>
        </p:txBody>
      </p:sp>
      <p:sp>
        <p:nvSpPr>
          <p:cNvPr id="29" name="Picture Placeholder 3"/>
          <p:cNvSpPr>
            <a:spLocks noGrp="1"/>
          </p:cNvSpPr>
          <p:nvPr>
            <p:ph type="pic" sz="quarter" idx="13"/>
          </p:nvPr>
        </p:nvSpPr>
        <p:spPr>
          <a:xfrm>
            <a:off x="9030475" y="2284944"/>
            <a:ext cx="1697846" cy="1697847"/>
          </a:xfrm>
          <a:prstGeom prst="ellipse">
            <a:avLst/>
          </a:prstGeom>
        </p:spPr>
        <p:txBody>
          <a:bodyPr>
            <a:normAutofit/>
          </a:bodyPr>
          <a:lstStyle>
            <a:lvl1pPr>
              <a:defRPr sz="1600">
                <a:solidFill>
                  <a:schemeClr val="accent2"/>
                </a:solidFill>
              </a:defRPr>
            </a:lvl1pPr>
          </a:lstStyle>
          <a:p>
            <a:endParaRPr lang="id-ID"/>
          </a:p>
        </p:txBody>
      </p:sp>
      <p:grpSp>
        <p:nvGrpSpPr>
          <p:cNvPr id="16" name="Group 15"/>
          <p:cNvGrpSpPr/>
          <p:nvPr userDrawn="1"/>
        </p:nvGrpSpPr>
        <p:grpSpPr>
          <a:xfrm>
            <a:off x="347419" y="6409324"/>
            <a:ext cx="224082" cy="221156"/>
            <a:chOff x="4328868" y="5502988"/>
            <a:chExt cx="500307" cy="493774"/>
          </a:xfrm>
        </p:grpSpPr>
        <p:sp>
          <p:nvSpPr>
            <p:cNvPr id="17" name="Freeform 16">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18" name="Freeform 17">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19" name="Group 18"/>
          <p:cNvGrpSpPr/>
          <p:nvPr userDrawn="1"/>
        </p:nvGrpSpPr>
        <p:grpSpPr>
          <a:xfrm flipH="1">
            <a:off x="933709" y="6409324"/>
            <a:ext cx="224082" cy="221156"/>
            <a:chOff x="4328868" y="5502988"/>
            <a:chExt cx="500307" cy="493774"/>
          </a:xfrm>
        </p:grpSpPr>
        <p:sp>
          <p:nvSpPr>
            <p:cNvPr id="20" name="Freeform 19">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1" name="Freeform 20">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22" name="Straight Connector 21"/>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196183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7_Title Slide">
    <p:spTree>
      <p:nvGrpSpPr>
        <p:cNvPr id="1" name=""/>
        <p:cNvGrpSpPr/>
        <p:nvPr/>
      </p:nvGrpSpPr>
      <p:grpSpPr>
        <a:xfrm>
          <a:off x="0" y="0"/>
          <a:ext cx="0" cy="0"/>
          <a:chOff x="0" y="0"/>
          <a:chExt cx="0" cy="0"/>
        </a:xfrm>
      </p:grpSpPr>
      <p:sp>
        <p:nvSpPr>
          <p:cNvPr id="72" name="Picture Placeholder 3"/>
          <p:cNvSpPr>
            <a:spLocks noGrp="1"/>
          </p:cNvSpPr>
          <p:nvPr>
            <p:ph type="pic" sz="quarter" idx="10"/>
          </p:nvPr>
        </p:nvSpPr>
        <p:spPr>
          <a:xfrm>
            <a:off x="1244493" y="2113494"/>
            <a:ext cx="1697846" cy="1697847"/>
          </a:xfrm>
          <a:prstGeom prst="ellipse">
            <a:avLst/>
          </a:prstGeom>
        </p:spPr>
        <p:txBody>
          <a:bodyPr>
            <a:normAutofit/>
          </a:bodyPr>
          <a:lstStyle>
            <a:lvl1pPr>
              <a:defRPr sz="1600">
                <a:solidFill>
                  <a:schemeClr val="accent2"/>
                </a:solidFill>
              </a:defRPr>
            </a:lvl1pPr>
          </a:lstStyle>
          <a:p>
            <a:endParaRPr lang="id-ID" dirty="0"/>
          </a:p>
        </p:txBody>
      </p:sp>
      <p:sp>
        <p:nvSpPr>
          <p:cNvPr id="2" name="Rectangle 1"/>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5" name="Rectangle 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7" name="TextBox 6"/>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dirty="0">
              <a:solidFill>
                <a:schemeClr val="bg1"/>
              </a:solidFill>
            </a:endParaRPr>
          </a:p>
        </p:txBody>
      </p:sp>
      <p:grpSp>
        <p:nvGrpSpPr>
          <p:cNvPr id="14" name="Group 13"/>
          <p:cNvGrpSpPr/>
          <p:nvPr userDrawn="1"/>
        </p:nvGrpSpPr>
        <p:grpSpPr>
          <a:xfrm>
            <a:off x="347419" y="6409324"/>
            <a:ext cx="224082" cy="221156"/>
            <a:chOff x="4328868" y="5502988"/>
            <a:chExt cx="500307" cy="493774"/>
          </a:xfrm>
        </p:grpSpPr>
        <p:sp>
          <p:nvSpPr>
            <p:cNvPr id="15" name="Freeform 14">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16" name="Freeform 15">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17" name="Group 16"/>
          <p:cNvGrpSpPr/>
          <p:nvPr userDrawn="1"/>
        </p:nvGrpSpPr>
        <p:grpSpPr>
          <a:xfrm flipH="1">
            <a:off x="933709" y="6409324"/>
            <a:ext cx="224082" cy="221156"/>
            <a:chOff x="4328868" y="5502988"/>
            <a:chExt cx="500307" cy="493774"/>
          </a:xfrm>
        </p:grpSpPr>
        <p:sp>
          <p:nvSpPr>
            <p:cNvPr id="18" name="Freeform 17">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19" name="Freeform 18">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20" name="Straight Connector 19"/>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61088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8_Title Slide">
    <p:spTree>
      <p:nvGrpSpPr>
        <p:cNvPr id="1" name=""/>
        <p:cNvGrpSpPr/>
        <p:nvPr/>
      </p:nvGrpSpPr>
      <p:grpSpPr>
        <a:xfrm>
          <a:off x="0" y="0"/>
          <a:ext cx="0" cy="0"/>
          <a:chOff x="0" y="0"/>
          <a:chExt cx="0" cy="0"/>
        </a:xfrm>
      </p:grpSpPr>
      <p:sp>
        <p:nvSpPr>
          <p:cNvPr id="6" name="Picture Placeholder 3"/>
          <p:cNvSpPr>
            <a:spLocks noGrp="1"/>
          </p:cNvSpPr>
          <p:nvPr>
            <p:ph type="pic" sz="quarter" idx="10"/>
          </p:nvPr>
        </p:nvSpPr>
        <p:spPr>
          <a:xfrm>
            <a:off x="1450174" y="2284944"/>
            <a:ext cx="1697846" cy="1697847"/>
          </a:xfrm>
          <a:prstGeom prst="rect">
            <a:avLst/>
          </a:prstGeom>
        </p:spPr>
        <p:txBody>
          <a:bodyPr>
            <a:normAutofit/>
          </a:bodyPr>
          <a:lstStyle>
            <a:lvl1pPr>
              <a:defRPr sz="1600">
                <a:solidFill>
                  <a:schemeClr val="accent2"/>
                </a:solidFill>
              </a:defRPr>
            </a:lvl1pPr>
          </a:lstStyle>
          <a:p>
            <a:endParaRPr lang="id-ID" dirty="0"/>
          </a:p>
        </p:txBody>
      </p:sp>
      <p:sp>
        <p:nvSpPr>
          <p:cNvPr id="8" name="Picture Placeholder 3"/>
          <p:cNvSpPr>
            <a:spLocks noGrp="1"/>
          </p:cNvSpPr>
          <p:nvPr>
            <p:ph type="pic" sz="quarter" idx="11"/>
          </p:nvPr>
        </p:nvSpPr>
        <p:spPr>
          <a:xfrm>
            <a:off x="3971864" y="2284944"/>
            <a:ext cx="1697846" cy="1697847"/>
          </a:xfrm>
          <a:prstGeom prst="rect">
            <a:avLst/>
          </a:prstGeom>
        </p:spPr>
        <p:txBody>
          <a:bodyPr>
            <a:normAutofit/>
          </a:bodyPr>
          <a:lstStyle>
            <a:lvl1pPr>
              <a:defRPr sz="1600">
                <a:solidFill>
                  <a:schemeClr val="accent2"/>
                </a:solidFill>
              </a:defRPr>
            </a:lvl1pPr>
          </a:lstStyle>
          <a:p>
            <a:endParaRPr lang="id-ID" dirty="0"/>
          </a:p>
        </p:txBody>
      </p:sp>
      <p:sp>
        <p:nvSpPr>
          <p:cNvPr id="9" name="Picture Placeholder 3"/>
          <p:cNvSpPr>
            <a:spLocks noGrp="1"/>
          </p:cNvSpPr>
          <p:nvPr>
            <p:ph type="pic" sz="quarter" idx="12"/>
          </p:nvPr>
        </p:nvSpPr>
        <p:spPr>
          <a:xfrm>
            <a:off x="6508785" y="2284944"/>
            <a:ext cx="1697846" cy="1697847"/>
          </a:xfrm>
          <a:prstGeom prst="rect">
            <a:avLst/>
          </a:prstGeom>
        </p:spPr>
        <p:txBody>
          <a:bodyPr>
            <a:normAutofit/>
          </a:bodyPr>
          <a:lstStyle>
            <a:lvl1pPr>
              <a:defRPr sz="1600">
                <a:solidFill>
                  <a:schemeClr val="accent2"/>
                </a:solidFill>
              </a:defRPr>
            </a:lvl1pPr>
          </a:lstStyle>
          <a:p>
            <a:endParaRPr lang="id-ID" dirty="0"/>
          </a:p>
        </p:txBody>
      </p:sp>
      <p:sp>
        <p:nvSpPr>
          <p:cNvPr id="10" name="Picture Placeholder 3"/>
          <p:cNvSpPr>
            <a:spLocks noGrp="1"/>
          </p:cNvSpPr>
          <p:nvPr>
            <p:ph type="pic" sz="quarter" idx="13"/>
          </p:nvPr>
        </p:nvSpPr>
        <p:spPr>
          <a:xfrm>
            <a:off x="9030475" y="2284944"/>
            <a:ext cx="1697846" cy="1697847"/>
          </a:xfrm>
          <a:prstGeom prst="rect">
            <a:avLst/>
          </a:prstGeom>
        </p:spPr>
        <p:txBody>
          <a:bodyPr>
            <a:normAutofit/>
          </a:bodyPr>
          <a:lstStyle>
            <a:lvl1pPr>
              <a:defRPr sz="1600">
                <a:solidFill>
                  <a:schemeClr val="accent2"/>
                </a:solidFill>
              </a:defRPr>
            </a:lvl1pPr>
          </a:lstStyle>
          <a:p>
            <a:endParaRPr lang="id-ID"/>
          </a:p>
        </p:txBody>
      </p:sp>
      <p:sp>
        <p:nvSpPr>
          <p:cNvPr id="16" name="Rectangle 15"/>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7" name="Rectangle 16"/>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5" name="TextBox 24"/>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dirty="0">
              <a:solidFill>
                <a:schemeClr val="bg1"/>
              </a:solidFill>
            </a:endParaRPr>
          </a:p>
        </p:txBody>
      </p:sp>
      <p:grpSp>
        <p:nvGrpSpPr>
          <p:cNvPr id="26" name="Group 25"/>
          <p:cNvGrpSpPr/>
          <p:nvPr userDrawn="1"/>
        </p:nvGrpSpPr>
        <p:grpSpPr>
          <a:xfrm>
            <a:off x="347419" y="6409324"/>
            <a:ext cx="224082" cy="221156"/>
            <a:chOff x="4328868" y="5502988"/>
            <a:chExt cx="500307" cy="493774"/>
          </a:xfrm>
        </p:grpSpPr>
        <p:sp>
          <p:nvSpPr>
            <p:cNvPr id="27" name="Freeform 26">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8" name="Freeform 27">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9" name="Group 28"/>
          <p:cNvGrpSpPr/>
          <p:nvPr userDrawn="1"/>
        </p:nvGrpSpPr>
        <p:grpSpPr>
          <a:xfrm flipH="1">
            <a:off x="933709" y="6409324"/>
            <a:ext cx="224082" cy="221156"/>
            <a:chOff x="4328868" y="5502988"/>
            <a:chExt cx="500307" cy="493774"/>
          </a:xfrm>
        </p:grpSpPr>
        <p:sp>
          <p:nvSpPr>
            <p:cNvPr id="30" name="Freeform 29">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31" name="Freeform 30">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32" name="Straight Connector 31"/>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25281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9_Title Slide">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4943475" y="1228725"/>
            <a:ext cx="2362200" cy="3260725"/>
          </a:xfrm>
        </p:spPr>
        <p:txBody>
          <a:bodyPr>
            <a:normAutofit/>
          </a:bodyPr>
          <a:lstStyle>
            <a:lvl1pPr>
              <a:defRPr sz="1600">
                <a:solidFill>
                  <a:schemeClr val="accent2"/>
                </a:solidFill>
              </a:defRPr>
            </a:lvl1pPr>
          </a:lstStyle>
          <a:p>
            <a:endParaRPr lang="id-ID" dirty="0"/>
          </a:p>
        </p:txBody>
      </p:sp>
      <p:sp>
        <p:nvSpPr>
          <p:cNvPr id="13" name="Rectangle 12"/>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1" name="Rectangle 20"/>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2" name="TextBox 21"/>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dirty="0">
              <a:solidFill>
                <a:schemeClr val="bg1"/>
              </a:solidFill>
            </a:endParaRPr>
          </a:p>
        </p:txBody>
      </p:sp>
      <p:grpSp>
        <p:nvGrpSpPr>
          <p:cNvPr id="23" name="Group 22"/>
          <p:cNvGrpSpPr/>
          <p:nvPr userDrawn="1"/>
        </p:nvGrpSpPr>
        <p:grpSpPr>
          <a:xfrm>
            <a:off x="347419" y="6409324"/>
            <a:ext cx="224082" cy="221156"/>
            <a:chOff x="4328868" y="5502988"/>
            <a:chExt cx="500307" cy="493774"/>
          </a:xfrm>
        </p:grpSpPr>
        <p:sp>
          <p:nvSpPr>
            <p:cNvPr id="24" name="Freeform 23">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5" name="Freeform 24">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6" name="Group 25"/>
          <p:cNvGrpSpPr/>
          <p:nvPr userDrawn="1"/>
        </p:nvGrpSpPr>
        <p:grpSpPr>
          <a:xfrm flipH="1">
            <a:off x="933709" y="6409324"/>
            <a:ext cx="224082" cy="221156"/>
            <a:chOff x="4328868" y="5502988"/>
            <a:chExt cx="500307" cy="493774"/>
          </a:xfrm>
        </p:grpSpPr>
        <p:sp>
          <p:nvSpPr>
            <p:cNvPr id="27" name="Freeform 26">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8" name="Freeform 27">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29" name="Straight Connector 28"/>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60544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1_Title Slide">
    <p:spTree>
      <p:nvGrpSpPr>
        <p:cNvPr id="1" name=""/>
        <p:cNvGrpSpPr/>
        <p:nvPr/>
      </p:nvGrpSpPr>
      <p:grpSpPr>
        <a:xfrm>
          <a:off x="0" y="0"/>
          <a:ext cx="0" cy="0"/>
          <a:chOff x="0" y="0"/>
          <a:chExt cx="0" cy="0"/>
        </a:xfrm>
      </p:grpSpPr>
      <p:sp>
        <p:nvSpPr>
          <p:cNvPr id="8" name="Picture Placeholder 2"/>
          <p:cNvSpPr>
            <a:spLocks noGrp="1"/>
          </p:cNvSpPr>
          <p:nvPr>
            <p:ph type="pic" sz="quarter" idx="10"/>
          </p:nvPr>
        </p:nvSpPr>
        <p:spPr>
          <a:xfrm>
            <a:off x="1222375" y="1945431"/>
            <a:ext cx="3106738" cy="2016211"/>
          </a:xfrm>
        </p:spPr>
        <p:txBody>
          <a:bodyPr>
            <a:normAutofit/>
          </a:bodyPr>
          <a:lstStyle>
            <a:lvl1pPr>
              <a:defRPr sz="2000">
                <a:solidFill>
                  <a:schemeClr val="accent2"/>
                </a:solidFill>
              </a:defRPr>
            </a:lvl1pPr>
          </a:lstStyle>
          <a:p>
            <a:endParaRPr lang="id-ID"/>
          </a:p>
        </p:txBody>
      </p:sp>
      <p:sp>
        <p:nvSpPr>
          <p:cNvPr id="9" name="Picture Placeholder 2"/>
          <p:cNvSpPr>
            <a:spLocks noGrp="1"/>
          </p:cNvSpPr>
          <p:nvPr>
            <p:ph type="pic" sz="quarter" idx="11"/>
          </p:nvPr>
        </p:nvSpPr>
        <p:spPr>
          <a:xfrm>
            <a:off x="4533786" y="1945431"/>
            <a:ext cx="3106738" cy="2016211"/>
          </a:xfrm>
        </p:spPr>
        <p:txBody>
          <a:bodyPr>
            <a:normAutofit/>
          </a:bodyPr>
          <a:lstStyle>
            <a:lvl1pPr>
              <a:defRPr sz="2000">
                <a:solidFill>
                  <a:schemeClr val="accent2"/>
                </a:solidFill>
              </a:defRPr>
            </a:lvl1pPr>
          </a:lstStyle>
          <a:p>
            <a:endParaRPr lang="id-ID"/>
          </a:p>
        </p:txBody>
      </p:sp>
      <p:sp>
        <p:nvSpPr>
          <p:cNvPr id="10" name="Picture Placeholder 2"/>
          <p:cNvSpPr>
            <a:spLocks noGrp="1"/>
          </p:cNvSpPr>
          <p:nvPr>
            <p:ph type="pic" sz="quarter" idx="12"/>
          </p:nvPr>
        </p:nvSpPr>
        <p:spPr>
          <a:xfrm>
            <a:off x="7858048" y="1945431"/>
            <a:ext cx="3106738" cy="2016211"/>
          </a:xfrm>
        </p:spPr>
        <p:txBody>
          <a:bodyPr>
            <a:normAutofit/>
          </a:bodyPr>
          <a:lstStyle>
            <a:lvl1pPr>
              <a:defRPr sz="2000">
                <a:solidFill>
                  <a:schemeClr val="accent2"/>
                </a:solidFill>
              </a:defRPr>
            </a:lvl1pPr>
          </a:lstStyle>
          <a:p>
            <a:endParaRPr lang="id-ID"/>
          </a:p>
        </p:txBody>
      </p:sp>
      <p:sp>
        <p:nvSpPr>
          <p:cNvPr id="11" name="Picture Placeholder 2"/>
          <p:cNvSpPr>
            <a:spLocks noGrp="1"/>
          </p:cNvSpPr>
          <p:nvPr>
            <p:ph type="pic" sz="quarter" idx="13"/>
          </p:nvPr>
        </p:nvSpPr>
        <p:spPr>
          <a:xfrm>
            <a:off x="1222375" y="4177345"/>
            <a:ext cx="3106738" cy="2016211"/>
          </a:xfrm>
        </p:spPr>
        <p:txBody>
          <a:bodyPr>
            <a:normAutofit/>
          </a:bodyPr>
          <a:lstStyle>
            <a:lvl1pPr>
              <a:defRPr sz="2000">
                <a:solidFill>
                  <a:schemeClr val="accent2"/>
                </a:solidFill>
              </a:defRPr>
            </a:lvl1pPr>
          </a:lstStyle>
          <a:p>
            <a:endParaRPr lang="id-ID"/>
          </a:p>
        </p:txBody>
      </p:sp>
      <p:sp>
        <p:nvSpPr>
          <p:cNvPr id="12" name="Picture Placeholder 2"/>
          <p:cNvSpPr>
            <a:spLocks noGrp="1"/>
          </p:cNvSpPr>
          <p:nvPr>
            <p:ph type="pic" sz="quarter" idx="14"/>
          </p:nvPr>
        </p:nvSpPr>
        <p:spPr>
          <a:xfrm>
            <a:off x="4533786" y="4177345"/>
            <a:ext cx="3106738" cy="2016211"/>
          </a:xfrm>
        </p:spPr>
        <p:txBody>
          <a:bodyPr>
            <a:normAutofit/>
          </a:bodyPr>
          <a:lstStyle>
            <a:lvl1pPr>
              <a:defRPr sz="2000">
                <a:solidFill>
                  <a:schemeClr val="accent2"/>
                </a:solidFill>
              </a:defRPr>
            </a:lvl1pPr>
          </a:lstStyle>
          <a:p>
            <a:endParaRPr lang="id-ID"/>
          </a:p>
        </p:txBody>
      </p:sp>
      <p:sp>
        <p:nvSpPr>
          <p:cNvPr id="13" name="Picture Placeholder 2"/>
          <p:cNvSpPr>
            <a:spLocks noGrp="1"/>
          </p:cNvSpPr>
          <p:nvPr>
            <p:ph type="pic" sz="quarter" idx="15"/>
          </p:nvPr>
        </p:nvSpPr>
        <p:spPr>
          <a:xfrm>
            <a:off x="7858048" y="4177345"/>
            <a:ext cx="3106738" cy="2016211"/>
          </a:xfrm>
        </p:spPr>
        <p:txBody>
          <a:bodyPr>
            <a:normAutofit/>
          </a:bodyPr>
          <a:lstStyle>
            <a:lvl1pPr>
              <a:defRPr sz="2000">
                <a:solidFill>
                  <a:schemeClr val="accent2"/>
                </a:solidFill>
              </a:defRPr>
            </a:lvl1pPr>
          </a:lstStyle>
          <a:p>
            <a:endParaRPr lang="id-ID"/>
          </a:p>
        </p:txBody>
      </p:sp>
      <p:sp>
        <p:nvSpPr>
          <p:cNvPr id="14" name="Freeform 5"/>
          <p:cNvSpPr>
            <a:spLocks/>
          </p:cNvSpPr>
          <p:nvPr userDrawn="1"/>
        </p:nvSpPr>
        <p:spPr bwMode="auto">
          <a:xfrm flipH="1">
            <a:off x="9305255" y="2655843"/>
            <a:ext cx="1337469" cy="1337469"/>
          </a:xfrm>
          <a:custGeom>
            <a:avLst/>
            <a:gdLst>
              <a:gd name="T0" fmla="*/ 731 w 1169"/>
              <a:gd name="T1" fmla="*/ 0 h 1169"/>
              <a:gd name="T2" fmla="*/ 0 w 1169"/>
              <a:gd name="T3" fmla="*/ 0 h 1169"/>
              <a:gd name="T4" fmla="*/ 0 w 1169"/>
              <a:gd name="T5" fmla="*/ 731 h 1169"/>
              <a:gd name="T6" fmla="*/ 439 w 1169"/>
              <a:gd name="T7" fmla="*/ 1169 h 1169"/>
              <a:gd name="T8" fmla="*/ 1169 w 1169"/>
              <a:gd name="T9" fmla="*/ 1169 h 1169"/>
              <a:gd name="T10" fmla="*/ 1169 w 1169"/>
              <a:gd name="T11" fmla="*/ 439 h 1169"/>
              <a:gd name="T12" fmla="*/ 731 w 1169"/>
              <a:gd name="T13" fmla="*/ 0 h 1169"/>
            </a:gdLst>
            <a:ahLst/>
            <a:cxnLst>
              <a:cxn ang="0">
                <a:pos x="T0" y="T1"/>
              </a:cxn>
              <a:cxn ang="0">
                <a:pos x="T2" y="T3"/>
              </a:cxn>
              <a:cxn ang="0">
                <a:pos x="T4" y="T5"/>
              </a:cxn>
              <a:cxn ang="0">
                <a:pos x="T6" y="T7"/>
              </a:cxn>
              <a:cxn ang="0">
                <a:pos x="T8" y="T9"/>
              </a:cxn>
              <a:cxn ang="0">
                <a:pos x="T10" y="T11"/>
              </a:cxn>
              <a:cxn ang="0">
                <a:pos x="T12" y="T13"/>
              </a:cxn>
            </a:cxnLst>
            <a:rect l="0" t="0" r="r" b="b"/>
            <a:pathLst>
              <a:path w="1169" h="1169">
                <a:moveTo>
                  <a:pt x="731" y="0"/>
                </a:moveTo>
                <a:cubicBezTo>
                  <a:pt x="0" y="0"/>
                  <a:pt x="0" y="0"/>
                  <a:pt x="0" y="0"/>
                </a:cubicBezTo>
                <a:cubicBezTo>
                  <a:pt x="0" y="731"/>
                  <a:pt x="0" y="731"/>
                  <a:pt x="0" y="731"/>
                </a:cubicBezTo>
                <a:cubicBezTo>
                  <a:pt x="0" y="973"/>
                  <a:pt x="196" y="1169"/>
                  <a:pt x="439" y="1169"/>
                </a:cubicBezTo>
                <a:cubicBezTo>
                  <a:pt x="1169" y="1169"/>
                  <a:pt x="1169" y="1169"/>
                  <a:pt x="1169" y="1169"/>
                </a:cubicBezTo>
                <a:cubicBezTo>
                  <a:pt x="1169" y="439"/>
                  <a:pt x="1169" y="439"/>
                  <a:pt x="1169" y="439"/>
                </a:cubicBezTo>
                <a:cubicBezTo>
                  <a:pt x="1169" y="196"/>
                  <a:pt x="973" y="0"/>
                  <a:pt x="731" y="0"/>
                </a:cubicBezTo>
                <a:close/>
              </a:path>
            </a:pathLst>
          </a:custGeom>
          <a:solidFill>
            <a:schemeClr val="bg1">
              <a:lumMod val="85000"/>
              <a:alpha val="15000"/>
            </a:schemeClr>
          </a:solidFill>
          <a:ln>
            <a:noFill/>
          </a:ln>
        </p:spPr>
        <p:txBody>
          <a:bodyPr vert="horz" wrap="square" lIns="91440" tIns="45720" rIns="91440" bIns="45720" numCol="1" anchor="t" anchorCtr="0" compatLnSpc="1">
            <a:prstTxWarp prst="textNoShape">
              <a:avLst/>
            </a:prstTxWarp>
          </a:bodyPr>
          <a:lstStyle/>
          <a:p>
            <a:endParaRPr lang="id-ID" sz="1400">
              <a:solidFill>
                <a:schemeClr val="accent2"/>
              </a:solidFill>
            </a:endParaRPr>
          </a:p>
        </p:txBody>
      </p:sp>
      <p:sp>
        <p:nvSpPr>
          <p:cNvPr id="18" name="Freeform 5"/>
          <p:cNvSpPr>
            <a:spLocks/>
          </p:cNvSpPr>
          <p:nvPr userDrawn="1"/>
        </p:nvSpPr>
        <p:spPr bwMode="auto">
          <a:xfrm flipH="1">
            <a:off x="10870156" y="3855256"/>
            <a:ext cx="521440" cy="521440"/>
          </a:xfrm>
          <a:custGeom>
            <a:avLst/>
            <a:gdLst>
              <a:gd name="T0" fmla="*/ 731 w 1169"/>
              <a:gd name="T1" fmla="*/ 0 h 1169"/>
              <a:gd name="T2" fmla="*/ 0 w 1169"/>
              <a:gd name="T3" fmla="*/ 0 h 1169"/>
              <a:gd name="T4" fmla="*/ 0 w 1169"/>
              <a:gd name="T5" fmla="*/ 731 h 1169"/>
              <a:gd name="T6" fmla="*/ 439 w 1169"/>
              <a:gd name="T7" fmla="*/ 1169 h 1169"/>
              <a:gd name="T8" fmla="*/ 1169 w 1169"/>
              <a:gd name="T9" fmla="*/ 1169 h 1169"/>
              <a:gd name="T10" fmla="*/ 1169 w 1169"/>
              <a:gd name="T11" fmla="*/ 439 h 1169"/>
              <a:gd name="T12" fmla="*/ 731 w 1169"/>
              <a:gd name="T13" fmla="*/ 0 h 1169"/>
            </a:gdLst>
            <a:ahLst/>
            <a:cxnLst>
              <a:cxn ang="0">
                <a:pos x="T0" y="T1"/>
              </a:cxn>
              <a:cxn ang="0">
                <a:pos x="T2" y="T3"/>
              </a:cxn>
              <a:cxn ang="0">
                <a:pos x="T4" y="T5"/>
              </a:cxn>
              <a:cxn ang="0">
                <a:pos x="T6" y="T7"/>
              </a:cxn>
              <a:cxn ang="0">
                <a:pos x="T8" y="T9"/>
              </a:cxn>
              <a:cxn ang="0">
                <a:pos x="T10" y="T11"/>
              </a:cxn>
              <a:cxn ang="0">
                <a:pos x="T12" y="T13"/>
              </a:cxn>
            </a:cxnLst>
            <a:rect l="0" t="0" r="r" b="b"/>
            <a:pathLst>
              <a:path w="1169" h="1169">
                <a:moveTo>
                  <a:pt x="731" y="0"/>
                </a:moveTo>
                <a:cubicBezTo>
                  <a:pt x="0" y="0"/>
                  <a:pt x="0" y="0"/>
                  <a:pt x="0" y="0"/>
                </a:cubicBezTo>
                <a:cubicBezTo>
                  <a:pt x="0" y="731"/>
                  <a:pt x="0" y="731"/>
                  <a:pt x="0" y="731"/>
                </a:cubicBezTo>
                <a:cubicBezTo>
                  <a:pt x="0" y="973"/>
                  <a:pt x="196" y="1169"/>
                  <a:pt x="439" y="1169"/>
                </a:cubicBezTo>
                <a:cubicBezTo>
                  <a:pt x="1169" y="1169"/>
                  <a:pt x="1169" y="1169"/>
                  <a:pt x="1169" y="1169"/>
                </a:cubicBezTo>
                <a:cubicBezTo>
                  <a:pt x="1169" y="439"/>
                  <a:pt x="1169" y="439"/>
                  <a:pt x="1169" y="439"/>
                </a:cubicBezTo>
                <a:cubicBezTo>
                  <a:pt x="1169" y="196"/>
                  <a:pt x="973" y="0"/>
                  <a:pt x="731" y="0"/>
                </a:cubicBezTo>
                <a:close/>
              </a:path>
            </a:pathLst>
          </a:custGeom>
          <a:solidFill>
            <a:schemeClr val="bg1">
              <a:lumMod val="85000"/>
              <a:alpha val="15000"/>
            </a:schemeClr>
          </a:solidFill>
          <a:ln>
            <a:noFill/>
          </a:ln>
        </p:spPr>
        <p:txBody>
          <a:bodyPr vert="horz" wrap="square" lIns="91440" tIns="45720" rIns="91440" bIns="45720" numCol="1" anchor="t" anchorCtr="0" compatLnSpc="1">
            <a:prstTxWarp prst="textNoShape">
              <a:avLst/>
            </a:prstTxWarp>
          </a:bodyPr>
          <a:lstStyle/>
          <a:p>
            <a:endParaRPr lang="id-ID" sz="1400">
              <a:solidFill>
                <a:schemeClr val="accent2"/>
              </a:solidFill>
            </a:endParaRPr>
          </a:p>
        </p:txBody>
      </p:sp>
      <p:sp>
        <p:nvSpPr>
          <p:cNvPr id="19" name="Freeform 5"/>
          <p:cNvSpPr>
            <a:spLocks/>
          </p:cNvSpPr>
          <p:nvPr userDrawn="1"/>
        </p:nvSpPr>
        <p:spPr bwMode="auto">
          <a:xfrm flipH="1">
            <a:off x="8352858" y="2453988"/>
            <a:ext cx="521761" cy="521761"/>
          </a:xfrm>
          <a:custGeom>
            <a:avLst/>
            <a:gdLst>
              <a:gd name="T0" fmla="*/ 731 w 1169"/>
              <a:gd name="T1" fmla="*/ 0 h 1169"/>
              <a:gd name="T2" fmla="*/ 0 w 1169"/>
              <a:gd name="T3" fmla="*/ 0 h 1169"/>
              <a:gd name="T4" fmla="*/ 0 w 1169"/>
              <a:gd name="T5" fmla="*/ 731 h 1169"/>
              <a:gd name="T6" fmla="*/ 439 w 1169"/>
              <a:gd name="T7" fmla="*/ 1169 h 1169"/>
              <a:gd name="T8" fmla="*/ 1169 w 1169"/>
              <a:gd name="T9" fmla="*/ 1169 h 1169"/>
              <a:gd name="T10" fmla="*/ 1169 w 1169"/>
              <a:gd name="T11" fmla="*/ 439 h 1169"/>
              <a:gd name="T12" fmla="*/ 731 w 1169"/>
              <a:gd name="T13" fmla="*/ 0 h 1169"/>
            </a:gdLst>
            <a:ahLst/>
            <a:cxnLst>
              <a:cxn ang="0">
                <a:pos x="T0" y="T1"/>
              </a:cxn>
              <a:cxn ang="0">
                <a:pos x="T2" y="T3"/>
              </a:cxn>
              <a:cxn ang="0">
                <a:pos x="T4" y="T5"/>
              </a:cxn>
              <a:cxn ang="0">
                <a:pos x="T6" y="T7"/>
              </a:cxn>
              <a:cxn ang="0">
                <a:pos x="T8" y="T9"/>
              </a:cxn>
              <a:cxn ang="0">
                <a:pos x="T10" y="T11"/>
              </a:cxn>
              <a:cxn ang="0">
                <a:pos x="T12" y="T13"/>
              </a:cxn>
            </a:cxnLst>
            <a:rect l="0" t="0" r="r" b="b"/>
            <a:pathLst>
              <a:path w="1169" h="1169">
                <a:moveTo>
                  <a:pt x="731" y="0"/>
                </a:moveTo>
                <a:cubicBezTo>
                  <a:pt x="0" y="0"/>
                  <a:pt x="0" y="0"/>
                  <a:pt x="0" y="0"/>
                </a:cubicBezTo>
                <a:cubicBezTo>
                  <a:pt x="0" y="731"/>
                  <a:pt x="0" y="731"/>
                  <a:pt x="0" y="731"/>
                </a:cubicBezTo>
                <a:cubicBezTo>
                  <a:pt x="0" y="973"/>
                  <a:pt x="196" y="1169"/>
                  <a:pt x="439" y="1169"/>
                </a:cubicBezTo>
                <a:cubicBezTo>
                  <a:pt x="1169" y="1169"/>
                  <a:pt x="1169" y="1169"/>
                  <a:pt x="1169" y="1169"/>
                </a:cubicBezTo>
                <a:cubicBezTo>
                  <a:pt x="1169" y="439"/>
                  <a:pt x="1169" y="439"/>
                  <a:pt x="1169" y="439"/>
                </a:cubicBezTo>
                <a:cubicBezTo>
                  <a:pt x="1169" y="196"/>
                  <a:pt x="973" y="0"/>
                  <a:pt x="731" y="0"/>
                </a:cubicBezTo>
                <a:close/>
              </a:path>
            </a:pathLst>
          </a:custGeom>
          <a:solidFill>
            <a:schemeClr val="bg1">
              <a:lumMod val="85000"/>
              <a:alpha val="15000"/>
            </a:schemeClr>
          </a:solidFill>
          <a:ln>
            <a:noFill/>
          </a:ln>
        </p:spPr>
        <p:txBody>
          <a:bodyPr vert="horz" wrap="square" lIns="91440" tIns="45720" rIns="91440" bIns="45720" numCol="1" anchor="t" anchorCtr="0" compatLnSpc="1">
            <a:prstTxWarp prst="textNoShape">
              <a:avLst/>
            </a:prstTxWarp>
          </a:bodyPr>
          <a:lstStyle/>
          <a:p>
            <a:endParaRPr lang="id-ID" sz="1400">
              <a:solidFill>
                <a:schemeClr val="accent2"/>
              </a:solidFill>
            </a:endParaRPr>
          </a:p>
        </p:txBody>
      </p:sp>
      <p:sp>
        <p:nvSpPr>
          <p:cNvPr id="21" name="Rectangle 20"/>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2" name="Rectangle 21"/>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3" name="TextBox 22"/>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dirty="0">
              <a:solidFill>
                <a:schemeClr val="bg1"/>
              </a:solidFill>
            </a:endParaRPr>
          </a:p>
        </p:txBody>
      </p:sp>
      <p:grpSp>
        <p:nvGrpSpPr>
          <p:cNvPr id="31" name="Group 30"/>
          <p:cNvGrpSpPr/>
          <p:nvPr userDrawn="1"/>
        </p:nvGrpSpPr>
        <p:grpSpPr>
          <a:xfrm>
            <a:off x="347419" y="6409324"/>
            <a:ext cx="224082" cy="221156"/>
            <a:chOff x="4328868" y="5502988"/>
            <a:chExt cx="500307" cy="493774"/>
          </a:xfrm>
        </p:grpSpPr>
        <p:sp>
          <p:nvSpPr>
            <p:cNvPr id="32" name="Freeform 31">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33" name="Freeform 32">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34" name="Group 33"/>
          <p:cNvGrpSpPr/>
          <p:nvPr userDrawn="1"/>
        </p:nvGrpSpPr>
        <p:grpSpPr>
          <a:xfrm flipH="1">
            <a:off x="933709" y="6409324"/>
            <a:ext cx="224082" cy="221156"/>
            <a:chOff x="4328868" y="5502988"/>
            <a:chExt cx="500307" cy="493774"/>
          </a:xfrm>
        </p:grpSpPr>
        <p:sp>
          <p:nvSpPr>
            <p:cNvPr id="35" name="Freeform 34">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36" name="Freeform 35">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37" name="Straight Connector 36"/>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8418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1+#ppt_w/2"/>
                                          </p:val>
                                        </p:tav>
                                        <p:tav tm="100000">
                                          <p:val>
                                            <p:strVal val="#ppt_x"/>
                                          </p:val>
                                        </p:tav>
                                      </p:tavLst>
                                    </p:anim>
                                    <p:anim calcmode="lin" valueType="num">
                                      <p:cBhvr additive="base">
                                        <p:cTn id="8" dur="500" fill="hold"/>
                                        <p:tgtEl>
                                          <p:spTgt spid="19"/>
                                        </p:tgtEl>
                                        <p:attrNameLst>
                                          <p:attrName>ppt_y</p:attrName>
                                        </p:attrNameLst>
                                      </p:cBhvr>
                                      <p:tavLst>
                                        <p:tav tm="0">
                                          <p:val>
                                            <p:strVal val="0-#ppt_h/2"/>
                                          </p:val>
                                        </p:tav>
                                        <p:tav tm="100000">
                                          <p:val>
                                            <p:strVal val="#ppt_y"/>
                                          </p:val>
                                        </p:tav>
                                      </p:tavLst>
                                    </p:anim>
                                  </p:childTnLst>
                                </p:cTn>
                              </p:par>
                              <p:par>
                                <p:cTn id="9" presetID="2" presetClass="entr" presetSubtype="3"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1+#ppt_w/2"/>
                                          </p:val>
                                        </p:tav>
                                        <p:tav tm="100000">
                                          <p:val>
                                            <p:strVal val="#ppt_x"/>
                                          </p:val>
                                        </p:tav>
                                      </p:tavLst>
                                    </p:anim>
                                    <p:anim calcmode="lin" valueType="num">
                                      <p:cBhvr additive="base">
                                        <p:cTn id="12" dur="500" fill="hold"/>
                                        <p:tgtEl>
                                          <p:spTgt spid="14"/>
                                        </p:tgtEl>
                                        <p:attrNameLst>
                                          <p:attrName>ppt_y</p:attrName>
                                        </p:attrNameLst>
                                      </p:cBhvr>
                                      <p:tavLst>
                                        <p:tav tm="0">
                                          <p:val>
                                            <p:strVal val="0-#ppt_h/2"/>
                                          </p:val>
                                        </p:tav>
                                        <p:tav tm="100000">
                                          <p:val>
                                            <p:strVal val="#ppt_y"/>
                                          </p:val>
                                        </p:tav>
                                      </p:tavLst>
                                    </p:anim>
                                  </p:childTnLst>
                                </p:cTn>
                              </p:par>
                              <p:par>
                                <p:cTn id="13" presetID="2" presetClass="entr" presetSubtype="3"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anim calcmode="lin" valueType="num">
                                      <p:cBhvr additive="base">
                                        <p:cTn id="15" dur="500" fill="hold"/>
                                        <p:tgtEl>
                                          <p:spTgt spid="18"/>
                                        </p:tgtEl>
                                        <p:attrNameLst>
                                          <p:attrName>ppt_x</p:attrName>
                                        </p:attrNameLst>
                                      </p:cBhvr>
                                      <p:tavLst>
                                        <p:tav tm="0">
                                          <p:val>
                                            <p:strVal val="1+#ppt_w/2"/>
                                          </p:val>
                                        </p:tav>
                                        <p:tav tm="100000">
                                          <p:val>
                                            <p:strVal val="#ppt_x"/>
                                          </p:val>
                                        </p:tav>
                                      </p:tavLst>
                                    </p:anim>
                                    <p:anim calcmode="lin" valueType="num">
                                      <p:cBhvr additive="base">
                                        <p:cTn id="16" dur="500" fill="hold"/>
                                        <p:tgtEl>
                                          <p:spTgt spid="18"/>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8" grpId="0" animBg="1"/>
      <p:bldP spid="19" grpId="0" animBg="1"/>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0_Title Slide">
    <p:spTree>
      <p:nvGrpSpPr>
        <p:cNvPr id="1" name=""/>
        <p:cNvGrpSpPr/>
        <p:nvPr/>
      </p:nvGrpSpPr>
      <p:grpSpPr>
        <a:xfrm>
          <a:off x="0" y="0"/>
          <a:ext cx="0" cy="0"/>
          <a:chOff x="0" y="0"/>
          <a:chExt cx="0" cy="0"/>
        </a:xfrm>
      </p:grpSpPr>
      <p:sp>
        <p:nvSpPr>
          <p:cNvPr id="15" name="Picture Placeholder 14"/>
          <p:cNvSpPr>
            <a:spLocks noGrp="1"/>
          </p:cNvSpPr>
          <p:nvPr>
            <p:ph type="pic" sz="quarter" idx="10"/>
          </p:nvPr>
        </p:nvSpPr>
        <p:spPr>
          <a:xfrm>
            <a:off x="1192213" y="2152650"/>
            <a:ext cx="3206750" cy="3138488"/>
          </a:xfrm>
        </p:spPr>
        <p:txBody>
          <a:bodyPr>
            <a:normAutofit/>
          </a:bodyPr>
          <a:lstStyle>
            <a:lvl1pPr>
              <a:defRPr sz="1600">
                <a:solidFill>
                  <a:schemeClr val="accent2"/>
                </a:solidFill>
              </a:defRPr>
            </a:lvl1pPr>
          </a:lstStyle>
          <a:p>
            <a:endParaRPr lang="id-ID"/>
          </a:p>
        </p:txBody>
      </p:sp>
      <p:sp>
        <p:nvSpPr>
          <p:cNvPr id="16" name="Picture Placeholder 14"/>
          <p:cNvSpPr>
            <a:spLocks noGrp="1"/>
          </p:cNvSpPr>
          <p:nvPr>
            <p:ph type="pic" sz="quarter" idx="11"/>
          </p:nvPr>
        </p:nvSpPr>
        <p:spPr>
          <a:xfrm>
            <a:off x="4487822" y="2152650"/>
            <a:ext cx="3206750" cy="3138488"/>
          </a:xfrm>
        </p:spPr>
        <p:txBody>
          <a:bodyPr>
            <a:normAutofit/>
          </a:bodyPr>
          <a:lstStyle>
            <a:lvl1pPr>
              <a:defRPr sz="1600">
                <a:solidFill>
                  <a:schemeClr val="accent2"/>
                </a:solidFill>
              </a:defRPr>
            </a:lvl1pPr>
          </a:lstStyle>
          <a:p>
            <a:endParaRPr lang="id-ID"/>
          </a:p>
        </p:txBody>
      </p:sp>
      <p:sp>
        <p:nvSpPr>
          <p:cNvPr id="17" name="Picture Placeholder 14"/>
          <p:cNvSpPr>
            <a:spLocks noGrp="1"/>
          </p:cNvSpPr>
          <p:nvPr>
            <p:ph type="pic" sz="quarter" idx="12"/>
          </p:nvPr>
        </p:nvSpPr>
        <p:spPr>
          <a:xfrm>
            <a:off x="7809924" y="2152650"/>
            <a:ext cx="3206750" cy="3138488"/>
          </a:xfrm>
        </p:spPr>
        <p:txBody>
          <a:bodyPr>
            <a:normAutofit/>
          </a:bodyPr>
          <a:lstStyle>
            <a:lvl1pPr>
              <a:defRPr sz="1600">
                <a:solidFill>
                  <a:schemeClr val="accent2"/>
                </a:solidFill>
              </a:defRPr>
            </a:lvl1pPr>
          </a:lstStyle>
          <a:p>
            <a:endParaRPr lang="id-ID"/>
          </a:p>
        </p:txBody>
      </p:sp>
      <p:sp>
        <p:nvSpPr>
          <p:cNvPr id="25" name="Rectangle 24"/>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6" name="Rectangle 25"/>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7" name="TextBox 26"/>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dirty="0">
              <a:solidFill>
                <a:schemeClr val="bg1"/>
              </a:solidFill>
            </a:endParaRPr>
          </a:p>
        </p:txBody>
      </p:sp>
      <p:grpSp>
        <p:nvGrpSpPr>
          <p:cNvPr id="28" name="Group 27"/>
          <p:cNvGrpSpPr/>
          <p:nvPr userDrawn="1"/>
        </p:nvGrpSpPr>
        <p:grpSpPr>
          <a:xfrm>
            <a:off x="347419" y="6409324"/>
            <a:ext cx="224082" cy="221156"/>
            <a:chOff x="4328868" y="5502988"/>
            <a:chExt cx="500307" cy="493774"/>
          </a:xfrm>
        </p:grpSpPr>
        <p:sp>
          <p:nvSpPr>
            <p:cNvPr id="29" name="Freeform 28">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30" name="Freeform 29">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31" name="Group 30"/>
          <p:cNvGrpSpPr/>
          <p:nvPr userDrawn="1"/>
        </p:nvGrpSpPr>
        <p:grpSpPr>
          <a:xfrm flipH="1">
            <a:off x="933709" y="6409324"/>
            <a:ext cx="224082" cy="221156"/>
            <a:chOff x="4328868" y="5502988"/>
            <a:chExt cx="500307" cy="493774"/>
          </a:xfrm>
        </p:grpSpPr>
        <p:sp>
          <p:nvSpPr>
            <p:cNvPr id="32" name="Freeform 31">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33" name="Freeform 32">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34" name="Straight Connector 33"/>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14499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2_Title Slide">
    <p:spTree>
      <p:nvGrpSpPr>
        <p:cNvPr id="1" name=""/>
        <p:cNvGrpSpPr/>
        <p:nvPr/>
      </p:nvGrpSpPr>
      <p:grpSpPr>
        <a:xfrm>
          <a:off x="0" y="0"/>
          <a:ext cx="0" cy="0"/>
          <a:chOff x="0" y="0"/>
          <a:chExt cx="0" cy="0"/>
        </a:xfrm>
      </p:grpSpPr>
      <p:sp>
        <p:nvSpPr>
          <p:cNvPr id="8" name="Picture Placeholder 3"/>
          <p:cNvSpPr>
            <a:spLocks noGrp="1"/>
          </p:cNvSpPr>
          <p:nvPr>
            <p:ph type="pic" sz="quarter" idx="10"/>
          </p:nvPr>
        </p:nvSpPr>
        <p:spPr>
          <a:xfrm>
            <a:off x="1045466" y="2283008"/>
            <a:ext cx="4969744" cy="3753338"/>
          </a:xfrm>
        </p:spPr>
        <p:txBody>
          <a:bodyPr>
            <a:normAutofit/>
          </a:bodyPr>
          <a:lstStyle>
            <a:lvl1pPr>
              <a:defRPr sz="1800">
                <a:solidFill>
                  <a:schemeClr val="accent2"/>
                </a:solidFill>
              </a:defRPr>
            </a:lvl1pPr>
          </a:lstStyle>
          <a:p>
            <a:endParaRPr lang="id-ID"/>
          </a:p>
        </p:txBody>
      </p:sp>
      <p:sp>
        <p:nvSpPr>
          <p:cNvPr id="9" name="Picture Placeholder 3"/>
          <p:cNvSpPr>
            <a:spLocks noGrp="1"/>
          </p:cNvSpPr>
          <p:nvPr>
            <p:ph type="pic" sz="quarter" idx="11"/>
          </p:nvPr>
        </p:nvSpPr>
        <p:spPr>
          <a:xfrm>
            <a:off x="6516763" y="2283008"/>
            <a:ext cx="4969744" cy="3753338"/>
          </a:xfrm>
        </p:spPr>
        <p:txBody>
          <a:bodyPr>
            <a:normAutofit/>
          </a:bodyPr>
          <a:lstStyle>
            <a:lvl1pPr>
              <a:defRPr sz="1800">
                <a:solidFill>
                  <a:schemeClr val="accent2"/>
                </a:solidFill>
              </a:defRPr>
            </a:lvl1pPr>
          </a:lstStyle>
          <a:p>
            <a:endParaRPr lang="id-ID"/>
          </a:p>
        </p:txBody>
      </p:sp>
      <p:sp>
        <p:nvSpPr>
          <p:cNvPr id="14" name="Rectangle 13"/>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5" name="Rectangle 1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6" name="TextBox 15"/>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dirty="0">
              <a:solidFill>
                <a:schemeClr val="bg1"/>
              </a:solidFill>
            </a:endParaRPr>
          </a:p>
        </p:txBody>
      </p:sp>
      <p:grpSp>
        <p:nvGrpSpPr>
          <p:cNvPr id="24" name="Group 23"/>
          <p:cNvGrpSpPr/>
          <p:nvPr userDrawn="1"/>
        </p:nvGrpSpPr>
        <p:grpSpPr>
          <a:xfrm>
            <a:off x="347419" y="6409324"/>
            <a:ext cx="224082" cy="221156"/>
            <a:chOff x="4328868" y="5502988"/>
            <a:chExt cx="500307" cy="493774"/>
          </a:xfrm>
        </p:grpSpPr>
        <p:sp>
          <p:nvSpPr>
            <p:cNvPr id="25" name="Freeform 24">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6" name="Freeform 25">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7" name="Group 26"/>
          <p:cNvGrpSpPr/>
          <p:nvPr userDrawn="1"/>
        </p:nvGrpSpPr>
        <p:grpSpPr>
          <a:xfrm flipH="1">
            <a:off x="933709" y="6409324"/>
            <a:ext cx="224082" cy="221156"/>
            <a:chOff x="4328868" y="5502988"/>
            <a:chExt cx="500307" cy="493774"/>
          </a:xfrm>
        </p:grpSpPr>
        <p:sp>
          <p:nvSpPr>
            <p:cNvPr id="28" name="Freeform 27">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9" name="Freeform 28">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30" name="Straight Connector 29"/>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43591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3_Title Slide">
    <p:spTree>
      <p:nvGrpSpPr>
        <p:cNvPr id="1" name=""/>
        <p:cNvGrpSpPr/>
        <p:nvPr/>
      </p:nvGrpSpPr>
      <p:grpSpPr>
        <a:xfrm>
          <a:off x="0" y="0"/>
          <a:ext cx="0" cy="0"/>
          <a:chOff x="0" y="0"/>
          <a:chExt cx="0" cy="0"/>
        </a:xfrm>
      </p:grpSpPr>
      <p:sp>
        <p:nvSpPr>
          <p:cNvPr id="10" name="Picture Placeholder 3"/>
          <p:cNvSpPr>
            <a:spLocks noGrp="1"/>
          </p:cNvSpPr>
          <p:nvPr>
            <p:ph type="pic" sz="quarter" idx="10"/>
          </p:nvPr>
        </p:nvSpPr>
        <p:spPr>
          <a:xfrm>
            <a:off x="1045466" y="2283008"/>
            <a:ext cx="4969744" cy="3753338"/>
          </a:xfrm>
        </p:spPr>
        <p:txBody>
          <a:bodyPr>
            <a:normAutofit/>
          </a:bodyPr>
          <a:lstStyle>
            <a:lvl1pPr>
              <a:defRPr sz="2000">
                <a:solidFill>
                  <a:schemeClr val="accent2"/>
                </a:solidFill>
              </a:defRPr>
            </a:lvl1pPr>
          </a:lstStyle>
          <a:p>
            <a:endParaRPr lang="id-ID"/>
          </a:p>
        </p:txBody>
      </p:sp>
      <p:sp>
        <p:nvSpPr>
          <p:cNvPr id="13" name="Rectangle 12"/>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4" name="Rectangle 13"/>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2" name="TextBox 21"/>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dirty="0">
              <a:solidFill>
                <a:schemeClr val="bg1"/>
              </a:solidFill>
            </a:endParaRPr>
          </a:p>
        </p:txBody>
      </p:sp>
      <p:grpSp>
        <p:nvGrpSpPr>
          <p:cNvPr id="23" name="Group 22"/>
          <p:cNvGrpSpPr/>
          <p:nvPr userDrawn="1"/>
        </p:nvGrpSpPr>
        <p:grpSpPr>
          <a:xfrm>
            <a:off x="347419" y="6409324"/>
            <a:ext cx="224082" cy="221156"/>
            <a:chOff x="4328868" y="5502988"/>
            <a:chExt cx="500307" cy="493774"/>
          </a:xfrm>
        </p:grpSpPr>
        <p:sp>
          <p:nvSpPr>
            <p:cNvPr id="24" name="Freeform 23">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5" name="Freeform 24">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6" name="Group 25"/>
          <p:cNvGrpSpPr/>
          <p:nvPr userDrawn="1"/>
        </p:nvGrpSpPr>
        <p:grpSpPr>
          <a:xfrm flipH="1">
            <a:off x="933709" y="6409324"/>
            <a:ext cx="224082" cy="221156"/>
            <a:chOff x="4328868" y="5502988"/>
            <a:chExt cx="500307" cy="493774"/>
          </a:xfrm>
        </p:grpSpPr>
        <p:sp>
          <p:nvSpPr>
            <p:cNvPr id="27" name="Freeform 26">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8" name="Freeform 27">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29" name="Straight Connector 28"/>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8715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4_Title Slide">
    <p:spTree>
      <p:nvGrpSpPr>
        <p:cNvPr id="1" name=""/>
        <p:cNvGrpSpPr/>
        <p:nvPr/>
      </p:nvGrpSpPr>
      <p:grpSpPr>
        <a:xfrm>
          <a:off x="0" y="0"/>
          <a:ext cx="0" cy="0"/>
          <a:chOff x="0" y="0"/>
          <a:chExt cx="0" cy="0"/>
        </a:xfrm>
      </p:grpSpPr>
      <p:sp>
        <p:nvSpPr>
          <p:cNvPr id="4" name="Picture Placeholder 3"/>
          <p:cNvSpPr>
            <a:spLocks noGrp="1"/>
          </p:cNvSpPr>
          <p:nvPr>
            <p:ph type="pic" sz="quarter" idx="12"/>
          </p:nvPr>
        </p:nvSpPr>
        <p:spPr>
          <a:xfrm>
            <a:off x="0" y="0"/>
            <a:ext cx="12192000" cy="3143250"/>
          </a:xfrm>
        </p:spPr>
        <p:txBody>
          <a:bodyPr>
            <a:normAutofit/>
          </a:bodyPr>
          <a:lstStyle>
            <a:lvl1pPr>
              <a:defRPr sz="2000">
                <a:solidFill>
                  <a:schemeClr val="accent2"/>
                </a:solidFill>
              </a:defRPr>
            </a:lvl1pPr>
          </a:lstStyle>
          <a:p>
            <a:endParaRPr lang="id-ID"/>
          </a:p>
        </p:txBody>
      </p:sp>
      <p:sp>
        <p:nvSpPr>
          <p:cNvPr id="8" name="Picture Placeholder 3"/>
          <p:cNvSpPr>
            <a:spLocks noGrp="1"/>
          </p:cNvSpPr>
          <p:nvPr>
            <p:ph type="pic" sz="quarter" idx="11"/>
          </p:nvPr>
        </p:nvSpPr>
        <p:spPr>
          <a:xfrm>
            <a:off x="1456589" y="1280867"/>
            <a:ext cx="1550340" cy="2598991"/>
          </a:xfrm>
        </p:spPr>
        <p:txBody>
          <a:bodyPr>
            <a:normAutofit/>
          </a:bodyPr>
          <a:lstStyle>
            <a:lvl1pPr>
              <a:defRPr sz="1800">
                <a:solidFill>
                  <a:schemeClr val="accent2"/>
                </a:solidFill>
              </a:defRPr>
            </a:lvl1pPr>
          </a:lstStyle>
          <a:p>
            <a:endParaRPr lang="id-ID" dirty="0"/>
          </a:p>
        </p:txBody>
      </p:sp>
      <p:sp>
        <p:nvSpPr>
          <p:cNvPr id="9" name="Picture Placeholder 3"/>
          <p:cNvSpPr>
            <a:spLocks noGrp="1"/>
          </p:cNvSpPr>
          <p:nvPr>
            <p:ph type="pic" sz="quarter" idx="10"/>
          </p:nvPr>
        </p:nvSpPr>
        <p:spPr>
          <a:xfrm>
            <a:off x="2855740" y="839411"/>
            <a:ext cx="1776413" cy="2977979"/>
          </a:xfrm>
        </p:spPr>
        <p:txBody>
          <a:bodyPr>
            <a:normAutofit/>
          </a:bodyPr>
          <a:lstStyle>
            <a:lvl1pPr>
              <a:defRPr sz="1800">
                <a:solidFill>
                  <a:schemeClr val="accent2"/>
                </a:solidFill>
              </a:defRPr>
            </a:lvl1pPr>
          </a:lstStyle>
          <a:p>
            <a:endParaRPr lang="id-ID" dirty="0"/>
          </a:p>
        </p:txBody>
      </p:sp>
      <p:sp>
        <p:nvSpPr>
          <p:cNvPr id="15" name="Rectangle 14"/>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6" name="Rectangle 15"/>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4" name="TextBox 23"/>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dirty="0">
              <a:solidFill>
                <a:schemeClr val="bg1"/>
              </a:solidFill>
            </a:endParaRPr>
          </a:p>
        </p:txBody>
      </p:sp>
      <p:grpSp>
        <p:nvGrpSpPr>
          <p:cNvPr id="25" name="Group 24"/>
          <p:cNvGrpSpPr/>
          <p:nvPr userDrawn="1"/>
        </p:nvGrpSpPr>
        <p:grpSpPr>
          <a:xfrm>
            <a:off x="347419" y="6409324"/>
            <a:ext cx="224082" cy="221156"/>
            <a:chOff x="4328868" y="5502988"/>
            <a:chExt cx="500307" cy="493774"/>
          </a:xfrm>
        </p:grpSpPr>
        <p:sp>
          <p:nvSpPr>
            <p:cNvPr id="26" name="Freeform 25">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7" name="Freeform 26">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8" name="Group 27"/>
          <p:cNvGrpSpPr/>
          <p:nvPr userDrawn="1"/>
        </p:nvGrpSpPr>
        <p:grpSpPr>
          <a:xfrm flipH="1">
            <a:off x="933709" y="6409324"/>
            <a:ext cx="224082" cy="221156"/>
            <a:chOff x="4328868" y="5502988"/>
            <a:chExt cx="500307" cy="493774"/>
          </a:xfrm>
        </p:grpSpPr>
        <p:sp>
          <p:nvSpPr>
            <p:cNvPr id="29" name="Freeform 28">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30" name="Freeform 29">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31" name="Straight Connector 30"/>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282085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5_Title Slide">
    <p:spTree>
      <p:nvGrpSpPr>
        <p:cNvPr id="1" name=""/>
        <p:cNvGrpSpPr/>
        <p:nvPr/>
      </p:nvGrpSpPr>
      <p:grpSpPr>
        <a:xfrm>
          <a:off x="0" y="0"/>
          <a:ext cx="0" cy="0"/>
          <a:chOff x="0" y="0"/>
          <a:chExt cx="0" cy="0"/>
        </a:xfrm>
      </p:grpSpPr>
      <p:sp>
        <p:nvSpPr>
          <p:cNvPr id="10" name="Picture Placeholder 3"/>
          <p:cNvSpPr>
            <a:spLocks noGrp="1"/>
          </p:cNvSpPr>
          <p:nvPr>
            <p:ph type="pic" sz="quarter" idx="11"/>
          </p:nvPr>
        </p:nvSpPr>
        <p:spPr>
          <a:xfrm>
            <a:off x="5266299" y="3164617"/>
            <a:ext cx="6819990" cy="4020519"/>
          </a:xfrm>
        </p:spPr>
        <p:txBody>
          <a:bodyPr>
            <a:normAutofit/>
          </a:bodyPr>
          <a:lstStyle>
            <a:lvl1pPr>
              <a:defRPr sz="1800">
                <a:solidFill>
                  <a:schemeClr val="accent2"/>
                </a:solidFill>
              </a:defRPr>
            </a:lvl1pPr>
          </a:lstStyle>
          <a:p>
            <a:endParaRPr lang="id-ID" dirty="0"/>
          </a:p>
        </p:txBody>
      </p:sp>
      <p:sp>
        <p:nvSpPr>
          <p:cNvPr id="13" name="Rectangle 12"/>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4" name="Rectangle 13"/>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2" name="TextBox 21"/>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dirty="0">
              <a:solidFill>
                <a:schemeClr val="bg1"/>
              </a:solidFill>
            </a:endParaRPr>
          </a:p>
        </p:txBody>
      </p:sp>
      <p:grpSp>
        <p:nvGrpSpPr>
          <p:cNvPr id="23" name="Group 22"/>
          <p:cNvGrpSpPr/>
          <p:nvPr userDrawn="1"/>
        </p:nvGrpSpPr>
        <p:grpSpPr>
          <a:xfrm>
            <a:off x="347419" y="6409324"/>
            <a:ext cx="224082" cy="221156"/>
            <a:chOff x="4328868" y="5502988"/>
            <a:chExt cx="500307" cy="493774"/>
          </a:xfrm>
        </p:grpSpPr>
        <p:sp>
          <p:nvSpPr>
            <p:cNvPr id="24" name="Freeform 23">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5" name="Freeform 24">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6" name="Group 25"/>
          <p:cNvGrpSpPr/>
          <p:nvPr userDrawn="1"/>
        </p:nvGrpSpPr>
        <p:grpSpPr>
          <a:xfrm flipH="1">
            <a:off x="933709" y="6409324"/>
            <a:ext cx="224082" cy="221156"/>
            <a:chOff x="4328868" y="5502988"/>
            <a:chExt cx="500307" cy="493774"/>
          </a:xfrm>
        </p:grpSpPr>
        <p:sp>
          <p:nvSpPr>
            <p:cNvPr id="27" name="Freeform 26">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8" name="Freeform 27">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29" name="Straight Connector 28"/>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996862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6_Title Slide">
    <p:spTree>
      <p:nvGrpSpPr>
        <p:cNvPr id="1" name=""/>
        <p:cNvGrpSpPr/>
        <p:nvPr/>
      </p:nvGrpSpPr>
      <p:grpSpPr>
        <a:xfrm>
          <a:off x="0" y="0"/>
          <a:ext cx="0" cy="0"/>
          <a:chOff x="0" y="0"/>
          <a:chExt cx="0" cy="0"/>
        </a:xfrm>
      </p:grpSpPr>
      <p:sp>
        <p:nvSpPr>
          <p:cNvPr id="4" name="Picture Placeholder 3"/>
          <p:cNvSpPr>
            <a:spLocks noGrp="1"/>
          </p:cNvSpPr>
          <p:nvPr>
            <p:ph type="pic" sz="quarter" idx="11"/>
          </p:nvPr>
        </p:nvSpPr>
        <p:spPr>
          <a:xfrm>
            <a:off x="0" y="-23813"/>
            <a:ext cx="12192000" cy="4117976"/>
          </a:xfrm>
        </p:spPr>
        <p:txBody>
          <a:bodyPr/>
          <a:lstStyle>
            <a:lvl1pPr>
              <a:defRPr>
                <a:solidFill>
                  <a:schemeClr val="accent2"/>
                </a:solidFill>
              </a:defRPr>
            </a:lvl1pPr>
          </a:lstStyle>
          <a:p>
            <a:endParaRPr lang="id-ID"/>
          </a:p>
        </p:txBody>
      </p:sp>
      <p:sp>
        <p:nvSpPr>
          <p:cNvPr id="8" name="Picture Placeholder 3"/>
          <p:cNvSpPr>
            <a:spLocks noGrp="1"/>
          </p:cNvSpPr>
          <p:nvPr>
            <p:ph type="pic" sz="quarter" idx="10"/>
          </p:nvPr>
        </p:nvSpPr>
        <p:spPr>
          <a:xfrm>
            <a:off x="6502324" y="662473"/>
            <a:ext cx="2734983" cy="2969860"/>
          </a:xfrm>
          <a:custGeom>
            <a:avLst/>
            <a:gdLst>
              <a:gd name="connsiteX0" fmla="*/ 0 w 2091170"/>
              <a:gd name="connsiteY0" fmla="*/ 0 h 3109819"/>
              <a:gd name="connsiteX1" fmla="*/ 2091170 w 2091170"/>
              <a:gd name="connsiteY1" fmla="*/ 0 h 3109819"/>
              <a:gd name="connsiteX2" fmla="*/ 2091170 w 2091170"/>
              <a:gd name="connsiteY2" fmla="*/ 3109819 h 3109819"/>
              <a:gd name="connsiteX3" fmla="*/ 0 w 2091170"/>
              <a:gd name="connsiteY3" fmla="*/ 3109819 h 3109819"/>
              <a:gd name="connsiteX4" fmla="*/ 0 w 2091170"/>
              <a:gd name="connsiteY4" fmla="*/ 0 h 3109819"/>
              <a:gd name="connsiteX0" fmla="*/ 0 w 2091170"/>
              <a:gd name="connsiteY0" fmla="*/ 317241 h 3427060"/>
              <a:gd name="connsiteX1" fmla="*/ 1363383 w 2091170"/>
              <a:gd name="connsiteY1" fmla="*/ 0 h 3427060"/>
              <a:gd name="connsiteX2" fmla="*/ 2091170 w 2091170"/>
              <a:gd name="connsiteY2" fmla="*/ 3427060 h 3427060"/>
              <a:gd name="connsiteX3" fmla="*/ 0 w 2091170"/>
              <a:gd name="connsiteY3" fmla="*/ 3427060 h 3427060"/>
              <a:gd name="connsiteX4" fmla="*/ 0 w 2091170"/>
              <a:gd name="connsiteY4" fmla="*/ 317241 h 3427060"/>
              <a:gd name="connsiteX0" fmla="*/ 0 w 2734983"/>
              <a:gd name="connsiteY0" fmla="*/ 317241 h 3427060"/>
              <a:gd name="connsiteX1" fmla="*/ 1363383 w 2734983"/>
              <a:gd name="connsiteY1" fmla="*/ 0 h 3427060"/>
              <a:gd name="connsiteX2" fmla="*/ 2734983 w 2734983"/>
              <a:gd name="connsiteY2" fmla="*/ 2521990 h 3427060"/>
              <a:gd name="connsiteX3" fmla="*/ 0 w 2734983"/>
              <a:gd name="connsiteY3" fmla="*/ 3427060 h 3427060"/>
              <a:gd name="connsiteX4" fmla="*/ 0 w 2734983"/>
              <a:gd name="connsiteY4" fmla="*/ 317241 h 3427060"/>
              <a:gd name="connsiteX0" fmla="*/ 0 w 2734983"/>
              <a:gd name="connsiteY0" fmla="*/ 317241 h 2969860"/>
              <a:gd name="connsiteX1" fmla="*/ 1363383 w 2734983"/>
              <a:gd name="connsiteY1" fmla="*/ 0 h 2969860"/>
              <a:gd name="connsiteX2" fmla="*/ 2734983 w 2734983"/>
              <a:gd name="connsiteY2" fmla="*/ 2521990 h 2969860"/>
              <a:gd name="connsiteX3" fmla="*/ 1408923 w 2734983"/>
              <a:gd name="connsiteY3" fmla="*/ 2969860 h 2969860"/>
              <a:gd name="connsiteX4" fmla="*/ 0 w 2734983"/>
              <a:gd name="connsiteY4" fmla="*/ 317241 h 29698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34983" h="2969860">
                <a:moveTo>
                  <a:pt x="0" y="317241"/>
                </a:moveTo>
                <a:lnTo>
                  <a:pt x="1363383" y="0"/>
                </a:lnTo>
                <a:lnTo>
                  <a:pt x="2734983" y="2521990"/>
                </a:lnTo>
                <a:lnTo>
                  <a:pt x="1408923" y="2969860"/>
                </a:lnTo>
                <a:lnTo>
                  <a:pt x="0" y="317241"/>
                </a:lnTo>
                <a:close/>
              </a:path>
            </a:pathLst>
          </a:custGeom>
        </p:spPr>
        <p:txBody>
          <a:bodyPr>
            <a:normAutofit/>
          </a:bodyPr>
          <a:lstStyle>
            <a:lvl1pPr>
              <a:defRPr sz="1600">
                <a:solidFill>
                  <a:schemeClr val="bg1"/>
                </a:solidFill>
              </a:defRPr>
            </a:lvl1pPr>
          </a:lstStyle>
          <a:p>
            <a:endParaRPr lang="id-ID" dirty="0"/>
          </a:p>
        </p:txBody>
      </p:sp>
      <p:sp>
        <p:nvSpPr>
          <p:cNvPr id="14" name="Rectangle 13"/>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5" name="Rectangle 1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3" name="TextBox 22"/>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dirty="0">
              <a:solidFill>
                <a:schemeClr val="bg1"/>
              </a:solidFill>
            </a:endParaRPr>
          </a:p>
        </p:txBody>
      </p:sp>
      <p:grpSp>
        <p:nvGrpSpPr>
          <p:cNvPr id="24" name="Group 23"/>
          <p:cNvGrpSpPr/>
          <p:nvPr userDrawn="1"/>
        </p:nvGrpSpPr>
        <p:grpSpPr>
          <a:xfrm>
            <a:off x="347419" y="6409324"/>
            <a:ext cx="224082" cy="221156"/>
            <a:chOff x="4328868" y="5502988"/>
            <a:chExt cx="500307" cy="493774"/>
          </a:xfrm>
        </p:grpSpPr>
        <p:sp>
          <p:nvSpPr>
            <p:cNvPr id="25" name="Freeform 24">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6" name="Freeform 25">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7" name="Group 26"/>
          <p:cNvGrpSpPr/>
          <p:nvPr userDrawn="1"/>
        </p:nvGrpSpPr>
        <p:grpSpPr>
          <a:xfrm flipH="1">
            <a:off x="933709" y="6409324"/>
            <a:ext cx="224082" cy="221156"/>
            <a:chOff x="4328868" y="5502988"/>
            <a:chExt cx="500307" cy="493774"/>
          </a:xfrm>
        </p:grpSpPr>
        <p:sp>
          <p:nvSpPr>
            <p:cNvPr id="28" name="Freeform 27">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9" name="Freeform 28">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30" name="Straight Connector 29"/>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087581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7_Title Slide">
    <p:spTree>
      <p:nvGrpSpPr>
        <p:cNvPr id="1" name=""/>
        <p:cNvGrpSpPr/>
        <p:nvPr/>
      </p:nvGrpSpPr>
      <p:grpSpPr>
        <a:xfrm>
          <a:off x="0" y="0"/>
          <a:ext cx="0" cy="0"/>
          <a:chOff x="0" y="0"/>
          <a:chExt cx="0" cy="0"/>
        </a:xfrm>
      </p:grpSpPr>
      <p:sp>
        <p:nvSpPr>
          <p:cNvPr id="9" name="Rectangle 8"/>
          <p:cNvSpPr/>
          <p:nvPr userDrawn="1"/>
        </p:nvSpPr>
        <p:spPr>
          <a:xfrm>
            <a:off x="-2" y="0"/>
            <a:ext cx="12187314" cy="4000500"/>
          </a:xfrm>
          <a:prstGeom prst="rect">
            <a:avLst/>
          </a:prstGeom>
          <a:pattFill prst="pct90">
            <a:fgClr>
              <a:schemeClr val="tx2">
                <a:lumMod val="75000"/>
              </a:schemeClr>
            </a:fgClr>
            <a:bgClr>
              <a:schemeClr val="tx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icture Placeholder 2"/>
          <p:cNvSpPr>
            <a:spLocks noGrp="1"/>
          </p:cNvSpPr>
          <p:nvPr>
            <p:ph type="pic" sz="quarter" idx="10"/>
          </p:nvPr>
        </p:nvSpPr>
        <p:spPr>
          <a:xfrm>
            <a:off x="4265098" y="1704098"/>
            <a:ext cx="3633145" cy="2288465"/>
          </a:xfrm>
        </p:spPr>
        <p:txBody>
          <a:bodyPr>
            <a:normAutofit/>
          </a:bodyPr>
          <a:lstStyle>
            <a:lvl1pPr>
              <a:defRPr sz="2000">
                <a:solidFill>
                  <a:schemeClr val="accent2"/>
                </a:solidFill>
              </a:defRPr>
            </a:lvl1pPr>
          </a:lstStyle>
          <a:p>
            <a:endParaRPr lang="id-ID"/>
          </a:p>
        </p:txBody>
      </p:sp>
      <p:sp>
        <p:nvSpPr>
          <p:cNvPr id="14" name="Rectangle 13"/>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5" name="Rectangle 1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6" name="TextBox 15"/>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dirty="0">
              <a:solidFill>
                <a:schemeClr val="bg1"/>
              </a:solidFill>
            </a:endParaRPr>
          </a:p>
        </p:txBody>
      </p:sp>
      <p:grpSp>
        <p:nvGrpSpPr>
          <p:cNvPr id="24" name="Group 23"/>
          <p:cNvGrpSpPr/>
          <p:nvPr userDrawn="1"/>
        </p:nvGrpSpPr>
        <p:grpSpPr>
          <a:xfrm>
            <a:off x="347419" y="6409324"/>
            <a:ext cx="224082" cy="221156"/>
            <a:chOff x="4328868" y="5502988"/>
            <a:chExt cx="500307" cy="493774"/>
          </a:xfrm>
        </p:grpSpPr>
        <p:sp>
          <p:nvSpPr>
            <p:cNvPr id="25" name="Freeform 24">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6" name="Freeform 25">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7" name="Group 26"/>
          <p:cNvGrpSpPr/>
          <p:nvPr userDrawn="1"/>
        </p:nvGrpSpPr>
        <p:grpSpPr>
          <a:xfrm flipH="1">
            <a:off x="933709" y="6409324"/>
            <a:ext cx="224082" cy="221156"/>
            <a:chOff x="4328868" y="5502988"/>
            <a:chExt cx="500307" cy="493774"/>
          </a:xfrm>
        </p:grpSpPr>
        <p:sp>
          <p:nvSpPr>
            <p:cNvPr id="28" name="Freeform 27">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9" name="Freeform 28">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30" name="Straight Connector 29"/>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18690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1_Title Slide">
    <p:spTree>
      <p:nvGrpSpPr>
        <p:cNvPr id="1" name=""/>
        <p:cNvGrpSpPr/>
        <p:nvPr/>
      </p:nvGrpSpPr>
      <p:grpSpPr>
        <a:xfrm>
          <a:off x="0" y="0"/>
          <a:ext cx="0" cy="0"/>
          <a:chOff x="0" y="0"/>
          <a:chExt cx="0" cy="0"/>
        </a:xfrm>
      </p:grpSpPr>
      <p:sp>
        <p:nvSpPr>
          <p:cNvPr id="8" name="Picture Placeholder 2"/>
          <p:cNvSpPr>
            <a:spLocks noGrp="1"/>
          </p:cNvSpPr>
          <p:nvPr>
            <p:ph type="pic" sz="quarter" idx="10"/>
          </p:nvPr>
        </p:nvSpPr>
        <p:spPr>
          <a:xfrm>
            <a:off x="0" y="2140431"/>
            <a:ext cx="12192000" cy="3241193"/>
          </a:xfrm>
        </p:spPr>
        <p:txBody>
          <a:bodyPr/>
          <a:lstStyle>
            <a:lvl1pPr>
              <a:defRPr>
                <a:solidFill>
                  <a:schemeClr val="accent2"/>
                </a:solidFill>
              </a:defRPr>
            </a:lvl1pPr>
          </a:lstStyle>
          <a:p>
            <a:endParaRPr lang="id-ID"/>
          </a:p>
        </p:txBody>
      </p:sp>
      <p:sp>
        <p:nvSpPr>
          <p:cNvPr id="13" name="Rectangle 12"/>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4" name="Rectangle 13"/>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2" name="TextBox 21"/>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dirty="0">
              <a:solidFill>
                <a:schemeClr val="bg1"/>
              </a:solidFill>
            </a:endParaRPr>
          </a:p>
        </p:txBody>
      </p:sp>
      <p:grpSp>
        <p:nvGrpSpPr>
          <p:cNvPr id="23" name="Group 22"/>
          <p:cNvGrpSpPr/>
          <p:nvPr userDrawn="1"/>
        </p:nvGrpSpPr>
        <p:grpSpPr>
          <a:xfrm>
            <a:off x="347419" y="6409324"/>
            <a:ext cx="224082" cy="221156"/>
            <a:chOff x="4328868" y="5502988"/>
            <a:chExt cx="500307" cy="493774"/>
          </a:xfrm>
        </p:grpSpPr>
        <p:sp>
          <p:nvSpPr>
            <p:cNvPr id="24" name="Freeform 23">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5" name="Freeform 24">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6" name="Group 25"/>
          <p:cNvGrpSpPr/>
          <p:nvPr userDrawn="1"/>
        </p:nvGrpSpPr>
        <p:grpSpPr>
          <a:xfrm flipH="1">
            <a:off x="933709" y="6409324"/>
            <a:ext cx="224082" cy="221156"/>
            <a:chOff x="4328868" y="5502988"/>
            <a:chExt cx="500307" cy="493774"/>
          </a:xfrm>
        </p:grpSpPr>
        <p:sp>
          <p:nvSpPr>
            <p:cNvPr id="27" name="Freeform 26">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8" name="Freeform 27">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29" name="Straight Connector 28"/>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866925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9_Title Slide">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1296106" y="3516313"/>
            <a:ext cx="1366837" cy="1366837"/>
          </a:xfrm>
          <a:prstGeom prst="ellipse">
            <a:avLst/>
          </a:prstGeom>
          <a:ln w="57150">
            <a:solidFill>
              <a:schemeClr val="accent1"/>
            </a:solidFill>
          </a:ln>
        </p:spPr>
        <p:txBody>
          <a:bodyPr>
            <a:normAutofit/>
          </a:bodyPr>
          <a:lstStyle>
            <a:lvl1pPr>
              <a:defRPr sz="1400">
                <a:solidFill>
                  <a:schemeClr val="accent2"/>
                </a:solidFill>
              </a:defRPr>
            </a:lvl1pPr>
          </a:lstStyle>
          <a:p>
            <a:endParaRPr lang="id-ID"/>
          </a:p>
        </p:txBody>
      </p:sp>
      <p:sp>
        <p:nvSpPr>
          <p:cNvPr id="16" name="Picture Placeholder 3"/>
          <p:cNvSpPr>
            <a:spLocks noGrp="1"/>
          </p:cNvSpPr>
          <p:nvPr>
            <p:ph type="pic" sz="quarter" idx="11"/>
          </p:nvPr>
        </p:nvSpPr>
        <p:spPr>
          <a:xfrm>
            <a:off x="9529057" y="4823209"/>
            <a:ext cx="1366837" cy="1366837"/>
          </a:xfrm>
          <a:prstGeom prst="ellipse">
            <a:avLst/>
          </a:prstGeom>
          <a:ln w="57150">
            <a:solidFill>
              <a:schemeClr val="accent2"/>
            </a:solidFill>
          </a:ln>
        </p:spPr>
        <p:txBody>
          <a:bodyPr>
            <a:normAutofit/>
          </a:bodyPr>
          <a:lstStyle>
            <a:lvl1pPr>
              <a:defRPr sz="1400">
                <a:solidFill>
                  <a:schemeClr val="accent5"/>
                </a:solidFill>
              </a:defRPr>
            </a:lvl1pPr>
          </a:lstStyle>
          <a:p>
            <a:endParaRPr lang="id-ID" dirty="0"/>
          </a:p>
        </p:txBody>
      </p:sp>
      <p:sp>
        <p:nvSpPr>
          <p:cNvPr id="14" name="Rectangle 13"/>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3" name="Rectangle 22"/>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4" name="TextBox 23"/>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dirty="0">
              <a:solidFill>
                <a:schemeClr val="bg1"/>
              </a:solidFill>
            </a:endParaRPr>
          </a:p>
        </p:txBody>
      </p:sp>
      <p:grpSp>
        <p:nvGrpSpPr>
          <p:cNvPr id="25" name="Group 24"/>
          <p:cNvGrpSpPr/>
          <p:nvPr userDrawn="1"/>
        </p:nvGrpSpPr>
        <p:grpSpPr>
          <a:xfrm>
            <a:off x="347419" y="6409324"/>
            <a:ext cx="224082" cy="221156"/>
            <a:chOff x="4328868" y="5502988"/>
            <a:chExt cx="500307" cy="493774"/>
          </a:xfrm>
        </p:grpSpPr>
        <p:sp>
          <p:nvSpPr>
            <p:cNvPr id="26" name="Freeform 25">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7" name="Freeform 26">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8" name="Group 27"/>
          <p:cNvGrpSpPr/>
          <p:nvPr userDrawn="1"/>
        </p:nvGrpSpPr>
        <p:grpSpPr>
          <a:xfrm flipH="1">
            <a:off x="933709" y="6409324"/>
            <a:ext cx="224082" cy="221156"/>
            <a:chOff x="4328868" y="5502988"/>
            <a:chExt cx="500307" cy="493774"/>
          </a:xfrm>
        </p:grpSpPr>
        <p:sp>
          <p:nvSpPr>
            <p:cNvPr id="29" name="Freeform 28">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30" name="Freeform 29">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31" name="Straight Connector 30"/>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145231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8_Title Slide">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1296106" y="3614791"/>
            <a:ext cx="1366837" cy="1366837"/>
          </a:xfrm>
          <a:prstGeom prst="ellipse">
            <a:avLst/>
          </a:prstGeom>
          <a:ln w="57150">
            <a:solidFill>
              <a:schemeClr val="accent5"/>
            </a:solidFill>
          </a:ln>
        </p:spPr>
        <p:txBody>
          <a:bodyPr>
            <a:normAutofit/>
          </a:bodyPr>
          <a:lstStyle>
            <a:lvl1pPr>
              <a:defRPr sz="1400">
                <a:solidFill>
                  <a:schemeClr val="accent2"/>
                </a:solidFill>
              </a:defRPr>
            </a:lvl1pPr>
          </a:lstStyle>
          <a:p>
            <a:endParaRPr lang="id-ID" dirty="0"/>
          </a:p>
        </p:txBody>
      </p:sp>
      <p:sp>
        <p:nvSpPr>
          <p:cNvPr id="16" name="Picture Placeholder 3"/>
          <p:cNvSpPr>
            <a:spLocks noGrp="1"/>
          </p:cNvSpPr>
          <p:nvPr>
            <p:ph type="pic" sz="quarter" idx="11"/>
          </p:nvPr>
        </p:nvSpPr>
        <p:spPr>
          <a:xfrm>
            <a:off x="9529057" y="4921687"/>
            <a:ext cx="1366837" cy="1366837"/>
          </a:xfrm>
          <a:prstGeom prst="ellipse">
            <a:avLst/>
          </a:prstGeom>
          <a:ln w="57150">
            <a:solidFill>
              <a:schemeClr val="accent6"/>
            </a:solidFill>
          </a:ln>
        </p:spPr>
        <p:txBody>
          <a:bodyPr>
            <a:normAutofit/>
          </a:bodyPr>
          <a:lstStyle>
            <a:lvl1pPr>
              <a:defRPr sz="1400">
                <a:solidFill>
                  <a:schemeClr val="accent2"/>
                </a:solidFill>
              </a:defRPr>
            </a:lvl1pPr>
          </a:lstStyle>
          <a:p>
            <a:endParaRPr lang="id-ID" dirty="0"/>
          </a:p>
        </p:txBody>
      </p:sp>
      <p:sp>
        <p:nvSpPr>
          <p:cNvPr id="49" name="Picture Placeholder 3"/>
          <p:cNvSpPr>
            <a:spLocks noGrp="1"/>
          </p:cNvSpPr>
          <p:nvPr>
            <p:ph type="pic" sz="quarter" idx="12"/>
          </p:nvPr>
        </p:nvSpPr>
        <p:spPr>
          <a:xfrm>
            <a:off x="1296106" y="971203"/>
            <a:ext cx="1366837" cy="1366837"/>
          </a:xfrm>
          <a:prstGeom prst="ellipse">
            <a:avLst/>
          </a:prstGeom>
          <a:ln w="57150">
            <a:solidFill>
              <a:schemeClr val="accent3"/>
            </a:solidFill>
          </a:ln>
        </p:spPr>
        <p:txBody>
          <a:bodyPr>
            <a:normAutofit/>
          </a:bodyPr>
          <a:lstStyle>
            <a:lvl1pPr>
              <a:defRPr sz="1400">
                <a:solidFill>
                  <a:schemeClr val="accent2"/>
                </a:solidFill>
              </a:defRPr>
            </a:lvl1pPr>
          </a:lstStyle>
          <a:p>
            <a:endParaRPr lang="id-ID" dirty="0"/>
          </a:p>
        </p:txBody>
      </p:sp>
      <p:sp>
        <p:nvSpPr>
          <p:cNvPr id="50" name="Picture Placeholder 3"/>
          <p:cNvSpPr>
            <a:spLocks noGrp="1"/>
          </p:cNvSpPr>
          <p:nvPr>
            <p:ph type="pic" sz="quarter" idx="13"/>
          </p:nvPr>
        </p:nvSpPr>
        <p:spPr>
          <a:xfrm>
            <a:off x="9529057" y="2278099"/>
            <a:ext cx="1366837" cy="1366837"/>
          </a:xfrm>
          <a:prstGeom prst="ellipse">
            <a:avLst/>
          </a:prstGeom>
          <a:ln w="57150">
            <a:solidFill>
              <a:schemeClr val="accent4"/>
            </a:solidFill>
          </a:ln>
        </p:spPr>
        <p:txBody>
          <a:bodyPr>
            <a:normAutofit/>
          </a:bodyPr>
          <a:lstStyle>
            <a:lvl1pPr>
              <a:defRPr sz="1400">
                <a:solidFill>
                  <a:schemeClr val="accent2"/>
                </a:solidFill>
              </a:defRPr>
            </a:lvl1pPr>
          </a:lstStyle>
          <a:p>
            <a:endParaRPr lang="id-ID" dirty="0"/>
          </a:p>
        </p:txBody>
      </p:sp>
      <p:sp>
        <p:nvSpPr>
          <p:cNvPr id="24" name="Rectangle 23"/>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5" name="Rectangle 2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6" name="TextBox 25"/>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dirty="0">
              <a:solidFill>
                <a:schemeClr val="bg1"/>
              </a:solidFill>
            </a:endParaRPr>
          </a:p>
        </p:txBody>
      </p:sp>
      <p:grpSp>
        <p:nvGrpSpPr>
          <p:cNvPr id="27" name="Group 26"/>
          <p:cNvGrpSpPr/>
          <p:nvPr userDrawn="1"/>
        </p:nvGrpSpPr>
        <p:grpSpPr>
          <a:xfrm>
            <a:off x="347419" y="6409324"/>
            <a:ext cx="224082" cy="221156"/>
            <a:chOff x="4328868" y="5502988"/>
            <a:chExt cx="500307" cy="493774"/>
          </a:xfrm>
        </p:grpSpPr>
        <p:sp>
          <p:nvSpPr>
            <p:cNvPr id="28" name="Freeform 27">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9" name="Freeform 28">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30" name="Group 29"/>
          <p:cNvGrpSpPr/>
          <p:nvPr userDrawn="1"/>
        </p:nvGrpSpPr>
        <p:grpSpPr>
          <a:xfrm flipH="1">
            <a:off x="933709" y="6409324"/>
            <a:ext cx="224082" cy="221156"/>
            <a:chOff x="4328868" y="5502988"/>
            <a:chExt cx="500307" cy="493774"/>
          </a:xfrm>
        </p:grpSpPr>
        <p:sp>
          <p:nvSpPr>
            <p:cNvPr id="31" name="Freeform 30">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32" name="Freeform 31">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33" name="Straight Connector 32"/>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5618159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0_Title Slide">
    <p:spTree>
      <p:nvGrpSpPr>
        <p:cNvPr id="1" name=""/>
        <p:cNvGrpSpPr/>
        <p:nvPr/>
      </p:nvGrpSpPr>
      <p:grpSpPr>
        <a:xfrm>
          <a:off x="0" y="0"/>
          <a:ext cx="0" cy="0"/>
          <a:chOff x="0" y="0"/>
          <a:chExt cx="0" cy="0"/>
        </a:xfrm>
      </p:grpSpPr>
      <p:sp>
        <p:nvSpPr>
          <p:cNvPr id="9" name="Picture Placeholder 3"/>
          <p:cNvSpPr>
            <a:spLocks noGrp="1"/>
          </p:cNvSpPr>
          <p:nvPr>
            <p:ph type="pic" sz="quarter" idx="12"/>
          </p:nvPr>
        </p:nvSpPr>
        <p:spPr>
          <a:xfrm>
            <a:off x="1296106" y="971203"/>
            <a:ext cx="1366837" cy="1366837"/>
          </a:xfrm>
          <a:prstGeom prst="ellipse">
            <a:avLst/>
          </a:prstGeom>
          <a:ln w="57150">
            <a:solidFill>
              <a:schemeClr val="accent2"/>
            </a:solidFill>
          </a:ln>
        </p:spPr>
        <p:txBody>
          <a:bodyPr>
            <a:normAutofit/>
          </a:bodyPr>
          <a:lstStyle>
            <a:lvl1pPr>
              <a:defRPr sz="1400">
                <a:solidFill>
                  <a:schemeClr val="accent5"/>
                </a:solidFill>
              </a:defRPr>
            </a:lvl1pPr>
          </a:lstStyle>
          <a:p>
            <a:endParaRPr lang="id-ID" dirty="0"/>
          </a:p>
        </p:txBody>
      </p:sp>
      <p:sp>
        <p:nvSpPr>
          <p:cNvPr id="10" name="Picture Placeholder 3"/>
          <p:cNvSpPr>
            <a:spLocks noGrp="1"/>
          </p:cNvSpPr>
          <p:nvPr>
            <p:ph type="pic" sz="quarter" idx="13"/>
          </p:nvPr>
        </p:nvSpPr>
        <p:spPr>
          <a:xfrm>
            <a:off x="9529057" y="2278099"/>
            <a:ext cx="1366837" cy="1366837"/>
          </a:xfrm>
          <a:prstGeom prst="ellipse">
            <a:avLst/>
          </a:prstGeom>
          <a:ln w="57150">
            <a:solidFill>
              <a:schemeClr val="accent3"/>
            </a:solidFill>
          </a:ln>
        </p:spPr>
        <p:txBody>
          <a:bodyPr>
            <a:normAutofit/>
          </a:bodyPr>
          <a:lstStyle>
            <a:lvl1pPr>
              <a:defRPr sz="1400">
                <a:solidFill>
                  <a:schemeClr val="accent2"/>
                </a:solidFill>
              </a:defRPr>
            </a:lvl1pPr>
          </a:lstStyle>
          <a:p>
            <a:endParaRPr lang="id-ID" dirty="0"/>
          </a:p>
        </p:txBody>
      </p:sp>
      <p:sp>
        <p:nvSpPr>
          <p:cNvPr id="14" name="Rectangle 13"/>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5" name="Rectangle 1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6" name="TextBox 15"/>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dirty="0">
              <a:solidFill>
                <a:schemeClr val="bg1"/>
              </a:solidFill>
            </a:endParaRPr>
          </a:p>
        </p:txBody>
      </p:sp>
      <p:grpSp>
        <p:nvGrpSpPr>
          <p:cNvPr id="24" name="Group 23"/>
          <p:cNvGrpSpPr/>
          <p:nvPr userDrawn="1"/>
        </p:nvGrpSpPr>
        <p:grpSpPr>
          <a:xfrm>
            <a:off x="347419" y="6409324"/>
            <a:ext cx="224082" cy="221156"/>
            <a:chOff x="4328868" y="5502988"/>
            <a:chExt cx="500307" cy="493774"/>
          </a:xfrm>
        </p:grpSpPr>
        <p:sp>
          <p:nvSpPr>
            <p:cNvPr id="25" name="Freeform 24">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6" name="Freeform 25">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7" name="Group 26"/>
          <p:cNvGrpSpPr/>
          <p:nvPr userDrawn="1"/>
        </p:nvGrpSpPr>
        <p:grpSpPr>
          <a:xfrm flipH="1">
            <a:off x="933709" y="6409324"/>
            <a:ext cx="224082" cy="221156"/>
            <a:chOff x="4328868" y="5502988"/>
            <a:chExt cx="500307" cy="493774"/>
          </a:xfrm>
        </p:grpSpPr>
        <p:sp>
          <p:nvSpPr>
            <p:cNvPr id="28" name="Freeform 27">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9" name="Freeform 28">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30" name="Straight Connector 29"/>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460139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3_Title Slide">
    <p:spTree>
      <p:nvGrpSpPr>
        <p:cNvPr id="1" name=""/>
        <p:cNvGrpSpPr/>
        <p:nvPr/>
      </p:nvGrpSpPr>
      <p:grpSpPr>
        <a:xfrm>
          <a:off x="0" y="0"/>
          <a:ext cx="0" cy="0"/>
          <a:chOff x="0" y="0"/>
          <a:chExt cx="0" cy="0"/>
        </a:xfrm>
      </p:grpSpPr>
      <p:sp>
        <p:nvSpPr>
          <p:cNvPr id="14" name="Rectangle 13"/>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5" name="Rectangle 1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6" name="TextBox 15"/>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dirty="0">
              <a:solidFill>
                <a:schemeClr val="bg1"/>
              </a:solidFill>
            </a:endParaRPr>
          </a:p>
        </p:txBody>
      </p:sp>
      <p:grpSp>
        <p:nvGrpSpPr>
          <p:cNvPr id="24" name="Group 23"/>
          <p:cNvGrpSpPr/>
          <p:nvPr userDrawn="1"/>
        </p:nvGrpSpPr>
        <p:grpSpPr>
          <a:xfrm>
            <a:off x="347419" y="6409324"/>
            <a:ext cx="224082" cy="221156"/>
            <a:chOff x="4328868" y="5502988"/>
            <a:chExt cx="500307" cy="493774"/>
          </a:xfrm>
        </p:grpSpPr>
        <p:sp>
          <p:nvSpPr>
            <p:cNvPr id="25" name="Freeform 24">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6" name="Freeform 25">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7" name="Group 26"/>
          <p:cNvGrpSpPr/>
          <p:nvPr userDrawn="1"/>
        </p:nvGrpSpPr>
        <p:grpSpPr>
          <a:xfrm flipH="1">
            <a:off x="933709" y="6409324"/>
            <a:ext cx="224082" cy="221156"/>
            <a:chOff x="4328868" y="5502988"/>
            <a:chExt cx="500307" cy="493774"/>
          </a:xfrm>
        </p:grpSpPr>
        <p:sp>
          <p:nvSpPr>
            <p:cNvPr id="28" name="Freeform 27">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9" name="Freeform 28">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30" name="Straight Connector 29"/>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
        <p:nvSpPr>
          <p:cNvPr id="3" name="Picture Placeholder 2"/>
          <p:cNvSpPr>
            <a:spLocks noGrp="1"/>
          </p:cNvSpPr>
          <p:nvPr>
            <p:ph type="pic" sz="quarter" idx="10"/>
          </p:nvPr>
        </p:nvSpPr>
        <p:spPr>
          <a:xfrm>
            <a:off x="4937125" y="3083109"/>
            <a:ext cx="2317750" cy="2317750"/>
          </a:xfrm>
          <a:prstGeom prst="ellipse">
            <a:avLst/>
          </a:prstGeom>
          <a:ln w="98425">
            <a:solidFill>
              <a:schemeClr val="accent6"/>
            </a:solidFill>
          </a:ln>
        </p:spPr>
        <p:txBody>
          <a:bodyPr>
            <a:normAutofit/>
          </a:bodyPr>
          <a:lstStyle>
            <a:lvl1pPr>
              <a:defRPr sz="2400">
                <a:solidFill>
                  <a:schemeClr val="accent2"/>
                </a:solidFill>
              </a:defRPr>
            </a:lvl1pPr>
          </a:lstStyle>
          <a:p>
            <a:endParaRPr lang="id-ID"/>
          </a:p>
        </p:txBody>
      </p:sp>
    </p:spTree>
    <p:extLst>
      <p:ext uri="{BB962C8B-B14F-4D97-AF65-F5344CB8AC3E}">
        <p14:creationId xmlns:p14="http://schemas.microsoft.com/office/powerpoint/2010/main" val="416812806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4_Title Slide">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0"/>
            <a:ext cx="12192000" cy="5399088"/>
          </a:xfrm>
        </p:spPr>
        <p:txBody>
          <a:bodyPr>
            <a:normAutofit/>
          </a:bodyPr>
          <a:lstStyle>
            <a:lvl1pPr>
              <a:defRPr sz="3600">
                <a:solidFill>
                  <a:schemeClr val="accent2"/>
                </a:solidFill>
              </a:defRPr>
            </a:lvl1pPr>
          </a:lstStyle>
          <a:p>
            <a:endParaRPr lang="id-ID"/>
          </a:p>
        </p:txBody>
      </p:sp>
      <p:sp>
        <p:nvSpPr>
          <p:cNvPr id="14" name="Rectangle 13"/>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5" name="Rectangle 1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6" name="TextBox 15"/>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dirty="0">
              <a:solidFill>
                <a:schemeClr val="bg1"/>
              </a:solidFill>
            </a:endParaRPr>
          </a:p>
        </p:txBody>
      </p:sp>
      <p:grpSp>
        <p:nvGrpSpPr>
          <p:cNvPr id="24" name="Group 23"/>
          <p:cNvGrpSpPr/>
          <p:nvPr userDrawn="1"/>
        </p:nvGrpSpPr>
        <p:grpSpPr>
          <a:xfrm>
            <a:off x="347419" y="6409324"/>
            <a:ext cx="224082" cy="221156"/>
            <a:chOff x="4328868" y="5502988"/>
            <a:chExt cx="500307" cy="493774"/>
          </a:xfrm>
        </p:grpSpPr>
        <p:sp>
          <p:nvSpPr>
            <p:cNvPr id="25" name="Freeform 24">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6" name="Freeform 25">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7" name="Group 26"/>
          <p:cNvGrpSpPr/>
          <p:nvPr userDrawn="1"/>
        </p:nvGrpSpPr>
        <p:grpSpPr>
          <a:xfrm flipH="1">
            <a:off x="933709" y="6409324"/>
            <a:ext cx="224082" cy="221156"/>
            <a:chOff x="4328868" y="5502988"/>
            <a:chExt cx="500307" cy="493774"/>
          </a:xfrm>
        </p:grpSpPr>
        <p:sp>
          <p:nvSpPr>
            <p:cNvPr id="28" name="Freeform 27">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9" name="Freeform 28">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30" name="Straight Connector 29"/>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7208767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b-NO"/>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Tree>
    <p:extLst>
      <p:ext uri="{BB962C8B-B14F-4D97-AF65-F5344CB8AC3E}">
        <p14:creationId xmlns:p14="http://schemas.microsoft.com/office/powerpoint/2010/main" val="35916277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id-ID"/>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3FBC63-C649-42C3-9C85-0F873F8F0B35}" type="datetimeFigureOut">
              <a:rPr lang="id-ID" smtClean="0"/>
              <a:t>11/02/2020</a:t>
            </a:fld>
            <a:endParaRPr lang="id-ID"/>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d-ID"/>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76DFD3-2AF0-4B06-81C8-CF1C6F54D29C}" type="slidenum">
              <a:rPr lang="id-ID" smtClean="0"/>
              <a:t>‹#›</a:t>
            </a:fld>
            <a:endParaRPr lang="id-ID"/>
          </a:p>
        </p:txBody>
      </p:sp>
    </p:spTree>
    <p:extLst>
      <p:ext uri="{BB962C8B-B14F-4D97-AF65-F5344CB8AC3E}">
        <p14:creationId xmlns:p14="http://schemas.microsoft.com/office/powerpoint/2010/main" val="1988642013"/>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681" r:id="rId20"/>
    <p:sldLayoutId id="2147483682" r:id="rId21"/>
    <p:sldLayoutId id="2147483683" r:id="rId22"/>
    <p:sldLayoutId id="2147483684" r:id="rId23"/>
    <p:sldLayoutId id="2147483685" r:id="rId24"/>
    <p:sldLayoutId id="2147483686" r:id="rId25"/>
    <p:sldLayoutId id="2147483688" r:id="rId2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3" name="Rectangle 62"/>
          <p:cNvSpPr/>
          <p:nvPr/>
        </p:nvSpPr>
        <p:spPr>
          <a:xfrm>
            <a:off x="0" y="-561"/>
            <a:ext cx="12192000" cy="6858561"/>
          </a:xfrm>
          <a:prstGeom prst="rect">
            <a:avLst/>
          </a:prstGeom>
          <a:solidFill>
            <a:schemeClr val="tx2">
              <a:lumMod val="50000"/>
              <a:alpha val="9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3" name="TextBox 22"/>
          <p:cNvSpPr txBox="1"/>
          <p:nvPr/>
        </p:nvSpPr>
        <p:spPr>
          <a:xfrm>
            <a:off x="953947" y="1884608"/>
            <a:ext cx="10284106" cy="144655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dirty="0">
                <a:ln>
                  <a:noFill/>
                </a:ln>
                <a:solidFill>
                  <a:prstClr val="white"/>
                </a:solidFill>
                <a:effectLst/>
                <a:uLnTx/>
                <a:uFillTx/>
                <a:latin typeface="Source Sans Pro Light"/>
                <a:ea typeface="+mn-ea"/>
                <a:cs typeface="+mn-cs"/>
              </a:rPr>
              <a:t>International</a:t>
            </a:r>
            <a:r>
              <a:rPr kumimoji="0" lang="en-US" sz="4400" b="0" i="0" u="none" strike="noStrike" kern="1200" cap="none" spc="0" normalizeH="0" noProof="0" dirty="0">
                <a:ln>
                  <a:noFill/>
                </a:ln>
                <a:solidFill>
                  <a:prstClr val="white"/>
                </a:solidFill>
                <a:effectLst/>
                <a:uLnTx/>
                <a:uFillTx/>
                <a:latin typeface="Source Sans Pro Light"/>
                <a:ea typeface="+mn-ea"/>
                <a:cs typeface="+mn-cs"/>
              </a:rPr>
              <a:t> commercial law: national laws and boilerplate terms</a:t>
            </a:r>
            <a:endParaRPr kumimoji="0" lang="id-ID" sz="4400" b="0" i="0" u="none" strike="noStrike" kern="1200" cap="none" spc="0" normalizeH="0" baseline="0" noProof="0" dirty="0">
              <a:ln>
                <a:noFill/>
              </a:ln>
              <a:solidFill>
                <a:prstClr val="white"/>
              </a:solidFill>
              <a:effectLst/>
              <a:uLnTx/>
              <a:uFillTx/>
              <a:latin typeface="Source Sans Pro Light"/>
              <a:ea typeface="+mn-ea"/>
              <a:cs typeface="+mn-cs"/>
            </a:endParaRPr>
          </a:p>
        </p:txBody>
      </p:sp>
      <p:grpSp>
        <p:nvGrpSpPr>
          <p:cNvPr id="60" name="Group 59"/>
          <p:cNvGrpSpPr/>
          <p:nvPr/>
        </p:nvGrpSpPr>
        <p:grpSpPr>
          <a:xfrm>
            <a:off x="3942171" y="4068248"/>
            <a:ext cx="4307654" cy="872440"/>
            <a:chOff x="4886949" y="4433251"/>
            <a:chExt cx="4307654" cy="755248"/>
          </a:xfrm>
        </p:grpSpPr>
        <p:sp>
          <p:nvSpPr>
            <p:cNvPr id="4" name="TextBox 3"/>
            <p:cNvSpPr txBox="1"/>
            <p:nvPr/>
          </p:nvSpPr>
          <p:spPr>
            <a:xfrm>
              <a:off x="5712464" y="4433251"/>
              <a:ext cx="2656625" cy="39965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hr-HR" sz="2400" b="1" i="0" u="none" strike="noStrike" kern="1200" cap="none" spc="0" normalizeH="0" baseline="0" dirty="0">
                  <a:ln>
                    <a:noFill/>
                  </a:ln>
                  <a:solidFill>
                    <a:srgbClr val="2D8AC9"/>
                  </a:solidFill>
                  <a:effectLst/>
                  <a:uLnTx/>
                  <a:uFillTx/>
                  <a:latin typeface="Calibri"/>
                  <a:ea typeface="+mn-ea"/>
                  <a:cs typeface="+mn-cs"/>
                </a:rPr>
                <a:t>Miloš Novović, PhD</a:t>
              </a:r>
            </a:p>
          </p:txBody>
        </p:sp>
        <p:sp>
          <p:nvSpPr>
            <p:cNvPr id="26" name="TextBox 25"/>
            <p:cNvSpPr txBox="1"/>
            <p:nvPr/>
          </p:nvSpPr>
          <p:spPr>
            <a:xfrm>
              <a:off x="4886949" y="4922065"/>
              <a:ext cx="4307654" cy="26643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dirty="0">
                  <a:ln>
                    <a:noFill/>
                  </a:ln>
                  <a:solidFill>
                    <a:prstClr val="white"/>
                  </a:solidFill>
                  <a:effectLst/>
                  <a:uLnTx/>
                  <a:uFillTx/>
                  <a:latin typeface="Calibri"/>
                  <a:ea typeface="+mn-ea"/>
                  <a:cs typeface="+mn-cs"/>
                </a:rPr>
                <a:t>Associate Professor of Law, BI Norwegian Business School</a:t>
              </a:r>
              <a:endParaRPr kumimoji="0" lang="en-US" sz="1400" b="0" i="0" u="none" strike="noStrike" kern="1200" cap="none" spc="0" normalizeH="0" baseline="0" dirty="0">
                <a:ln>
                  <a:noFill/>
                </a:ln>
                <a:solidFill>
                  <a:srgbClr val="2D8AC9"/>
                </a:solidFill>
                <a:effectLst/>
                <a:uLnTx/>
                <a:uFillTx/>
                <a:latin typeface="Calibri"/>
                <a:ea typeface="+mn-ea"/>
                <a:cs typeface="+mn-cs"/>
              </a:endParaRPr>
            </a:p>
          </p:txBody>
        </p:sp>
      </p:grpSp>
      <p:cxnSp>
        <p:nvCxnSpPr>
          <p:cNvPr id="75" name="Straight Connector 74"/>
          <p:cNvCxnSpPr/>
          <p:nvPr/>
        </p:nvCxnSpPr>
        <p:spPr>
          <a:xfrm>
            <a:off x="5074636" y="3748304"/>
            <a:ext cx="2042729" cy="0"/>
          </a:xfrm>
          <a:prstGeom prst="line">
            <a:avLst/>
          </a:prstGeom>
          <a:ln w="15875">
            <a:solidFill>
              <a:schemeClr val="bg1"/>
            </a:soli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6151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childTnLst>
                          </p:cTn>
                        </p:par>
                        <p:par>
                          <p:cTn id="8" fill="hold">
                            <p:stCondLst>
                              <p:cond delay="500"/>
                            </p:stCondLst>
                            <p:childTnLst>
                              <p:par>
                                <p:cTn id="9" presetID="16" presetClass="entr" presetSubtype="37" fill="hold" nodeType="afterEffect">
                                  <p:stCondLst>
                                    <p:cond delay="0"/>
                                  </p:stCondLst>
                                  <p:childTnLst>
                                    <p:set>
                                      <p:cBhvr>
                                        <p:cTn id="10" dur="1" fill="hold">
                                          <p:stCondLst>
                                            <p:cond delay="0"/>
                                          </p:stCondLst>
                                        </p:cTn>
                                        <p:tgtEl>
                                          <p:spTgt spid="75"/>
                                        </p:tgtEl>
                                        <p:attrNameLst>
                                          <p:attrName>style.visibility</p:attrName>
                                        </p:attrNameLst>
                                      </p:cBhvr>
                                      <p:to>
                                        <p:strVal val="visible"/>
                                      </p:to>
                                    </p:set>
                                    <p:animEffect transition="in" filter="barn(outVertical)">
                                      <p:cBhvr>
                                        <p:cTn id="11" dur="500"/>
                                        <p:tgtEl>
                                          <p:spTgt spid="75"/>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60"/>
                                        </p:tgtEl>
                                        <p:attrNameLst>
                                          <p:attrName>style.visibility</p:attrName>
                                        </p:attrNameLst>
                                      </p:cBhvr>
                                      <p:to>
                                        <p:strVal val="visible"/>
                                      </p:to>
                                    </p:set>
                                    <p:animEffect transition="in" filter="fade">
                                      <p:cBhvr>
                                        <p:cTn id="15"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p:cNvSpPr/>
          <p:nvPr/>
        </p:nvSpPr>
        <p:spPr>
          <a:xfrm>
            <a:off x="1304345" y="1671893"/>
            <a:ext cx="1719381" cy="369332"/>
          </a:xfrm>
          <a:prstGeom prst="rect">
            <a:avLst/>
          </a:prstGeom>
        </p:spPr>
        <p:txBody>
          <a:bodyPr wrap="none">
            <a:spAutoFit/>
          </a:bodyPr>
          <a:lstStyle/>
          <a:p>
            <a:r>
              <a:rPr lang="en-US" dirty="0">
                <a:solidFill>
                  <a:schemeClr val="accent2"/>
                </a:solidFill>
                <a:latin typeface="+mj-lt"/>
              </a:rPr>
              <a:t>Today’s lecture</a:t>
            </a:r>
          </a:p>
        </p:txBody>
      </p:sp>
      <p:sp>
        <p:nvSpPr>
          <p:cNvPr id="24" name="TextBox 23"/>
          <p:cNvSpPr txBox="1"/>
          <p:nvPr/>
        </p:nvSpPr>
        <p:spPr>
          <a:xfrm>
            <a:off x="1285491" y="902452"/>
            <a:ext cx="2683235" cy="769441"/>
          </a:xfrm>
          <a:prstGeom prst="rect">
            <a:avLst/>
          </a:prstGeom>
          <a:noFill/>
        </p:spPr>
        <p:txBody>
          <a:bodyPr wrap="none" rtlCol="0">
            <a:spAutoFit/>
          </a:bodyPr>
          <a:lstStyle/>
          <a:p>
            <a:r>
              <a:rPr lang="en-US" sz="4400" dirty="0">
                <a:solidFill>
                  <a:schemeClr val="bg1">
                    <a:lumMod val="50000"/>
                  </a:schemeClr>
                </a:solidFill>
                <a:latin typeface="+mj-lt"/>
                <a:ea typeface="Open Sans" panose="020B0606030504020204" pitchFamily="34" charset="0"/>
                <a:cs typeface="Open Sans" panose="020B0606030504020204" pitchFamily="34" charset="0"/>
              </a:rPr>
              <a:t>Welcome!</a:t>
            </a:r>
          </a:p>
        </p:txBody>
      </p:sp>
      <p:sp>
        <p:nvSpPr>
          <p:cNvPr id="25" name="Rectangle 24"/>
          <p:cNvSpPr/>
          <p:nvPr/>
        </p:nvSpPr>
        <p:spPr>
          <a:xfrm>
            <a:off x="1304344" y="2228807"/>
            <a:ext cx="7447769" cy="2585323"/>
          </a:xfrm>
          <a:prstGeom prst="rect">
            <a:avLst/>
          </a:prstGeom>
        </p:spPr>
        <p:txBody>
          <a:bodyPr wrap="square">
            <a:spAutoFit/>
          </a:bodyPr>
          <a:lstStyle/>
          <a:p>
            <a:r>
              <a:rPr lang="en-US" dirty="0">
                <a:solidFill>
                  <a:schemeClr val="bg1">
                    <a:lumMod val="65000"/>
                  </a:schemeClr>
                </a:solidFill>
              </a:rPr>
              <a:t>We will continue looking at the role of national </a:t>
            </a:r>
            <a:r>
              <a:rPr lang="en-US" b="1" dirty="0">
                <a:solidFill>
                  <a:schemeClr val="bg1">
                    <a:lumMod val="65000"/>
                  </a:schemeClr>
                </a:solidFill>
              </a:rPr>
              <a:t>contract laws </a:t>
            </a:r>
          </a:p>
          <a:p>
            <a:endParaRPr lang="en-US" b="1" dirty="0">
              <a:solidFill>
                <a:schemeClr val="bg1">
                  <a:lumMod val="65000"/>
                </a:schemeClr>
              </a:solidFill>
            </a:endParaRPr>
          </a:p>
          <a:p>
            <a:r>
              <a:rPr lang="en-US" dirty="0">
                <a:solidFill>
                  <a:schemeClr val="bg1">
                    <a:lumMod val="65000"/>
                  </a:schemeClr>
                </a:solidFill>
              </a:rPr>
              <a:t>We will study the application of specific rules and general principles of contract law</a:t>
            </a:r>
            <a:endParaRPr lang="en-US" b="1" dirty="0">
              <a:solidFill>
                <a:schemeClr val="bg1">
                  <a:lumMod val="65000"/>
                </a:schemeClr>
              </a:solidFill>
            </a:endParaRPr>
          </a:p>
          <a:p>
            <a:endParaRPr lang="en-US" dirty="0">
              <a:solidFill>
                <a:schemeClr val="bg1">
                  <a:lumMod val="65000"/>
                </a:schemeClr>
              </a:solidFill>
            </a:endParaRPr>
          </a:p>
          <a:p>
            <a:r>
              <a:rPr lang="en-US" dirty="0">
                <a:solidFill>
                  <a:schemeClr val="bg1">
                    <a:lumMod val="65000"/>
                  </a:schemeClr>
                </a:solidFill>
              </a:rPr>
              <a:t>We will compare four legal systems and analyze the consequences</a:t>
            </a:r>
            <a:endParaRPr lang="en-US" b="1" dirty="0">
              <a:solidFill>
                <a:schemeClr val="bg1">
                  <a:lumMod val="65000"/>
                </a:schemeClr>
              </a:solidFill>
            </a:endParaRPr>
          </a:p>
          <a:p>
            <a:endParaRPr lang="en-US" dirty="0">
              <a:solidFill>
                <a:schemeClr val="bg1">
                  <a:lumMod val="65000"/>
                </a:schemeClr>
              </a:solidFill>
            </a:endParaRPr>
          </a:p>
          <a:p>
            <a:r>
              <a:rPr lang="en-US" dirty="0">
                <a:solidFill>
                  <a:schemeClr val="bg1">
                    <a:lumMod val="65000"/>
                  </a:schemeClr>
                </a:solidFill>
              </a:rPr>
              <a:t>We will introduce some additional boilerplate clauses and contract situations</a:t>
            </a:r>
            <a:endParaRPr lang="en-US" b="1" dirty="0">
              <a:solidFill>
                <a:schemeClr val="bg1">
                  <a:lumMod val="65000"/>
                </a:schemeClr>
              </a:solidFill>
            </a:endParaRPr>
          </a:p>
          <a:p>
            <a:endParaRPr lang="en-US" dirty="0">
              <a:solidFill>
                <a:schemeClr val="bg1">
                  <a:lumMod val="65000"/>
                </a:schemeClr>
              </a:solidFill>
            </a:endParaRPr>
          </a:p>
        </p:txBody>
      </p:sp>
      <p:sp>
        <p:nvSpPr>
          <p:cNvPr id="3" name="Rectangle 2"/>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5" name="Rectangle 44"/>
          <p:cNvSpPr/>
          <p:nvPr/>
        </p:nvSpPr>
        <p:spPr>
          <a:xfrm rot="16200000">
            <a:off x="4706223" y="5468222"/>
            <a:ext cx="747555"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6" name="Rectangle 45"/>
          <p:cNvSpPr/>
          <p:nvPr/>
        </p:nvSpPr>
        <p:spPr>
          <a:xfrm rot="16200000">
            <a:off x="6605310" y="5335309"/>
            <a:ext cx="1013382"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7" name="Rectangle 46"/>
          <p:cNvSpPr/>
          <p:nvPr/>
        </p:nvSpPr>
        <p:spPr>
          <a:xfrm rot="16200000">
            <a:off x="8439347" y="5137346"/>
            <a:ext cx="1409307"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8" name="Rectangle 47"/>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9" name="Rectangle 48"/>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6" name="Group 5"/>
          <p:cNvGrpSpPr/>
          <p:nvPr/>
        </p:nvGrpSpPr>
        <p:grpSpPr>
          <a:xfrm>
            <a:off x="2" y="6736617"/>
            <a:ext cx="12191999" cy="134339"/>
            <a:chOff x="2" y="2110197"/>
            <a:chExt cx="12191999" cy="134339"/>
          </a:xfrm>
        </p:grpSpPr>
        <p:sp>
          <p:nvSpPr>
            <p:cNvPr id="51" name="Rectangle 50"/>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2" name="Rectangle 51"/>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3" name="Rectangle 52"/>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4" name="Rectangle 53"/>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5" name="Rectangle 54"/>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6" name="Rectangle 55"/>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76" name="Straight Connector 75"/>
          <p:cNvCxnSpPr>
            <a:cxnSpLocks/>
          </p:cNvCxnSpPr>
          <p:nvPr/>
        </p:nvCxnSpPr>
        <p:spPr>
          <a:xfrm>
            <a:off x="669303" y="5510618"/>
            <a:ext cx="4493324"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a:cxnSpLocks/>
          </p:cNvCxnSpPr>
          <p:nvPr/>
        </p:nvCxnSpPr>
        <p:spPr>
          <a:xfrm>
            <a:off x="5162627" y="5510618"/>
            <a:ext cx="0" cy="62632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a:cxnSpLocks/>
          </p:cNvCxnSpPr>
          <p:nvPr/>
        </p:nvCxnSpPr>
        <p:spPr>
          <a:xfrm>
            <a:off x="669303" y="838986"/>
            <a:ext cx="0" cy="4671632"/>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72703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500"/>
                                        <p:tgtEl>
                                          <p:spTgt spid="2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5">
                                            <p:txEl>
                                              <p:pRg st="0" end="0"/>
                                            </p:txEl>
                                          </p:spTgt>
                                        </p:tgtEl>
                                        <p:attrNameLst>
                                          <p:attrName>style.visibility</p:attrName>
                                        </p:attrNameLst>
                                      </p:cBhvr>
                                      <p:to>
                                        <p:strVal val="visible"/>
                                      </p:to>
                                    </p:set>
                                    <p:animEffect transition="in" filter="fade">
                                      <p:cBhvr>
                                        <p:cTn id="14" dur="500"/>
                                        <p:tgtEl>
                                          <p:spTgt spid="25">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25">
                                            <p:txEl>
                                              <p:pRg st="2" end="2"/>
                                            </p:txEl>
                                          </p:spTgt>
                                        </p:tgtEl>
                                        <p:attrNameLst>
                                          <p:attrName>style.visibility</p:attrName>
                                        </p:attrNameLst>
                                      </p:cBhvr>
                                      <p:to>
                                        <p:strVal val="visible"/>
                                      </p:to>
                                    </p:set>
                                    <p:animEffect transition="in" filter="fade">
                                      <p:cBhvr>
                                        <p:cTn id="19" dur="500"/>
                                        <p:tgtEl>
                                          <p:spTgt spid="25">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25">
                                            <p:txEl>
                                              <p:pRg st="4" end="4"/>
                                            </p:txEl>
                                          </p:spTgt>
                                        </p:tgtEl>
                                        <p:attrNameLst>
                                          <p:attrName>style.visibility</p:attrName>
                                        </p:attrNameLst>
                                      </p:cBhvr>
                                      <p:to>
                                        <p:strVal val="visible"/>
                                      </p:to>
                                    </p:set>
                                    <p:animEffect transition="in" filter="fade">
                                      <p:cBhvr>
                                        <p:cTn id="24" dur="500"/>
                                        <p:tgtEl>
                                          <p:spTgt spid="25">
                                            <p:txEl>
                                              <p:pRg st="4" end="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5">
                                            <p:txEl>
                                              <p:pRg st="6" end="6"/>
                                            </p:txEl>
                                          </p:spTgt>
                                        </p:tgtEl>
                                        <p:attrNameLst>
                                          <p:attrName>style.visibility</p:attrName>
                                        </p:attrNameLst>
                                      </p:cBhvr>
                                      <p:to>
                                        <p:strVal val="visible"/>
                                      </p:to>
                                    </p:set>
                                    <p:animEffect transition="in" filter="fade">
                                      <p:cBhvr>
                                        <p:cTn id="29" dur="500"/>
                                        <p:tgtEl>
                                          <p:spTgt spid="2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P spid="25"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Box 23"/>
          <p:cNvSpPr txBox="1"/>
          <p:nvPr/>
        </p:nvSpPr>
        <p:spPr>
          <a:xfrm>
            <a:off x="1285491" y="902452"/>
            <a:ext cx="4733988" cy="769441"/>
          </a:xfrm>
          <a:prstGeom prst="rect">
            <a:avLst/>
          </a:prstGeom>
          <a:noFill/>
        </p:spPr>
        <p:txBody>
          <a:bodyPr wrap="none" rtlCol="0">
            <a:spAutoFit/>
          </a:bodyPr>
          <a:lstStyle/>
          <a:p>
            <a:r>
              <a:rPr lang="en-US" sz="4400" dirty="0">
                <a:solidFill>
                  <a:schemeClr val="bg1">
                    <a:lumMod val="50000"/>
                  </a:schemeClr>
                </a:solidFill>
                <a:latin typeface="+mj-lt"/>
                <a:ea typeface="Open Sans" panose="020B0606030504020204" pitchFamily="34" charset="0"/>
                <a:cs typeface="Open Sans" panose="020B0606030504020204" pitchFamily="34" charset="0"/>
              </a:rPr>
              <a:t>Reading materials</a:t>
            </a:r>
          </a:p>
        </p:txBody>
      </p:sp>
      <p:sp>
        <p:nvSpPr>
          <p:cNvPr id="25" name="Rectangle 24"/>
          <p:cNvSpPr/>
          <p:nvPr/>
        </p:nvSpPr>
        <p:spPr>
          <a:xfrm>
            <a:off x="1331588" y="2205673"/>
            <a:ext cx="9375782" cy="1631216"/>
          </a:xfrm>
          <a:prstGeom prst="rect">
            <a:avLst/>
          </a:prstGeom>
        </p:spPr>
        <p:txBody>
          <a:bodyPr wrap="square">
            <a:spAutoFit/>
          </a:bodyPr>
          <a:lstStyle/>
          <a:p>
            <a:r>
              <a:rPr lang="en-US" sz="2000" b="1" dirty="0">
                <a:solidFill>
                  <a:schemeClr val="bg1">
                    <a:lumMod val="65000"/>
                  </a:schemeClr>
                </a:solidFill>
              </a:rPr>
              <a:t>You should be familiar with most of Chapter 3 of GCM book. </a:t>
            </a:r>
            <a:r>
              <a:rPr lang="en-US" sz="2000" dirty="0">
                <a:solidFill>
                  <a:schemeClr val="bg1">
                    <a:lumMod val="65000"/>
                  </a:schemeClr>
                </a:solidFill>
              </a:rPr>
              <a:t>Most examples we use in this class are from </a:t>
            </a:r>
            <a:r>
              <a:rPr lang="en-US" sz="2000" dirty="0" err="1">
                <a:solidFill>
                  <a:schemeClr val="bg1">
                    <a:lumMod val="65000"/>
                  </a:schemeClr>
                </a:solidFill>
              </a:rPr>
              <a:t>Giduitta’s</a:t>
            </a:r>
            <a:r>
              <a:rPr lang="en-US" sz="2000" dirty="0">
                <a:solidFill>
                  <a:schemeClr val="bg1">
                    <a:lumMod val="65000"/>
                  </a:schemeClr>
                </a:solidFill>
              </a:rPr>
              <a:t> earlier writings, and they supplement what is in the book nicely. </a:t>
            </a:r>
          </a:p>
          <a:p>
            <a:r>
              <a:rPr lang="en-US" sz="2000" dirty="0">
                <a:solidFill>
                  <a:schemeClr val="bg1">
                    <a:lumMod val="65000"/>
                  </a:schemeClr>
                </a:solidFill>
              </a:rPr>
              <a:t>After this lecture, you should a </a:t>
            </a:r>
            <a:r>
              <a:rPr lang="en-US" sz="2000" b="1" dirty="0">
                <a:solidFill>
                  <a:schemeClr val="bg1">
                    <a:lumMod val="65000"/>
                  </a:schemeClr>
                </a:solidFill>
              </a:rPr>
              <a:t>very good understanding </a:t>
            </a:r>
            <a:r>
              <a:rPr lang="en-US" sz="2000" dirty="0">
                <a:solidFill>
                  <a:schemeClr val="bg1">
                    <a:lumMod val="65000"/>
                  </a:schemeClr>
                </a:solidFill>
              </a:rPr>
              <a:t>of how national laws can interact with international contracts.</a:t>
            </a:r>
          </a:p>
        </p:txBody>
      </p:sp>
      <p:sp>
        <p:nvSpPr>
          <p:cNvPr id="3" name="Rectangle 2"/>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5" name="Rectangle 44"/>
          <p:cNvSpPr/>
          <p:nvPr/>
        </p:nvSpPr>
        <p:spPr>
          <a:xfrm rot="16200000">
            <a:off x="4785414" y="5547413"/>
            <a:ext cx="589173"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6" name="Rectangle 45"/>
          <p:cNvSpPr/>
          <p:nvPr/>
        </p:nvSpPr>
        <p:spPr>
          <a:xfrm rot="16200000">
            <a:off x="6680724" y="5410723"/>
            <a:ext cx="862554"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7" name="Rectangle 46"/>
          <p:cNvSpPr/>
          <p:nvPr/>
        </p:nvSpPr>
        <p:spPr>
          <a:xfrm rot="16200000">
            <a:off x="8594272" y="5292271"/>
            <a:ext cx="1099457"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8" name="Rectangle 47"/>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9" name="Rectangle 48"/>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6" name="Group 5"/>
          <p:cNvGrpSpPr/>
          <p:nvPr/>
        </p:nvGrpSpPr>
        <p:grpSpPr>
          <a:xfrm>
            <a:off x="2" y="6736617"/>
            <a:ext cx="12191999" cy="134339"/>
            <a:chOff x="2" y="2110197"/>
            <a:chExt cx="12191999" cy="134339"/>
          </a:xfrm>
        </p:grpSpPr>
        <p:sp>
          <p:nvSpPr>
            <p:cNvPr id="51" name="Rectangle 50"/>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2" name="Rectangle 51"/>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3" name="Rectangle 52"/>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4" name="Rectangle 53"/>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5" name="Rectangle 54"/>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6" name="Rectangle 55"/>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76" name="Straight Connector 75"/>
          <p:cNvCxnSpPr/>
          <p:nvPr/>
        </p:nvCxnSpPr>
        <p:spPr>
          <a:xfrm>
            <a:off x="669303" y="5812915"/>
            <a:ext cx="4402317"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a:cxnSpLocks/>
          </p:cNvCxnSpPr>
          <p:nvPr/>
        </p:nvCxnSpPr>
        <p:spPr>
          <a:xfrm>
            <a:off x="5071620" y="5812915"/>
            <a:ext cx="9763" cy="455911"/>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a:cxnSpLocks/>
          </p:cNvCxnSpPr>
          <p:nvPr/>
        </p:nvCxnSpPr>
        <p:spPr>
          <a:xfrm>
            <a:off x="669303" y="838986"/>
            <a:ext cx="0" cy="4973929"/>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7890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5">
                                            <p:txEl>
                                              <p:pRg st="0" end="0"/>
                                            </p:txEl>
                                          </p:spTgt>
                                        </p:tgtEl>
                                        <p:attrNameLst>
                                          <p:attrName>style.visibility</p:attrName>
                                        </p:attrNameLst>
                                      </p:cBhvr>
                                      <p:to>
                                        <p:strVal val="visible"/>
                                      </p:to>
                                    </p:set>
                                    <p:animEffect transition="in" filter="fade">
                                      <p:cBhvr>
                                        <p:cTn id="10" dur="500"/>
                                        <p:tgtEl>
                                          <p:spTgt spid="25">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5">
                                            <p:txEl>
                                              <p:pRg st="1" end="1"/>
                                            </p:txEl>
                                          </p:spTgt>
                                        </p:tgtEl>
                                        <p:attrNameLst>
                                          <p:attrName>style.visibility</p:attrName>
                                        </p:attrNameLst>
                                      </p:cBhvr>
                                      <p:to>
                                        <p:strVal val="visible"/>
                                      </p:to>
                                    </p:set>
                                    <p:animEffect transition="in" filter="fade">
                                      <p:cBhvr>
                                        <p:cTn id="15" dur="500"/>
                                        <p:tgtEl>
                                          <p:spTgt spid="2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Box 23"/>
          <p:cNvSpPr txBox="1"/>
          <p:nvPr/>
        </p:nvSpPr>
        <p:spPr>
          <a:xfrm>
            <a:off x="4392892" y="2556509"/>
            <a:ext cx="3033203" cy="769441"/>
          </a:xfrm>
          <a:prstGeom prst="rect">
            <a:avLst/>
          </a:prstGeom>
          <a:noFill/>
        </p:spPr>
        <p:txBody>
          <a:bodyPr wrap="none" rtlCol="0">
            <a:spAutoFit/>
          </a:bodyPr>
          <a:lstStyle/>
          <a:p>
            <a:r>
              <a:rPr lang="en-US" sz="4400" dirty="0">
                <a:solidFill>
                  <a:schemeClr val="bg1">
                    <a:lumMod val="50000"/>
                  </a:schemeClr>
                </a:solidFill>
                <a:latin typeface="+mj-lt"/>
                <a:ea typeface="Open Sans" panose="020B0606030504020204" pitchFamily="34" charset="0"/>
                <a:cs typeface="Open Sans" panose="020B0606030504020204" pitchFamily="34" charset="0"/>
              </a:rPr>
              <a:t>Case study 1</a:t>
            </a:r>
          </a:p>
        </p:txBody>
      </p:sp>
      <p:sp>
        <p:nvSpPr>
          <p:cNvPr id="3" name="Rectangle 2"/>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5" name="Rectangle 44"/>
          <p:cNvSpPr/>
          <p:nvPr/>
        </p:nvSpPr>
        <p:spPr>
          <a:xfrm rot="16200000">
            <a:off x="4785414" y="5547413"/>
            <a:ext cx="589173"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6" name="Rectangle 45"/>
          <p:cNvSpPr/>
          <p:nvPr/>
        </p:nvSpPr>
        <p:spPr>
          <a:xfrm rot="16200000">
            <a:off x="6680724" y="5410723"/>
            <a:ext cx="862554"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7" name="Rectangle 46"/>
          <p:cNvSpPr/>
          <p:nvPr/>
        </p:nvSpPr>
        <p:spPr>
          <a:xfrm rot="16200000">
            <a:off x="8594272" y="5292271"/>
            <a:ext cx="1099457"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8" name="Rectangle 47"/>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9" name="Rectangle 48"/>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6" name="Group 5"/>
          <p:cNvGrpSpPr/>
          <p:nvPr/>
        </p:nvGrpSpPr>
        <p:grpSpPr>
          <a:xfrm>
            <a:off x="2" y="6736617"/>
            <a:ext cx="12191999" cy="134339"/>
            <a:chOff x="2" y="2110197"/>
            <a:chExt cx="12191999" cy="134339"/>
          </a:xfrm>
        </p:grpSpPr>
        <p:sp>
          <p:nvSpPr>
            <p:cNvPr id="51" name="Rectangle 50"/>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2" name="Rectangle 51"/>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3" name="Rectangle 52"/>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4" name="Rectangle 53"/>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5" name="Rectangle 54"/>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6" name="Rectangle 55"/>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76" name="Straight Connector 75"/>
          <p:cNvCxnSpPr/>
          <p:nvPr/>
        </p:nvCxnSpPr>
        <p:spPr>
          <a:xfrm>
            <a:off x="669303" y="5812915"/>
            <a:ext cx="4402317"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a:cxnSpLocks/>
          </p:cNvCxnSpPr>
          <p:nvPr/>
        </p:nvCxnSpPr>
        <p:spPr>
          <a:xfrm>
            <a:off x="5071620" y="5812915"/>
            <a:ext cx="9763" cy="455911"/>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a:cxnSpLocks/>
          </p:cNvCxnSpPr>
          <p:nvPr/>
        </p:nvCxnSpPr>
        <p:spPr>
          <a:xfrm>
            <a:off x="669303" y="838986"/>
            <a:ext cx="0" cy="4973929"/>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15373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49"/>
                                        </p:tgtEl>
                                        <p:attrNameLst>
                                          <p:attrName>style.visibility</p:attrName>
                                        </p:attrNameLst>
                                      </p:cBhvr>
                                      <p:to>
                                        <p:strVal val="visible"/>
                                      </p:to>
                                    </p:set>
                                    <p:anim calcmode="lin" valueType="num">
                                      <p:cBhvr additive="base">
                                        <p:cTn id="11" dur="500" fill="hold"/>
                                        <p:tgtEl>
                                          <p:spTgt spid="49"/>
                                        </p:tgtEl>
                                        <p:attrNameLst>
                                          <p:attrName>ppt_x</p:attrName>
                                        </p:attrNameLst>
                                      </p:cBhvr>
                                      <p:tavLst>
                                        <p:tav tm="0">
                                          <p:val>
                                            <p:strVal val="#ppt_x"/>
                                          </p:val>
                                        </p:tav>
                                        <p:tav tm="100000">
                                          <p:val>
                                            <p:strVal val="#ppt_x"/>
                                          </p:val>
                                        </p:tav>
                                      </p:tavLst>
                                    </p:anim>
                                    <p:anim calcmode="lin" valueType="num">
                                      <p:cBhvr additive="base">
                                        <p:cTn id="12" dur="500" fill="hold"/>
                                        <p:tgtEl>
                                          <p:spTgt spid="49"/>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3"/>
                                        </p:tgtEl>
                                        <p:attrNameLst>
                                          <p:attrName>style.visibility</p:attrName>
                                        </p:attrNameLst>
                                      </p:cBhvr>
                                      <p:to>
                                        <p:strVal val="visible"/>
                                      </p:to>
                                    </p:set>
                                    <p:anim calcmode="lin" valueType="num">
                                      <p:cBhvr additive="base">
                                        <p:cTn id="16" dur="500" fill="hold"/>
                                        <p:tgtEl>
                                          <p:spTgt spid="3"/>
                                        </p:tgtEl>
                                        <p:attrNameLst>
                                          <p:attrName>ppt_x</p:attrName>
                                        </p:attrNameLst>
                                      </p:cBhvr>
                                      <p:tavLst>
                                        <p:tav tm="0">
                                          <p:val>
                                            <p:strVal val="#ppt_x"/>
                                          </p:val>
                                        </p:tav>
                                        <p:tav tm="100000">
                                          <p:val>
                                            <p:strVal val="#ppt_x"/>
                                          </p:val>
                                        </p:tav>
                                      </p:tavLst>
                                    </p:anim>
                                    <p:anim calcmode="lin" valueType="num">
                                      <p:cBhvr additive="base">
                                        <p:cTn id="17" dur="500" fill="hold"/>
                                        <p:tgtEl>
                                          <p:spTgt spid="3"/>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45"/>
                                        </p:tgtEl>
                                        <p:attrNameLst>
                                          <p:attrName>style.visibility</p:attrName>
                                        </p:attrNameLst>
                                      </p:cBhvr>
                                      <p:to>
                                        <p:strVal val="visible"/>
                                      </p:to>
                                    </p:set>
                                    <p:anim calcmode="lin" valueType="num">
                                      <p:cBhvr additive="base">
                                        <p:cTn id="21" dur="500" fill="hold"/>
                                        <p:tgtEl>
                                          <p:spTgt spid="45"/>
                                        </p:tgtEl>
                                        <p:attrNameLst>
                                          <p:attrName>ppt_x</p:attrName>
                                        </p:attrNameLst>
                                      </p:cBhvr>
                                      <p:tavLst>
                                        <p:tav tm="0">
                                          <p:val>
                                            <p:strVal val="#ppt_x"/>
                                          </p:val>
                                        </p:tav>
                                        <p:tav tm="100000">
                                          <p:val>
                                            <p:strVal val="#ppt_x"/>
                                          </p:val>
                                        </p:tav>
                                      </p:tavLst>
                                    </p:anim>
                                    <p:anim calcmode="lin" valueType="num">
                                      <p:cBhvr additive="base">
                                        <p:cTn id="22" dur="500" fill="hold"/>
                                        <p:tgtEl>
                                          <p:spTgt spid="45"/>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46"/>
                                        </p:tgtEl>
                                        <p:attrNameLst>
                                          <p:attrName>style.visibility</p:attrName>
                                        </p:attrNameLst>
                                      </p:cBhvr>
                                      <p:to>
                                        <p:strVal val="visible"/>
                                      </p:to>
                                    </p:set>
                                    <p:anim calcmode="lin" valueType="num">
                                      <p:cBhvr additive="base">
                                        <p:cTn id="26" dur="500" fill="hold"/>
                                        <p:tgtEl>
                                          <p:spTgt spid="46"/>
                                        </p:tgtEl>
                                        <p:attrNameLst>
                                          <p:attrName>ppt_x</p:attrName>
                                        </p:attrNameLst>
                                      </p:cBhvr>
                                      <p:tavLst>
                                        <p:tav tm="0">
                                          <p:val>
                                            <p:strVal val="#ppt_x"/>
                                          </p:val>
                                        </p:tav>
                                        <p:tav tm="100000">
                                          <p:val>
                                            <p:strVal val="#ppt_x"/>
                                          </p:val>
                                        </p:tav>
                                      </p:tavLst>
                                    </p:anim>
                                    <p:anim calcmode="lin" valueType="num">
                                      <p:cBhvr additive="base">
                                        <p:cTn id="27" dur="500" fill="hold"/>
                                        <p:tgtEl>
                                          <p:spTgt spid="46"/>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47"/>
                                        </p:tgtEl>
                                        <p:attrNameLst>
                                          <p:attrName>style.visibility</p:attrName>
                                        </p:attrNameLst>
                                      </p:cBhvr>
                                      <p:to>
                                        <p:strVal val="visible"/>
                                      </p:to>
                                    </p:set>
                                    <p:anim calcmode="lin" valueType="num">
                                      <p:cBhvr additive="base">
                                        <p:cTn id="31" dur="500" fill="hold"/>
                                        <p:tgtEl>
                                          <p:spTgt spid="47"/>
                                        </p:tgtEl>
                                        <p:attrNameLst>
                                          <p:attrName>ppt_x</p:attrName>
                                        </p:attrNameLst>
                                      </p:cBhvr>
                                      <p:tavLst>
                                        <p:tav tm="0">
                                          <p:val>
                                            <p:strVal val="#ppt_x"/>
                                          </p:val>
                                        </p:tav>
                                        <p:tav tm="100000">
                                          <p:val>
                                            <p:strVal val="#ppt_x"/>
                                          </p:val>
                                        </p:tav>
                                      </p:tavLst>
                                    </p:anim>
                                    <p:anim calcmode="lin" valueType="num">
                                      <p:cBhvr additive="base">
                                        <p:cTn id="32" dur="500" fill="hold"/>
                                        <p:tgtEl>
                                          <p:spTgt spid="47"/>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ntr" presetSubtype="4" fill="hold" grpId="0" nodeType="afterEffect">
                                  <p:stCondLst>
                                    <p:cond delay="0"/>
                                  </p:stCondLst>
                                  <p:childTnLst>
                                    <p:set>
                                      <p:cBhvr>
                                        <p:cTn id="35" dur="1" fill="hold">
                                          <p:stCondLst>
                                            <p:cond delay="0"/>
                                          </p:stCondLst>
                                        </p:cTn>
                                        <p:tgtEl>
                                          <p:spTgt spid="48"/>
                                        </p:tgtEl>
                                        <p:attrNameLst>
                                          <p:attrName>style.visibility</p:attrName>
                                        </p:attrNameLst>
                                      </p:cBhvr>
                                      <p:to>
                                        <p:strVal val="visible"/>
                                      </p:to>
                                    </p:set>
                                    <p:anim calcmode="lin" valueType="num">
                                      <p:cBhvr additive="base">
                                        <p:cTn id="36" dur="500" fill="hold"/>
                                        <p:tgtEl>
                                          <p:spTgt spid="48"/>
                                        </p:tgtEl>
                                        <p:attrNameLst>
                                          <p:attrName>ppt_x</p:attrName>
                                        </p:attrNameLst>
                                      </p:cBhvr>
                                      <p:tavLst>
                                        <p:tav tm="0">
                                          <p:val>
                                            <p:strVal val="#ppt_x"/>
                                          </p:val>
                                        </p:tav>
                                        <p:tav tm="100000">
                                          <p:val>
                                            <p:strVal val="#ppt_x"/>
                                          </p:val>
                                        </p:tav>
                                      </p:tavLst>
                                    </p:anim>
                                    <p:anim calcmode="lin" valueType="num">
                                      <p:cBhvr additive="base">
                                        <p:cTn id="37" dur="500" fill="hold"/>
                                        <p:tgtEl>
                                          <p:spTgt spid="48"/>
                                        </p:tgtEl>
                                        <p:attrNameLst>
                                          <p:attrName>ppt_y</p:attrName>
                                        </p:attrNameLst>
                                      </p:cBhvr>
                                      <p:tavLst>
                                        <p:tav tm="0">
                                          <p:val>
                                            <p:strVal val="1+#ppt_h/2"/>
                                          </p:val>
                                        </p:tav>
                                        <p:tav tm="100000">
                                          <p:val>
                                            <p:strVal val="#ppt_y"/>
                                          </p:val>
                                        </p:tav>
                                      </p:tavLst>
                                    </p:anim>
                                  </p:childTnLst>
                                </p:cTn>
                              </p:par>
                            </p:childTnLst>
                          </p:cTn>
                        </p:par>
                        <p:par>
                          <p:cTn id="38" fill="hold">
                            <p:stCondLst>
                              <p:cond delay="3500"/>
                            </p:stCondLst>
                            <p:childTnLst>
                              <p:par>
                                <p:cTn id="39" presetID="22" presetClass="entr" presetSubtype="4" fill="hold" nodeType="afterEffect">
                                  <p:stCondLst>
                                    <p:cond delay="0"/>
                                  </p:stCondLst>
                                  <p:childTnLst>
                                    <p:set>
                                      <p:cBhvr>
                                        <p:cTn id="40" dur="1" fill="hold">
                                          <p:stCondLst>
                                            <p:cond delay="0"/>
                                          </p:stCondLst>
                                        </p:cTn>
                                        <p:tgtEl>
                                          <p:spTgt spid="78"/>
                                        </p:tgtEl>
                                        <p:attrNameLst>
                                          <p:attrName>style.visibility</p:attrName>
                                        </p:attrNameLst>
                                      </p:cBhvr>
                                      <p:to>
                                        <p:strVal val="visible"/>
                                      </p:to>
                                    </p:set>
                                    <p:animEffect transition="in" filter="wipe(down)">
                                      <p:cBhvr>
                                        <p:cTn id="41" dur="500"/>
                                        <p:tgtEl>
                                          <p:spTgt spid="78"/>
                                        </p:tgtEl>
                                      </p:cBhvr>
                                    </p:animEffect>
                                  </p:childTnLst>
                                </p:cTn>
                              </p:par>
                            </p:childTnLst>
                          </p:cTn>
                        </p:par>
                        <p:par>
                          <p:cTn id="42" fill="hold">
                            <p:stCondLst>
                              <p:cond delay="4000"/>
                            </p:stCondLst>
                            <p:childTnLst>
                              <p:par>
                                <p:cTn id="43" presetID="22" presetClass="entr" presetSubtype="2" fill="hold" nodeType="afterEffect">
                                  <p:stCondLst>
                                    <p:cond delay="0"/>
                                  </p:stCondLst>
                                  <p:childTnLst>
                                    <p:set>
                                      <p:cBhvr>
                                        <p:cTn id="44" dur="1" fill="hold">
                                          <p:stCondLst>
                                            <p:cond delay="0"/>
                                          </p:stCondLst>
                                        </p:cTn>
                                        <p:tgtEl>
                                          <p:spTgt spid="76"/>
                                        </p:tgtEl>
                                        <p:attrNameLst>
                                          <p:attrName>style.visibility</p:attrName>
                                        </p:attrNameLst>
                                      </p:cBhvr>
                                      <p:to>
                                        <p:strVal val="visible"/>
                                      </p:to>
                                    </p:set>
                                    <p:animEffect transition="in" filter="wipe(right)">
                                      <p:cBhvr>
                                        <p:cTn id="45" dur="500"/>
                                        <p:tgtEl>
                                          <p:spTgt spid="76"/>
                                        </p:tgtEl>
                                      </p:cBhvr>
                                    </p:animEffect>
                                  </p:childTnLst>
                                </p:cTn>
                              </p:par>
                            </p:childTnLst>
                          </p:cTn>
                        </p:par>
                        <p:par>
                          <p:cTn id="46" fill="hold">
                            <p:stCondLst>
                              <p:cond delay="4500"/>
                            </p:stCondLst>
                            <p:childTnLst>
                              <p:par>
                                <p:cTn id="47" presetID="22" presetClass="entr" presetSubtype="4" fill="hold" nodeType="afterEffect">
                                  <p:stCondLst>
                                    <p:cond delay="0"/>
                                  </p:stCondLst>
                                  <p:childTnLst>
                                    <p:set>
                                      <p:cBhvr>
                                        <p:cTn id="48" dur="1" fill="hold">
                                          <p:stCondLst>
                                            <p:cond delay="0"/>
                                          </p:stCondLst>
                                        </p:cTn>
                                        <p:tgtEl>
                                          <p:spTgt spid="81"/>
                                        </p:tgtEl>
                                        <p:attrNameLst>
                                          <p:attrName>style.visibility</p:attrName>
                                        </p:attrNameLst>
                                      </p:cBhvr>
                                      <p:to>
                                        <p:strVal val="visible"/>
                                      </p:to>
                                    </p:set>
                                    <p:animEffect transition="in" filter="wipe(down)">
                                      <p:cBhvr>
                                        <p:cTn id="49" dur="500"/>
                                        <p:tgtEl>
                                          <p:spTgt spid="81"/>
                                        </p:tgtEl>
                                      </p:cBhvr>
                                    </p:animEffect>
                                  </p:childTnLst>
                                </p:cTn>
                              </p:par>
                            </p:childTnLst>
                          </p:cTn>
                        </p:par>
                        <p:par>
                          <p:cTn id="50" fill="hold">
                            <p:stCondLst>
                              <p:cond delay="5000"/>
                            </p:stCondLst>
                            <p:childTnLst>
                              <p:par>
                                <p:cTn id="51" presetID="10" presetClass="entr" presetSubtype="0" fill="hold" grpId="0" nodeType="afterEffect">
                                  <p:stCondLst>
                                    <p:cond delay="0"/>
                                  </p:stCondLst>
                                  <p:childTnLst>
                                    <p:set>
                                      <p:cBhvr>
                                        <p:cTn id="52" dur="1" fill="hold">
                                          <p:stCondLst>
                                            <p:cond delay="0"/>
                                          </p:stCondLst>
                                        </p:cTn>
                                        <p:tgtEl>
                                          <p:spTgt spid="24"/>
                                        </p:tgtEl>
                                        <p:attrNameLst>
                                          <p:attrName>style.visibility</p:attrName>
                                        </p:attrNameLst>
                                      </p:cBhvr>
                                      <p:to>
                                        <p:strVal val="visible"/>
                                      </p:to>
                                    </p:set>
                                    <p:animEffect transition="in" filter="fade">
                                      <p:cBhvr>
                                        <p:cTn id="53"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3" grpId="0" animBg="1"/>
      <p:bldP spid="45" grpId="0" animBg="1"/>
      <p:bldP spid="46" grpId="0" animBg="1"/>
      <p:bldP spid="47" grpId="0" animBg="1"/>
      <p:bldP spid="48" grpId="0" animBg="1"/>
      <p:bldP spid="4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Box 23"/>
          <p:cNvSpPr txBox="1"/>
          <p:nvPr/>
        </p:nvSpPr>
        <p:spPr>
          <a:xfrm>
            <a:off x="551467" y="169652"/>
            <a:ext cx="2961067" cy="769441"/>
          </a:xfrm>
          <a:prstGeom prst="rect">
            <a:avLst/>
          </a:prstGeom>
          <a:noFill/>
        </p:spPr>
        <p:txBody>
          <a:bodyPr wrap="none" rtlCol="0">
            <a:spAutoFit/>
          </a:bodyPr>
          <a:lstStyle/>
          <a:p>
            <a:r>
              <a:rPr lang="en-US" sz="4400" dirty="0">
                <a:solidFill>
                  <a:schemeClr val="bg1">
                    <a:lumMod val="50000"/>
                  </a:schemeClr>
                </a:solidFill>
                <a:latin typeface="+mj-lt"/>
                <a:ea typeface="Open Sans" panose="020B0606030504020204" pitchFamily="34" charset="0"/>
                <a:cs typeface="Open Sans" panose="020B0606030504020204" pitchFamily="34" charset="0"/>
              </a:rPr>
              <a:t>Background</a:t>
            </a:r>
          </a:p>
        </p:txBody>
      </p:sp>
      <p:sp>
        <p:nvSpPr>
          <p:cNvPr id="25" name="Rectangle 24"/>
          <p:cNvSpPr/>
          <p:nvPr/>
        </p:nvSpPr>
        <p:spPr>
          <a:xfrm>
            <a:off x="2294217" y="1219052"/>
            <a:ext cx="8881782" cy="4154984"/>
          </a:xfrm>
          <a:prstGeom prst="rect">
            <a:avLst/>
          </a:prstGeom>
        </p:spPr>
        <p:txBody>
          <a:bodyPr wrap="square">
            <a:spAutoFit/>
          </a:bodyPr>
          <a:lstStyle/>
          <a:p>
            <a:pPr algn="just"/>
            <a:r>
              <a:rPr lang="en-US" sz="2200" dirty="0">
                <a:solidFill>
                  <a:schemeClr val="tx1">
                    <a:lumMod val="50000"/>
                    <a:lumOff val="50000"/>
                  </a:schemeClr>
                </a:solidFill>
              </a:rPr>
              <a:t>ACME Corporation is an international group of companies with headquarters in Delaware, USA. ACME specializes in creation of advanced weapon systems. Their latest product is Thor 2.0, an advanced optical sensor used in unmanned aerial vehicles (“drones”).</a:t>
            </a:r>
          </a:p>
          <a:p>
            <a:pPr algn="just"/>
            <a:endParaRPr lang="en-US" sz="2200" dirty="0">
              <a:solidFill>
                <a:schemeClr val="tx1">
                  <a:lumMod val="50000"/>
                  <a:lumOff val="50000"/>
                </a:schemeClr>
              </a:solidFill>
            </a:endParaRPr>
          </a:p>
          <a:p>
            <a:pPr algn="just"/>
            <a:r>
              <a:rPr lang="en-US" sz="2200" dirty="0">
                <a:solidFill>
                  <a:schemeClr val="tx1">
                    <a:lumMod val="50000"/>
                    <a:lumOff val="50000"/>
                  </a:schemeClr>
                </a:solidFill>
              </a:rPr>
              <a:t>Coyote Defense Industries (“CDI”) is a Norwegian company specializing in hunting products. With the bird hunting season around the corner, they approached ACME and requested a delivery of 1000 customized sensors before April 1</a:t>
            </a:r>
            <a:r>
              <a:rPr lang="en-US" sz="2200" baseline="30000" dirty="0">
                <a:solidFill>
                  <a:schemeClr val="tx1">
                    <a:lumMod val="50000"/>
                    <a:lumOff val="50000"/>
                  </a:schemeClr>
                </a:solidFill>
              </a:rPr>
              <a:t>st</a:t>
            </a:r>
            <a:r>
              <a:rPr lang="en-US" sz="2200" dirty="0">
                <a:solidFill>
                  <a:schemeClr val="tx1">
                    <a:lumMod val="50000"/>
                    <a:lumOff val="50000"/>
                  </a:schemeClr>
                </a:solidFill>
              </a:rPr>
              <a:t>, 2020. The negotiations are guaranteed to be long and complex, requiring input both from the technical teams (dealing with hardware customization to fit CDI requirements), business people (dealing with commercial terms) and lawyers (dealing with contractual matters).</a:t>
            </a:r>
          </a:p>
        </p:txBody>
      </p:sp>
      <p:sp>
        <p:nvSpPr>
          <p:cNvPr id="3" name="Rectangle 2"/>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5" name="Rectangle 44"/>
          <p:cNvSpPr/>
          <p:nvPr/>
        </p:nvSpPr>
        <p:spPr>
          <a:xfrm rot="16200000">
            <a:off x="4706223" y="5468222"/>
            <a:ext cx="747555"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6" name="Rectangle 45"/>
          <p:cNvSpPr/>
          <p:nvPr/>
        </p:nvSpPr>
        <p:spPr>
          <a:xfrm rot="16200000">
            <a:off x="6605310" y="5335309"/>
            <a:ext cx="1013382"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7" name="Rectangle 46"/>
          <p:cNvSpPr/>
          <p:nvPr/>
        </p:nvSpPr>
        <p:spPr>
          <a:xfrm rot="16200000">
            <a:off x="8816419" y="5514417"/>
            <a:ext cx="65516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8" name="Rectangle 47"/>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9" name="Rectangle 48"/>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6" name="Group 5"/>
          <p:cNvGrpSpPr/>
          <p:nvPr/>
        </p:nvGrpSpPr>
        <p:grpSpPr>
          <a:xfrm>
            <a:off x="2" y="6736617"/>
            <a:ext cx="12191999" cy="134339"/>
            <a:chOff x="2" y="2110197"/>
            <a:chExt cx="12191999" cy="134339"/>
          </a:xfrm>
        </p:grpSpPr>
        <p:sp>
          <p:nvSpPr>
            <p:cNvPr id="51" name="Rectangle 50"/>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2" name="Rectangle 51"/>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3" name="Rectangle 52"/>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4" name="Rectangle 53"/>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5" name="Rectangle 54"/>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6" name="Rectangle 55"/>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81" name="Straight Connector 80"/>
          <p:cNvCxnSpPr>
            <a:cxnSpLocks/>
          </p:cNvCxnSpPr>
          <p:nvPr/>
        </p:nvCxnSpPr>
        <p:spPr>
          <a:xfrm>
            <a:off x="657679" y="1323814"/>
            <a:ext cx="0" cy="4671632"/>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05858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5">
                                            <p:txEl>
                                              <p:pRg st="0" end="0"/>
                                            </p:txEl>
                                          </p:spTgt>
                                        </p:tgtEl>
                                        <p:attrNameLst>
                                          <p:attrName>style.visibility</p:attrName>
                                        </p:attrNameLst>
                                      </p:cBhvr>
                                      <p:to>
                                        <p:strVal val="visible"/>
                                      </p:to>
                                    </p:set>
                                    <p:animEffect transition="in" filter="fade">
                                      <p:cBhvr>
                                        <p:cTn id="10" dur="500"/>
                                        <p:tgtEl>
                                          <p:spTgt spid="25">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5">
                                            <p:txEl>
                                              <p:pRg st="2" end="2"/>
                                            </p:txEl>
                                          </p:spTgt>
                                        </p:tgtEl>
                                        <p:attrNameLst>
                                          <p:attrName>style.visibility</p:attrName>
                                        </p:attrNameLst>
                                      </p:cBhvr>
                                      <p:to>
                                        <p:strVal val="visible"/>
                                      </p:to>
                                    </p:set>
                                    <p:animEffect transition="in" filter="fade">
                                      <p:cBhvr>
                                        <p:cTn id="15" dur="500"/>
                                        <p:tgtEl>
                                          <p:spTgt spid="2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Box 23"/>
          <p:cNvSpPr txBox="1"/>
          <p:nvPr/>
        </p:nvSpPr>
        <p:spPr>
          <a:xfrm>
            <a:off x="551467" y="169652"/>
            <a:ext cx="2489784" cy="769441"/>
          </a:xfrm>
          <a:prstGeom prst="rect">
            <a:avLst/>
          </a:prstGeom>
          <a:noFill/>
        </p:spPr>
        <p:txBody>
          <a:bodyPr wrap="none" rtlCol="0">
            <a:spAutoFit/>
          </a:bodyPr>
          <a:lstStyle/>
          <a:p>
            <a:r>
              <a:rPr lang="en-US" sz="4400" dirty="0">
                <a:solidFill>
                  <a:schemeClr val="bg1">
                    <a:lumMod val="50000"/>
                  </a:schemeClr>
                </a:solidFill>
                <a:latin typeface="+mj-lt"/>
                <a:ea typeface="Open Sans" panose="020B0606030504020204" pitchFamily="34" charset="0"/>
                <a:cs typeface="Open Sans" panose="020B0606030504020204" pitchFamily="34" charset="0"/>
              </a:rPr>
              <a:t>Questions</a:t>
            </a:r>
          </a:p>
        </p:txBody>
      </p:sp>
      <p:sp>
        <p:nvSpPr>
          <p:cNvPr id="25" name="Rectangle 24"/>
          <p:cNvSpPr/>
          <p:nvPr/>
        </p:nvSpPr>
        <p:spPr>
          <a:xfrm>
            <a:off x="2146984" y="2201956"/>
            <a:ext cx="8881782" cy="2308324"/>
          </a:xfrm>
          <a:prstGeom prst="rect">
            <a:avLst/>
          </a:prstGeom>
        </p:spPr>
        <p:txBody>
          <a:bodyPr wrap="square">
            <a:spAutoFit/>
          </a:bodyPr>
          <a:lstStyle/>
          <a:p>
            <a:pPr marL="342900" lvl="0" indent="-342900">
              <a:buFont typeface="+mj-lt"/>
              <a:buAutoNum type="arabicPeriod"/>
            </a:pPr>
            <a:r>
              <a:rPr lang="en-US" sz="2400" dirty="0"/>
              <a:t>You are a lawyer representing CDI. Are there any issues you would consider before the negotiations start at all?</a:t>
            </a:r>
          </a:p>
          <a:p>
            <a:pPr marL="342900" lvl="0" indent="-342900">
              <a:buFont typeface="+mj-lt"/>
              <a:buAutoNum type="arabicPeriod"/>
            </a:pPr>
            <a:r>
              <a:rPr lang="en-US" sz="2400" dirty="0"/>
              <a:t>Assume that the negotiations will involve a constant exchange of technical documents, as well as many proposals and counter-proposals between the two negotiating teams. Does this raise any concerns, and if so, how would you solve them?</a:t>
            </a:r>
          </a:p>
        </p:txBody>
      </p:sp>
      <p:sp>
        <p:nvSpPr>
          <p:cNvPr id="3" name="Rectangle 2"/>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5" name="Rectangle 44"/>
          <p:cNvSpPr/>
          <p:nvPr/>
        </p:nvSpPr>
        <p:spPr>
          <a:xfrm rot="16200000">
            <a:off x="4706223" y="5468222"/>
            <a:ext cx="747555"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6" name="Rectangle 45"/>
          <p:cNvSpPr/>
          <p:nvPr/>
        </p:nvSpPr>
        <p:spPr>
          <a:xfrm rot="16200000">
            <a:off x="6605310" y="5335309"/>
            <a:ext cx="1013382"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7" name="Rectangle 46"/>
          <p:cNvSpPr/>
          <p:nvPr/>
        </p:nvSpPr>
        <p:spPr>
          <a:xfrm rot="16200000">
            <a:off x="8816419" y="5514417"/>
            <a:ext cx="65516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8" name="Rectangle 47"/>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9" name="Rectangle 48"/>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6" name="Group 5"/>
          <p:cNvGrpSpPr/>
          <p:nvPr/>
        </p:nvGrpSpPr>
        <p:grpSpPr>
          <a:xfrm>
            <a:off x="2" y="6736617"/>
            <a:ext cx="12191999" cy="134339"/>
            <a:chOff x="2" y="2110197"/>
            <a:chExt cx="12191999" cy="134339"/>
          </a:xfrm>
        </p:grpSpPr>
        <p:sp>
          <p:nvSpPr>
            <p:cNvPr id="51" name="Rectangle 50"/>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2" name="Rectangle 51"/>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3" name="Rectangle 52"/>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4" name="Rectangle 53"/>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5" name="Rectangle 54"/>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6" name="Rectangle 55"/>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81" name="Straight Connector 80"/>
          <p:cNvCxnSpPr>
            <a:cxnSpLocks/>
          </p:cNvCxnSpPr>
          <p:nvPr/>
        </p:nvCxnSpPr>
        <p:spPr>
          <a:xfrm>
            <a:off x="657679" y="1323814"/>
            <a:ext cx="0" cy="4671632"/>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53861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5">
                                            <p:txEl>
                                              <p:pRg st="0" end="0"/>
                                            </p:txEl>
                                          </p:spTgt>
                                        </p:tgtEl>
                                        <p:attrNameLst>
                                          <p:attrName>style.visibility</p:attrName>
                                        </p:attrNameLst>
                                      </p:cBhvr>
                                      <p:to>
                                        <p:strVal val="visible"/>
                                      </p:to>
                                    </p:set>
                                    <p:animEffect transition="in" filter="fade">
                                      <p:cBhvr>
                                        <p:cTn id="10" dur="500"/>
                                        <p:tgtEl>
                                          <p:spTgt spid="25">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5">
                                            <p:txEl>
                                              <p:pRg st="1" end="1"/>
                                            </p:txEl>
                                          </p:spTgt>
                                        </p:tgtEl>
                                        <p:attrNameLst>
                                          <p:attrName>style.visibility</p:attrName>
                                        </p:attrNameLst>
                                      </p:cBhvr>
                                      <p:to>
                                        <p:strVal val="visible"/>
                                      </p:to>
                                    </p:set>
                                    <p:animEffect transition="in" filter="fade">
                                      <p:cBhvr>
                                        <p:cTn id="13" dur="500"/>
                                        <p:tgtEl>
                                          <p:spTgt spid="2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Box 23"/>
          <p:cNvSpPr txBox="1"/>
          <p:nvPr/>
        </p:nvSpPr>
        <p:spPr>
          <a:xfrm>
            <a:off x="551467" y="169652"/>
            <a:ext cx="2489784" cy="769441"/>
          </a:xfrm>
          <a:prstGeom prst="rect">
            <a:avLst/>
          </a:prstGeom>
          <a:noFill/>
        </p:spPr>
        <p:txBody>
          <a:bodyPr wrap="none" rtlCol="0">
            <a:spAutoFit/>
          </a:bodyPr>
          <a:lstStyle/>
          <a:p>
            <a:r>
              <a:rPr lang="en-US" sz="4400" dirty="0">
                <a:solidFill>
                  <a:schemeClr val="bg1">
                    <a:lumMod val="50000"/>
                  </a:schemeClr>
                </a:solidFill>
                <a:latin typeface="+mj-lt"/>
                <a:ea typeface="Open Sans" panose="020B0606030504020204" pitchFamily="34" charset="0"/>
                <a:cs typeface="Open Sans" panose="020B0606030504020204" pitchFamily="34" charset="0"/>
              </a:rPr>
              <a:t>Questions</a:t>
            </a:r>
          </a:p>
        </p:txBody>
      </p:sp>
      <p:sp>
        <p:nvSpPr>
          <p:cNvPr id="25" name="Rectangle 24"/>
          <p:cNvSpPr/>
          <p:nvPr/>
        </p:nvSpPr>
        <p:spPr>
          <a:xfrm>
            <a:off x="2081117" y="1831097"/>
            <a:ext cx="8881782" cy="3046988"/>
          </a:xfrm>
          <a:prstGeom prst="rect">
            <a:avLst/>
          </a:prstGeom>
        </p:spPr>
        <p:txBody>
          <a:bodyPr wrap="square">
            <a:spAutoFit/>
          </a:bodyPr>
          <a:lstStyle/>
          <a:p>
            <a:pPr marL="342900" lvl="0" indent="-342900">
              <a:buFont typeface="+mj-lt"/>
              <a:buAutoNum type="arabicPeriod"/>
            </a:pPr>
            <a:r>
              <a:rPr lang="en-US" sz="2400" dirty="0"/>
              <a:t>Since Thor 2.0 technology is very advanced, ACME lawyers are getting increasingly nervous about letting their technical teams disclose information to CDI. This results in further delays in negotiations. Representing CDI, how would you try to mitigate this issue?</a:t>
            </a:r>
          </a:p>
          <a:p>
            <a:pPr marL="342900" lvl="0" indent="-342900">
              <a:buFont typeface="+mj-lt"/>
              <a:buAutoNum type="arabicPeriod"/>
            </a:pPr>
            <a:r>
              <a:rPr lang="en-US" sz="2400" dirty="0"/>
              <a:t>ACME insists on specifying that delivery shall be made “within reasonable time” rather than on April 1</a:t>
            </a:r>
            <a:r>
              <a:rPr lang="en-US" sz="2400" baseline="30000" dirty="0"/>
              <a:t>st</a:t>
            </a:r>
            <a:r>
              <a:rPr lang="en-US" sz="2400" dirty="0"/>
              <a:t>. Do you have any concerns, representing CDI? How do you approach negotiations?</a:t>
            </a:r>
          </a:p>
        </p:txBody>
      </p:sp>
      <p:sp>
        <p:nvSpPr>
          <p:cNvPr id="3" name="Rectangle 2"/>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5" name="Rectangle 44"/>
          <p:cNvSpPr/>
          <p:nvPr/>
        </p:nvSpPr>
        <p:spPr>
          <a:xfrm rot="16200000">
            <a:off x="4706223" y="5468222"/>
            <a:ext cx="747555"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6" name="Rectangle 45"/>
          <p:cNvSpPr/>
          <p:nvPr/>
        </p:nvSpPr>
        <p:spPr>
          <a:xfrm rot="16200000">
            <a:off x="6605310" y="5335309"/>
            <a:ext cx="1013382"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7" name="Rectangle 46"/>
          <p:cNvSpPr/>
          <p:nvPr/>
        </p:nvSpPr>
        <p:spPr>
          <a:xfrm rot="16200000">
            <a:off x="8816419" y="5514417"/>
            <a:ext cx="65516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8" name="Rectangle 47"/>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9" name="Rectangle 48"/>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6" name="Group 5"/>
          <p:cNvGrpSpPr/>
          <p:nvPr/>
        </p:nvGrpSpPr>
        <p:grpSpPr>
          <a:xfrm>
            <a:off x="2" y="6736617"/>
            <a:ext cx="12191999" cy="134339"/>
            <a:chOff x="2" y="2110197"/>
            <a:chExt cx="12191999" cy="134339"/>
          </a:xfrm>
        </p:grpSpPr>
        <p:sp>
          <p:nvSpPr>
            <p:cNvPr id="51" name="Rectangle 50"/>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2" name="Rectangle 51"/>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3" name="Rectangle 52"/>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4" name="Rectangle 53"/>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5" name="Rectangle 54"/>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6" name="Rectangle 55"/>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81" name="Straight Connector 80"/>
          <p:cNvCxnSpPr>
            <a:cxnSpLocks/>
          </p:cNvCxnSpPr>
          <p:nvPr/>
        </p:nvCxnSpPr>
        <p:spPr>
          <a:xfrm>
            <a:off x="657679" y="1323814"/>
            <a:ext cx="0" cy="4671632"/>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551460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5">
                                            <p:txEl>
                                              <p:pRg st="0" end="0"/>
                                            </p:txEl>
                                          </p:spTgt>
                                        </p:tgtEl>
                                        <p:attrNameLst>
                                          <p:attrName>style.visibility</p:attrName>
                                        </p:attrNameLst>
                                      </p:cBhvr>
                                      <p:to>
                                        <p:strVal val="visible"/>
                                      </p:to>
                                    </p:set>
                                    <p:animEffect transition="in" filter="fade">
                                      <p:cBhvr>
                                        <p:cTn id="10" dur="500"/>
                                        <p:tgtEl>
                                          <p:spTgt spid="25">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5">
                                            <p:txEl>
                                              <p:pRg st="1" end="1"/>
                                            </p:txEl>
                                          </p:spTgt>
                                        </p:tgtEl>
                                        <p:attrNameLst>
                                          <p:attrName>style.visibility</p:attrName>
                                        </p:attrNameLst>
                                      </p:cBhvr>
                                      <p:to>
                                        <p:strVal val="visible"/>
                                      </p:to>
                                    </p:set>
                                    <p:animEffect transition="in" filter="fade">
                                      <p:cBhvr>
                                        <p:cTn id="13" dur="500"/>
                                        <p:tgtEl>
                                          <p:spTgt spid="2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Box 23"/>
          <p:cNvSpPr txBox="1"/>
          <p:nvPr/>
        </p:nvSpPr>
        <p:spPr>
          <a:xfrm>
            <a:off x="551467" y="169652"/>
            <a:ext cx="2489784" cy="769441"/>
          </a:xfrm>
          <a:prstGeom prst="rect">
            <a:avLst/>
          </a:prstGeom>
          <a:noFill/>
        </p:spPr>
        <p:txBody>
          <a:bodyPr wrap="none" rtlCol="0">
            <a:spAutoFit/>
          </a:bodyPr>
          <a:lstStyle/>
          <a:p>
            <a:r>
              <a:rPr lang="en-US" sz="4400" dirty="0">
                <a:solidFill>
                  <a:schemeClr val="bg1">
                    <a:lumMod val="50000"/>
                  </a:schemeClr>
                </a:solidFill>
                <a:latin typeface="+mj-lt"/>
                <a:ea typeface="Open Sans" panose="020B0606030504020204" pitchFamily="34" charset="0"/>
                <a:cs typeface="Open Sans" panose="020B0606030504020204" pitchFamily="34" charset="0"/>
              </a:rPr>
              <a:t>Questions</a:t>
            </a:r>
          </a:p>
        </p:txBody>
      </p:sp>
      <p:sp>
        <p:nvSpPr>
          <p:cNvPr id="25" name="Rectangle 24"/>
          <p:cNvSpPr/>
          <p:nvPr/>
        </p:nvSpPr>
        <p:spPr>
          <a:xfrm>
            <a:off x="2032001" y="1321919"/>
            <a:ext cx="8881782" cy="4247317"/>
          </a:xfrm>
          <a:prstGeom prst="rect">
            <a:avLst/>
          </a:prstGeom>
        </p:spPr>
        <p:txBody>
          <a:bodyPr wrap="square">
            <a:spAutoFit/>
          </a:bodyPr>
          <a:lstStyle/>
          <a:p>
            <a:pPr marL="342900" lvl="0" indent="-342900">
              <a:buFont typeface="+mj-lt"/>
              <a:buAutoNum type="arabicPeriod"/>
            </a:pPr>
            <a:r>
              <a:rPr lang="en-US" dirty="0"/>
              <a:t>ACME wants the following </a:t>
            </a:r>
            <a:r>
              <a:rPr lang="en-US" i="1" dirty="0"/>
              <a:t>force majeure</a:t>
            </a:r>
            <a:r>
              <a:rPr lang="en-US" dirty="0"/>
              <a:t> wording inserted into the agreement: “</a:t>
            </a:r>
            <a:r>
              <a:rPr lang="en-US" i="1" dirty="0"/>
              <a:t>Neither party shall be held liable or responsible to the other party nor be deemed to have defaulted under or breached this Agreement for failure or delay in fulfilling or performing any term of this Agreement to the extent, and for so long as, such failure or delay is caused by or results from causes beyond the reasonable control of the affected party including but not limited to fire, floods, embargoes, war, acts of war (whether war be declared or not), acts of terrorism, insurrections, riots, civil commotions, strikes, lockouts or other labor disturbances, acts of God or acts, omissions or delays in acting by any governmental authority or the other party, or any other event deemed otherwise unreasonable by ACME.</a:t>
            </a:r>
            <a:r>
              <a:rPr lang="en-US" dirty="0"/>
              <a:t>” Do you have any concerns? </a:t>
            </a:r>
          </a:p>
          <a:p>
            <a:pPr marL="342900" lvl="0" indent="-342900">
              <a:buFont typeface="+mj-lt"/>
              <a:buAutoNum type="arabicPeriod"/>
            </a:pPr>
            <a:r>
              <a:rPr lang="en-US" dirty="0"/>
              <a:t>Your co-counsel at CDI insists that you should not spend time reviewing ACME’s agreement. “It’s just boilerplate – and we can’t get such a large company to change the terms for us!”. Business people eagerly agree, saying that you are just causing delays. The CEO invites you to brief the executive board on the state of the agreement. Your course of action/arguments?</a:t>
            </a:r>
          </a:p>
        </p:txBody>
      </p:sp>
      <p:sp>
        <p:nvSpPr>
          <p:cNvPr id="3" name="Rectangle 2"/>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5" name="Rectangle 44"/>
          <p:cNvSpPr/>
          <p:nvPr/>
        </p:nvSpPr>
        <p:spPr>
          <a:xfrm rot="16200000">
            <a:off x="4706223" y="5468222"/>
            <a:ext cx="747555"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6" name="Rectangle 45"/>
          <p:cNvSpPr/>
          <p:nvPr/>
        </p:nvSpPr>
        <p:spPr>
          <a:xfrm rot="16200000">
            <a:off x="6605310" y="5335309"/>
            <a:ext cx="1013382"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7" name="Rectangle 46"/>
          <p:cNvSpPr/>
          <p:nvPr/>
        </p:nvSpPr>
        <p:spPr>
          <a:xfrm rot="16200000">
            <a:off x="8816419" y="5514417"/>
            <a:ext cx="65516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8" name="Rectangle 47"/>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9" name="Rectangle 48"/>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6" name="Group 5"/>
          <p:cNvGrpSpPr/>
          <p:nvPr/>
        </p:nvGrpSpPr>
        <p:grpSpPr>
          <a:xfrm>
            <a:off x="2" y="6736617"/>
            <a:ext cx="12191999" cy="134339"/>
            <a:chOff x="2" y="2110197"/>
            <a:chExt cx="12191999" cy="134339"/>
          </a:xfrm>
        </p:grpSpPr>
        <p:sp>
          <p:nvSpPr>
            <p:cNvPr id="51" name="Rectangle 50"/>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2" name="Rectangle 51"/>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3" name="Rectangle 52"/>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4" name="Rectangle 53"/>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5" name="Rectangle 54"/>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6" name="Rectangle 55"/>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81" name="Straight Connector 80"/>
          <p:cNvCxnSpPr>
            <a:cxnSpLocks/>
          </p:cNvCxnSpPr>
          <p:nvPr/>
        </p:nvCxnSpPr>
        <p:spPr>
          <a:xfrm>
            <a:off x="657679" y="1323814"/>
            <a:ext cx="0" cy="4671632"/>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1020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5">
                                            <p:txEl>
                                              <p:pRg st="0" end="0"/>
                                            </p:txEl>
                                          </p:spTgt>
                                        </p:tgtEl>
                                        <p:attrNameLst>
                                          <p:attrName>style.visibility</p:attrName>
                                        </p:attrNameLst>
                                      </p:cBhvr>
                                      <p:to>
                                        <p:strVal val="visible"/>
                                      </p:to>
                                    </p:set>
                                    <p:animEffect transition="in" filter="fade">
                                      <p:cBhvr>
                                        <p:cTn id="10" dur="500"/>
                                        <p:tgtEl>
                                          <p:spTgt spid="25">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5">
                                            <p:txEl>
                                              <p:pRg st="1" end="1"/>
                                            </p:txEl>
                                          </p:spTgt>
                                        </p:tgtEl>
                                        <p:attrNameLst>
                                          <p:attrName>style.visibility</p:attrName>
                                        </p:attrNameLst>
                                      </p:cBhvr>
                                      <p:to>
                                        <p:strVal val="visible"/>
                                      </p:to>
                                    </p:set>
                                    <p:animEffect transition="in" filter="fade">
                                      <p:cBhvr>
                                        <p:cTn id="13" dur="500"/>
                                        <p:tgtEl>
                                          <p:spTgt spid="2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Box 23"/>
          <p:cNvSpPr txBox="1"/>
          <p:nvPr/>
        </p:nvSpPr>
        <p:spPr>
          <a:xfrm>
            <a:off x="3819575" y="2659559"/>
            <a:ext cx="4552849" cy="769441"/>
          </a:xfrm>
          <a:prstGeom prst="rect">
            <a:avLst/>
          </a:prstGeom>
          <a:noFill/>
        </p:spPr>
        <p:txBody>
          <a:bodyPr wrap="none" rtlCol="0">
            <a:spAutoFit/>
          </a:bodyPr>
          <a:lstStyle/>
          <a:p>
            <a:r>
              <a:rPr lang="en-US" sz="4400" dirty="0">
                <a:solidFill>
                  <a:schemeClr val="bg1">
                    <a:lumMod val="50000"/>
                  </a:schemeClr>
                </a:solidFill>
                <a:latin typeface="+mj-lt"/>
                <a:ea typeface="Open Sans" panose="020B0606030504020204" pitchFamily="34" charset="0"/>
                <a:cs typeface="Open Sans" panose="020B0606030504020204" pitchFamily="34" charset="0"/>
              </a:rPr>
              <a:t>Contract formation</a:t>
            </a:r>
          </a:p>
        </p:txBody>
      </p:sp>
      <p:sp>
        <p:nvSpPr>
          <p:cNvPr id="3" name="Rectangle 2"/>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5" name="Rectangle 44"/>
          <p:cNvSpPr/>
          <p:nvPr/>
        </p:nvSpPr>
        <p:spPr>
          <a:xfrm rot="16200000">
            <a:off x="4785414" y="5547413"/>
            <a:ext cx="589173"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6" name="Rectangle 45"/>
          <p:cNvSpPr/>
          <p:nvPr/>
        </p:nvSpPr>
        <p:spPr>
          <a:xfrm rot="16200000">
            <a:off x="6680724" y="5410723"/>
            <a:ext cx="862554"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7" name="Rectangle 46"/>
          <p:cNvSpPr/>
          <p:nvPr/>
        </p:nvSpPr>
        <p:spPr>
          <a:xfrm rot="16200000">
            <a:off x="8594272" y="5292271"/>
            <a:ext cx="1099457"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8" name="Rectangle 47"/>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9" name="Rectangle 48"/>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6" name="Group 5"/>
          <p:cNvGrpSpPr/>
          <p:nvPr/>
        </p:nvGrpSpPr>
        <p:grpSpPr>
          <a:xfrm>
            <a:off x="2" y="6736617"/>
            <a:ext cx="12191999" cy="134339"/>
            <a:chOff x="2" y="2110197"/>
            <a:chExt cx="12191999" cy="134339"/>
          </a:xfrm>
        </p:grpSpPr>
        <p:sp>
          <p:nvSpPr>
            <p:cNvPr id="51" name="Rectangle 50"/>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2" name="Rectangle 51"/>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3" name="Rectangle 52"/>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4" name="Rectangle 53"/>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5" name="Rectangle 54"/>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6" name="Rectangle 55"/>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76" name="Straight Connector 75"/>
          <p:cNvCxnSpPr/>
          <p:nvPr/>
        </p:nvCxnSpPr>
        <p:spPr>
          <a:xfrm>
            <a:off x="669303" y="5812915"/>
            <a:ext cx="4402317"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a:cxnSpLocks/>
          </p:cNvCxnSpPr>
          <p:nvPr/>
        </p:nvCxnSpPr>
        <p:spPr>
          <a:xfrm>
            <a:off x="5071620" y="5812915"/>
            <a:ext cx="9763" cy="455911"/>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a:cxnSpLocks/>
          </p:cNvCxnSpPr>
          <p:nvPr/>
        </p:nvCxnSpPr>
        <p:spPr>
          <a:xfrm>
            <a:off x="669303" y="838986"/>
            <a:ext cx="0" cy="4973929"/>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1699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49"/>
                                        </p:tgtEl>
                                        <p:attrNameLst>
                                          <p:attrName>style.visibility</p:attrName>
                                        </p:attrNameLst>
                                      </p:cBhvr>
                                      <p:to>
                                        <p:strVal val="visible"/>
                                      </p:to>
                                    </p:set>
                                    <p:anim calcmode="lin" valueType="num">
                                      <p:cBhvr additive="base">
                                        <p:cTn id="11" dur="500" fill="hold"/>
                                        <p:tgtEl>
                                          <p:spTgt spid="49"/>
                                        </p:tgtEl>
                                        <p:attrNameLst>
                                          <p:attrName>ppt_x</p:attrName>
                                        </p:attrNameLst>
                                      </p:cBhvr>
                                      <p:tavLst>
                                        <p:tav tm="0">
                                          <p:val>
                                            <p:strVal val="#ppt_x"/>
                                          </p:val>
                                        </p:tav>
                                        <p:tav tm="100000">
                                          <p:val>
                                            <p:strVal val="#ppt_x"/>
                                          </p:val>
                                        </p:tav>
                                      </p:tavLst>
                                    </p:anim>
                                    <p:anim calcmode="lin" valueType="num">
                                      <p:cBhvr additive="base">
                                        <p:cTn id="12" dur="500" fill="hold"/>
                                        <p:tgtEl>
                                          <p:spTgt spid="49"/>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3"/>
                                        </p:tgtEl>
                                        <p:attrNameLst>
                                          <p:attrName>style.visibility</p:attrName>
                                        </p:attrNameLst>
                                      </p:cBhvr>
                                      <p:to>
                                        <p:strVal val="visible"/>
                                      </p:to>
                                    </p:set>
                                    <p:anim calcmode="lin" valueType="num">
                                      <p:cBhvr additive="base">
                                        <p:cTn id="16" dur="500" fill="hold"/>
                                        <p:tgtEl>
                                          <p:spTgt spid="3"/>
                                        </p:tgtEl>
                                        <p:attrNameLst>
                                          <p:attrName>ppt_x</p:attrName>
                                        </p:attrNameLst>
                                      </p:cBhvr>
                                      <p:tavLst>
                                        <p:tav tm="0">
                                          <p:val>
                                            <p:strVal val="#ppt_x"/>
                                          </p:val>
                                        </p:tav>
                                        <p:tav tm="100000">
                                          <p:val>
                                            <p:strVal val="#ppt_x"/>
                                          </p:val>
                                        </p:tav>
                                      </p:tavLst>
                                    </p:anim>
                                    <p:anim calcmode="lin" valueType="num">
                                      <p:cBhvr additive="base">
                                        <p:cTn id="17" dur="500" fill="hold"/>
                                        <p:tgtEl>
                                          <p:spTgt spid="3"/>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45"/>
                                        </p:tgtEl>
                                        <p:attrNameLst>
                                          <p:attrName>style.visibility</p:attrName>
                                        </p:attrNameLst>
                                      </p:cBhvr>
                                      <p:to>
                                        <p:strVal val="visible"/>
                                      </p:to>
                                    </p:set>
                                    <p:anim calcmode="lin" valueType="num">
                                      <p:cBhvr additive="base">
                                        <p:cTn id="21" dur="500" fill="hold"/>
                                        <p:tgtEl>
                                          <p:spTgt spid="45"/>
                                        </p:tgtEl>
                                        <p:attrNameLst>
                                          <p:attrName>ppt_x</p:attrName>
                                        </p:attrNameLst>
                                      </p:cBhvr>
                                      <p:tavLst>
                                        <p:tav tm="0">
                                          <p:val>
                                            <p:strVal val="#ppt_x"/>
                                          </p:val>
                                        </p:tav>
                                        <p:tav tm="100000">
                                          <p:val>
                                            <p:strVal val="#ppt_x"/>
                                          </p:val>
                                        </p:tav>
                                      </p:tavLst>
                                    </p:anim>
                                    <p:anim calcmode="lin" valueType="num">
                                      <p:cBhvr additive="base">
                                        <p:cTn id="22" dur="500" fill="hold"/>
                                        <p:tgtEl>
                                          <p:spTgt spid="45"/>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46"/>
                                        </p:tgtEl>
                                        <p:attrNameLst>
                                          <p:attrName>style.visibility</p:attrName>
                                        </p:attrNameLst>
                                      </p:cBhvr>
                                      <p:to>
                                        <p:strVal val="visible"/>
                                      </p:to>
                                    </p:set>
                                    <p:anim calcmode="lin" valueType="num">
                                      <p:cBhvr additive="base">
                                        <p:cTn id="26" dur="500" fill="hold"/>
                                        <p:tgtEl>
                                          <p:spTgt spid="46"/>
                                        </p:tgtEl>
                                        <p:attrNameLst>
                                          <p:attrName>ppt_x</p:attrName>
                                        </p:attrNameLst>
                                      </p:cBhvr>
                                      <p:tavLst>
                                        <p:tav tm="0">
                                          <p:val>
                                            <p:strVal val="#ppt_x"/>
                                          </p:val>
                                        </p:tav>
                                        <p:tav tm="100000">
                                          <p:val>
                                            <p:strVal val="#ppt_x"/>
                                          </p:val>
                                        </p:tav>
                                      </p:tavLst>
                                    </p:anim>
                                    <p:anim calcmode="lin" valueType="num">
                                      <p:cBhvr additive="base">
                                        <p:cTn id="27" dur="500" fill="hold"/>
                                        <p:tgtEl>
                                          <p:spTgt spid="46"/>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47"/>
                                        </p:tgtEl>
                                        <p:attrNameLst>
                                          <p:attrName>style.visibility</p:attrName>
                                        </p:attrNameLst>
                                      </p:cBhvr>
                                      <p:to>
                                        <p:strVal val="visible"/>
                                      </p:to>
                                    </p:set>
                                    <p:anim calcmode="lin" valueType="num">
                                      <p:cBhvr additive="base">
                                        <p:cTn id="31" dur="500" fill="hold"/>
                                        <p:tgtEl>
                                          <p:spTgt spid="47"/>
                                        </p:tgtEl>
                                        <p:attrNameLst>
                                          <p:attrName>ppt_x</p:attrName>
                                        </p:attrNameLst>
                                      </p:cBhvr>
                                      <p:tavLst>
                                        <p:tav tm="0">
                                          <p:val>
                                            <p:strVal val="#ppt_x"/>
                                          </p:val>
                                        </p:tav>
                                        <p:tav tm="100000">
                                          <p:val>
                                            <p:strVal val="#ppt_x"/>
                                          </p:val>
                                        </p:tav>
                                      </p:tavLst>
                                    </p:anim>
                                    <p:anim calcmode="lin" valueType="num">
                                      <p:cBhvr additive="base">
                                        <p:cTn id="32" dur="500" fill="hold"/>
                                        <p:tgtEl>
                                          <p:spTgt spid="47"/>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ntr" presetSubtype="4" fill="hold" grpId="0" nodeType="afterEffect">
                                  <p:stCondLst>
                                    <p:cond delay="0"/>
                                  </p:stCondLst>
                                  <p:childTnLst>
                                    <p:set>
                                      <p:cBhvr>
                                        <p:cTn id="35" dur="1" fill="hold">
                                          <p:stCondLst>
                                            <p:cond delay="0"/>
                                          </p:stCondLst>
                                        </p:cTn>
                                        <p:tgtEl>
                                          <p:spTgt spid="48"/>
                                        </p:tgtEl>
                                        <p:attrNameLst>
                                          <p:attrName>style.visibility</p:attrName>
                                        </p:attrNameLst>
                                      </p:cBhvr>
                                      <p:to>
                                        <p:strVal val="visible"/>
                                      </p:to>
                                    </p:set>
                                    <p:anim calcmode="lin" valueType="num">
                                      <p:cBhvr additive="base">
                                        <p:cTn id="36" dur="500" fill="hold"/>
                                        <p:tgtEl>
                                          <p:spTgt spid="48"/>
                                        </p:tgtEl>
                                        <p:attrNameLst>
                                          <p:attrName>ppt_x</p:attrName>
                                        </p:attrNameLst>
                                      </p:cBhvr>
                                      <p:tavLst>
                                        <p:tav tm="0">
                                          <p:val>
                                            <p:strVal val="#ppt_x"/>
                                          </p:val>
                                        </p:tav>
                                        <p:tav tm="100000">
                                          <p:val>
                                            <p:strVal val="#ppt_x"/>
                                          </p:val>
                                        </p:tav>
                                      </p:tavLst>
                                    </p:anim>
                                    <p:anim calcmode="lin" valueType="num">
                                      <p:cBhvr additive="base">
                                        <p:cTn id="37" dur="500" fill="hold"/>
                                        <p:tgtEl>
                                          <p:spTgt spid="48"/>
                                        </p:tgtEl>
                                        <p:attrNameLst>
                                          <p:attrName>ppt_y</p:attrName>
                                        </p:attrNameLst>
                                      </p:cBhvr>
                                      <p:tavLst>
                                        <p:tav tm="0">
                                          <p:val>
                                            <p:strVal val="1+#ppt_h/2"/>
                                          </p:val>
                                        </p:tav>
                                        <p:tav tm="100000">
                                          <p:val>
                                            <p:strVal val="#ppt_y"/>
                                          </p:val>
                                        </p:tav>
                                      </p:tavLst>
                                    </p:anim>
                                  </p:childTnLst>
                                </p:cTn>
                              </p:par>
                            </p:childTnLst>
                          </p:cTn>
                        </p:par>
                        <p:par>
                          <p:cTn id="38" fill="hold">
                            <p:stCondLst>
                              <p:cond delay="3500"/>
                            </p:stCondLst>
                            <p:childTnLst>
                              <p:par>
                                <p:cTn id="39" presetID="22" presetClass="entr" presetSubtype="4" fill="hold" nodeType="afterEffect">
                                  <p:stCondLst>
                                    <p:cond delay="0"/>
                                  </p:stCondLst>
                                  <p:childTnLst>
                                    <p:set>
                                      <p:cBhvr>
                                        <p:cTn id="40" dur="1" fill="hold">
                                          <p:stCondLst>
                                            <p:cond delay="0"/>
                                          </p:stCondLst>
                                        </p:cTn>
                                        <p:tgtEl>
                                          <p:spTgt spid="78"/>
                                        </p:tgtEl>
                                        <p:attrNameLst>
                                          <p:attrName>style.visibility</p:attrName>
                                        </p:attrNameLst>
                                      </p:cBhvr>
                                      <p:to>
                                        <p:strVal val="visible"/>
                                      </p:to>
                                    </p:set>
                                    <p:animEffect transition="in" filter="wipe(down)">
                                      <p:cBhvr>
                                        <p:cTn id="41" dur="500"/>
                                        <p:tgtEl>
                                          <p:spTgt spid="78"/>
                                        </p:tgtEl>
                                      </p:cBhvr>
                                    </p:animEffect>
                                  </p:childTnLst>
                                </p:cTn>
                              </p:par>
                            </p:childTnLst>
                          </p:cTn>
                        </p:par>
                        <p:par>
                          <p:cTn id="42" fill="hold">
                            <p:stCondLst>
                              <p:cond delay="4000"/>
                            </p:stCondLst>
                            <p:childTnLst>
                              <p:par>
                                <p:cTn id="43" presetID="22" presetClass="entr" presetSubtype="2" fill="hold" nodeType="afterEffect">
                                  <p:stCondLst>
                                    <p:cond delay="0"/>
                                  </p:stCondLst>
                                  <p:childTnLst>
                                    <p:set>
                                      <p:cBhvr>
                                        <p:cTn id="44" dur="1" fill="hold">
                                          <p:stCondLst>
                                            <p:cond delay="0"/>
                                          </p:stCondLst>
                                        </p:cTn>
                                        <p:tgtEl>
                                          <p:spTgt spid="76"/>
                                        </p:tgtEl>
                                        <p:attrNameLst>
                                          <p:attrName>style.visibility</p:attrName>
                                        </p:attrNameLst>
                                      </p:cBhvr>
                                      <p:to>
                                        <p:strVal val="visible"/>
                                      </p:to>
                                    </p:set>
                                    <p:animEffect transition="in" filter="wipe(right)">
                                      <p:cBhvr>
                                        <p:cTn id="45" dur="500"/>
                                        <p:tgtEl>
                                          <p:spTgt spid="76"/>
                                        </p:tgtEl>
                                      </p:cBhvr>
                                    </p:animEffect>
                                  </p:childTnLst>
                                </p:cTn>
                              </p:par>
                            </p:childTnLst>
                          </p:cTn>
                        </p:par>
                        <p:par>
                          <p:cTn id="46" fill="hold">
                            <p:stCondLst>
                              <p:cond delay="4500"/>
                            </p:stCondLst>
                            <p:childTnLst>
                              <p:par>
                                <p:cTn id="47" presetID="22" presetClass="entr" presetSubtype="4" fill="hold" nodeType="afterEffect">
                                  <p:stCondLst>
                                    <p:cond delay="0"/>
                                  </p:stCondLst>
                                  <p:childTnLst>
                                    <p:set>
                                      <p:cBhvr>
                                        <p:cTn id="48" dur="1" fill="hold">
                                          <p:stCondLst>
                                            <p:cond delay="0"/>
                                          </p:stCondLst>
                                        </p:cTn>
                                        <p:tgtEl>
                                          <p:spTgt spid="81"/>
                                        </p:tgtEl>
                                        <p:attrNameLst>
                                          <p:attrName>style.visibility</p:attrName>
                                        </p:attrNameLst>
                                      </p:cBhvr>
                                      <p:to>
                                        <p:strVal val="visible"/>
                                      </p:to>
                                    </p:set>
                                    <p:animEffect transition="in" filter="wipe(down)">
                                      <p:cBhvr>
                                        <p:cTn id="49" dur="500"/>
                                        <p:tgtEl>
                                          <p:spTgt spid="81"/>
                                        </p:tgtEl>
                                      </p:cBhvr>
                                    </p:animEffect>
                                  </p:childTnLst>
                                </p:cTn>
                              </p:par>
                            </p:childTnLst>
                          </p:cTn>
                        </p:par>
                        <p:par>
                          <p:cTn id="50" fill="hold">
                            <p:stCondLst>
                              <p:cond delay="5000"/>
                            </p:stCondLst>
                            <p:childTnLst>
                              <p:par>
                                <p:cTn id="51" presetID="10" presetClass="entr" presetSubtype="0" fill="hold" grpId="0" nodeType="afterEffect">
                                  <p:stCondLst>
                                    <p:cond delay="0"/>
                                  </p:stCondLst>
                                  <p:childTnLst>
                                    <p:set>
                                      <p:cBhvr>
                                        <p:cTn id="52" dur="1" fill="hold">
                                          <p:stCondLst>
                                            <p:cond delay="0"/>
                                          </p:stCondLst>
                                        </p:cTn>
                                        <p:tgtEl>
                                          <p:spTgt spid="24"/>
                                        </p:tgtEl>
                                        <p:attrNameLst>
                                          <p:attrName>style.visibility</p:attrName>
                                        </p:attrNameLst>
                                      </p:cBhvr>
                                      <p:to>
                                        <p:strVal val="visible"/>
                                      </p:to>
                                    </p:set>
                                    <p:animEffect transition="in" filter="fade">
                                      <p:cBhvr>
                                        <p:cTn id="53"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3" grpId="0" animBg="1"/>
      <p:bldP spid="45" grpId="0" animBg="1"/>
      <p:bldP spid="46" grpId="0" animBg="1"/>
      <p:bldP spid="47" grpId="0" animBg="1"/>
      <p:bldP spid="48" grpId="0" animBg="1"/>
      <p:bldP spid="4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0063" y="938940"/>
            <a:ext cx="8652294" cy="1143000"/>
          </a:xfrm>
        </p:spPr>
        <p:txBody>
          <a:bodyPr/>
          <a:lstStyle/>
          <a:p>
            <a:r>
              <a:rPr lang="en-US" dirty="0"/>
              <a:t>Cases we’ll study</a:t>
            </a:r>
          </a:p>
        </p:txBody>
      </p:sp>
      <p:sp>
        <p:nvSpPr>
          <p:cNvPr id="3" name="Content Placeholder 2"/>
          <p:cNvSpPr>
            <a:spLocks noGrp="1"/>
          </p:cNvSpPr>
          <p:nvPr>
            <p:ph idx="1"/>
          </p:nvPr>
        </p:nvSpPr>
        <p:spPr>
          <a:xfrm>
            <a:off x="1589866" y="2248588"/>
            <a:ext cx="10515600" cy="4351338"/>
          </a:xfrm>
        </p:spPr>
        <p:txBody>
          <a:bodyPr/>
          <a:lstStyle/>
          <a:p>
            <a:r>
              <a:rPr lang="en-US" dirty="0"/>
              <a:t>Written amendment to an existing contract</a:t>
            </a:r>
          </a:p>
          <a:p>
            <a:r>
              <a:rPr lang="en-US" dirty="0"/>
              <a:t>Irrevocable offer</a:t>
            </a:r>
          </a:p>
          <a:p>
            <a:r>
              <a:rPr lang="en-US" dirty="0"/>
              <a:t>Modified acceptance</a:t>
            </a:r>
          </a:p>
          <a:p>
            <a:r>
              <a:rPr lang="en-US" dirty="0"/>
              <a:t>Battle of the forms</a:t>
            </a:r>
          </a:p>
          <a:p>
            <a:r>
              <a:rPr lang="en-US" dirty="0"/>
              <a:t>Break-off of negotiations</a:t>
            </a:r>
            <a:endParaRPr lang="sr-Latn-ME" dirty="0"/>
          </a:p>
        </p:txBody>
      </p:sp>
      <p:sp>
        <p:nvSpPr>
          <p:cNvPr id="4" name="Rectangle 3">
            <a:extLst>
              <a:ext uri="{FF2B5EF4-FFF2-40B4-BE49-F238E27FC236}">
                <a16:creationId xmlns:a16="http://schemas.microsoft.com/office/drawing/2014/main" id="{FDB99064-DE39-474D-984A-A184D1DF0B4C}"/>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691F6003-859D-4C1D-9683-FF7161E36CD2}"/>
              </a:ext>
            </a:extLst>
          </p:cNvPr>
          <p:cNvSpPr/>
          <p:nvPr/>
        </p:nvSpPr>
        <p:spPr>
          <a:xfrm rot="16200000">
            <a:off x="4785414" y="5547413"/>
            <a:ext cx="589173"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2184BF65-D344-46FB-9186-182F451BE415}"/>
              </a:ext>
            </a:extLst>
          </p:cNvPr>
          <p:cNvSpPr/>
          <p:nvPr/>
        </p:nvSpPr>
        <p:spPr>
          <a:xfrm rot="16200000">
            <a:off x="6680724" y="5410723"/>
            <a:ext cx="862554"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36B92A5A-7734-4496-9B47-B3AA5426E70A}"/>
              </a:ext>
            </a:extLst>
          </p:cNvPr>
          <p:cNvSpPr/>
          <p:nvPr/>
        </p:nvSpPr>
        <p:spPr>
          <a:xfrm rot="16200000">
            <a:off x="8594272" y="5292271"/>
            <a:ext cx="1099457"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D6097C93-20F1-44FF-8477-2B21E6437DD2}"/>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C19BA65F-A299-4862-87E2-4ABEB7398DBD}"/>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B5E6E2DB-4490-41AD-AF0B-28403050CED1}"/>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48CDFA67-6FDF-4952-B6E1-AE0C02869469}"/>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8E9D11AB-C224-4F3B-AAD7-A51FC8CCCEB2}"/>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1AB987CC-5137-446C-A052-20754FD2588A}"/>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29F58AD4-5725-48BF-A329-3D9F685997C0}"/>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2647AA4E-41F1-4604-9418-52FC877CE011}"/>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A6F6ACD4-BB0D-46BC-A0BE-028E4AE11578}"/>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06ABF48B-E0EF-4E56-B2EE-ACE7809DD7B1}"/>
              </a:ext>
            </a:extLst>
          </p:cNvPr>
          <p:cNvCxnSpPr/>
          <p:nvPr/>
        </p:nvCxnSpPr>
        <p:spPr>
          <a:xfrm>
            <a:off x="669303" y="5812915"/>
            <a:ext cx="4402317"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CB7B6D35-0A34-4196-9909-C6AB890ABC16}"/>
              </a:ext>
            </a:extLst>
          </p:cNvPr>
          <p:cNvCxnSpPr>
            <a:cxnSpLocks/>
          </p:cNvCxnSpPr>
          <p:nvPr/>
        </p:nvCxnSpPr>
        <p:spPr>
          <a:xfrm>
            <a:off x="5071620" y="5812915"/>
            <a:ext cx="9763" cy="455911"/>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D7AB3FD-5AAF-40A1-8FA1-4B54D244E2C5}"/>
              </a:ext>
            </a:extLst>
          </p:cNvPr>
          <p:cNvCxnSpPr>
            <a:cxnSpLocks/>
          </p:cNvCxnSpPr>
          <p:nvPr/>
        </p:nvCxnSpPr>
        <p:spPr>
          <a:xfrm>
            <a:off x="669303" y="838986"/>
            <a:ext cx="0" cy="4973929"/>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6619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par>
                          <p:cTn id="28" fill="hold">
                            <p:stCondLst>
                              <p:cond delay="500"/>
                            </p:stCondLst>
                            <p:childTnLst>
                              <p:par>
                                <p:cTn id="29" presetID="10" presetClass="entr" presetSubtype="0" fill="hold" nodeType="after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childTnLst>
                          </p:cTn>
                        </p:par>
                        <p:par>
                          <p:cTn id="32" fill="hold">
                            <p:stCondLst>
                              <p:cond delay="1000"/>
                            </p:stCondLst>
                            <p:childTnLst>
                              <p:par>
                                <p:cTn id="33" presetID="2" presetClass="entr" presetSubtype="4" fill="hold" grpId="0" nodeType="after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5" dur="500" fill="hold"/>
                                        <p:tgtEl>
                                          <p:spTgt spid="9"/>
                                        </p:tgtEl>
                                        <p:attrNameLst>
                                          <p:attrName>ppt_x</p:attrName>
                                        </p:attrNameLst>
                                      </p:cBhvr>
                                      <p:tavLst>
                                        <p:tav tm="0">
                                          <p:val>
                                            <p:strVal val="#ppt_x"/>
                                          </p:val>
                                        </p:tav>
                                        <p:tav tm="100000">
                                          <p:val>
                                            <p:strVal val="#ppt_x"/>
                                          </p:val>
                                        </p:tav>
                                      </p:tavLst>
                                    </p:anim>
                                    <p:anim calcmode="lin" valueType="num">
                                      <p:cBhvr additive="base">
                                        <p:cTn id="36" dur="500" fill="hold"/>
                                        <p:tgtEl>
                                          <p:spTgt spid="9"/>
                                        </p:tgtEl>
                                        <p:attrNameLst>
                                          <p:attrName>ppt_y</p:attrName>
                                        </p:attrNameLst>
                                      </p:cBhvr>
                                      <p:tavLst>
                                        <p:tav tm="0">
                                          <p:val>
                                            <p:strVal val="1+#ppt_h/2"/>
                                          </p:val>
                                        </p:tav>
                                        <p:tav tm="100000">
                                          <p:val>
                                            <p:strVal val="#ppt_y"/>
                                          </p:val>
                                        </p:tav>
                                      </p:tavLst>
                                    </p:anim>
                                  </p:childTnLst>
                                </p:cTn>
                              </p:par>
                            </p:childTnLst>
                          </p:cTn>
                        </p:par>
                        <p:par>
                          <p:cTn id="37" fill="hold">
                            <p:stCondLst>
                              <p:cond delay="1500"/>
                            </p:stCondLst>
                            <p:childTnLst>
                              <p:par>
                                <p:cTn id="38" presetID="2" presetClass="entr" presetSubtype="4" fill="hold" grpId="0" nodeType="afterEffect">
                                  <p:stCondLst>
                                    <p:cond delay="0"/>
                                  </p:stCondLst>
                                  <p:childTnLst>
                                    <p:set>
                                      <p:cBhvr>
                                        <p:cTn id="39" dur="1" fill="hold">
                                          <p:stCondLst>
                                            <p:cond delay="0"/>
                                          </p:stCondLst>
                                        </p:cTn>
                                        <p:tgtEl>
                                          <p:spTgt spid="4"/>
                                        </p:tgtEl>
                                        <p:attrNameLst>
                                          <p:attrName>style.visibility</p:attrName>
                                        </p:attrNameLst>
                                      </p:cBhvr>
                                      <p:to>
                                        <p:strVal val="visible"/>
                                      </p:to>
                                    </p:set>
                                    <p:anim calcmode="lin" valueType="num">
                                      <p:cBhvr additive="base">
                                        <p:cTn id="40" dur="500" fill="hold"/>
                                        <p:tgtEl>
                                          <p:spTgt spid="4"/>
                                        </p:tgtEl>
                                        <p:attrNameLst>
                                          <p:attrName>ppt_x</p:attrName>
                                        </p:attrNameLst>
                                      </p:cBhvr>
                                      <p:tavLst>
                                        <p:tav tm="0">
                                          <p:val>
                                            <p:strVal val="#ppt_x"/>
                                          </p:val>
                                        </p:tav>
                                        <p:tav tm="100000">
                                          <p:val>
                                            <p:strVal val="#ppt_x"/>
                                          </p:val>
                                        </p:tav>
                                      </p:tavLst>
                                    </p:anim>
                                    <p:anim calcmode="lin" valueType="num">
                                      <p:cBhvr additive="base">
                                        <p:cTn id="41" dur="500" fill="hold"/>
                                        <p:tgtEl>
                                          <p:spTgt spid="4"/>
                                        </p:tgtEl>
                                        <p:attrNameLst>
                                          <p:attrName>ppt_y</p:attrName>
                                        </p:attrNameLst>
                                      </p:cBhvr>
                                      <p:tavLst>
                                        <p:tav tm="0">
                                          <p:val>
                                            <p:strVal val="1+#ppt_h/2"/>
                                          </p:val>
                                        </p:tav>
                                        <p:tav tm="100000">
                                          <p:val>
                                            <p:strVal val="#ppt_y"/>
                                          </p:val>
                                        </p:tav>
                                      </p:tavLst>
                                    </p:anim>
                                  </p:childTnLst>
                                </p:cTn>
                              </p:par>
                            </p:childTnLst>
                          </p:cTn>
                        </p:par>
                        <p:par>
                          <p:cTn id="42" fill="hold">
                            <p:stCondLst>
                              <p:cond delay="2000"/>
                            </p:stCondLst>
                            <p:childTnLst>
                              <p:par>
                                <p:cTn id="43" presetID="2" presetClass="entr" presetSubtype="4" fill="hold" grpId="0" nodeType="afterEffect">
                                  <p:stCondLst>
                                    <p:cond delay="0"/>
                                  </p:stCondLst>
                                  <p:childTnLst>
                                    <p:set>
                                      <p:cBhvr>
                                        <p:cTn id="44" dur="1" fill="hold">
                                          <p:stCondLst>
                                            <p:cond delay="0"/>
                                          </p:stCondLst>
                                        </p:cTn>
                                        <p:tgtEl>
                                          <p:spTgt spid="5"/>
                                        </p:tgtEl>
                                        <p:attrNameLst>
                                          <p:attrName>style.visibility</p:attrName>
                                        </p:attrNameLst>
                                      </p:cBhvr>
                                      <p:to>
                                        <p:strVal val="visible"/>
                                      </p:to>
                                    </p:set>
                                    <p:anim calcmode="lin" valueType="num">
                                      <p:cBhvr additive="base">
                                        <p:cTn id="45" dur="500" fill="hold"/>
                                        <p:tgtEl>
                                          <p:spTgt spid="5"/>
                                        </p:tgtEl>
                                        <p:attrNameLst>
                                          <p:attrName>ppt_x</p:attrName>
                                        </p:attrNameLst>
                                      </p:cBhvr>
                                      <p:tavLst>
                                        <p:tav tm="0">
                                          <p:val>
                                            <p:strVal val="#ppt_x"/>
                                          </p:val>
                                        </p:tav>
                                        <p:tav tm="100000">
                                          <p:val>
                                            <p:strVal val="#ppt_x"/>
                                          </p:val>
                                        </p:tav>
                                      </p:tavLst>
                                    </p:anim>
                                    <p:anim calcmode="lin" valueType="num">
                                      <p:cBhvr additive="base">
                                        <p:cTn id="46" dur="500" fill="hold"/>
                                        <p:tgtEl>
                                          <p:spTgt spid="5"/>
                                        </p:tgtEl>
                                        <p:attrNameLst>
                                          <p:attrName>ppt_y</p:attrName>
                                        </p:attrNameLst>
                                      </p:cBhvr>
                                      <p:tavLst>
                                        <p:tav tm="0">
                                          <p:val>
                                            <p:strVal val="1+#ppt_h/2"/>
                                          </p:val>
                                        </p:tav>
                                        <p:tav tm="100000">
                                          <p:val>
                                            <p:strVal val="#ppt_y"/>
                                          </p:val>
                                        </p:tav>
                                      </p:tavLst>
                                    </p:anim>
                                  </p:childTnLst>
                                </p:cTn>
                              </p:par>
                            </p:childTnLst>
                          </p:cTn>
                        </p:par>
                        <p:par>
                          <p:cTn id="47" fill="hold">
                            <p:stCondLst>
                              <p:cond delay="2500"/>
                            </p:stCondLst>
                            <p:childTnLst>
                              <p:par>
                                <p:cTn id="48" presetID="2" presetClass="entr" presetSubtype="4" fill="hold" grpId="0" nodeType="afterEffect">
                                  <p:stCondLst>
                                    <p:cond delay="0"/>
                                  </p:stCondLst>
                                  <p:childTnLst>
                                    <p:set>
                                      <p:cBhvr>
                                        <p:cTn id="49" dur="1" fill="hold">
                                          <p:stCondLst>
                                            <p:cond delay="0"/>
                                          </p:stCondLst>
                                        </p:cTn>
                                        <p:tgtEl>
                                          <p:spTgt spid="6"/>
                                        </p:tgtEl>
                                        <p:attrNameLst>
                                          <p:attrName>style.visibility</p:attrName>
                                        </p:attrNameLst>
                                      </p:cBhvr>
                                      <p:to>
                                        <p:strVal val="visible"/>
                                      </p:to>
                                    </p:set>
                                    <p:anim calcmode="lin" valueType="num">
                                      <p:cBhvr additive="base">
                                        <p:cTn id="50" dur="500" fill="hold"/>
                                        <p:tgtEl>
                                          <p:spTgt spid="6"/>
                                        </p:tgtEl>
                                        <p:attrNameLst>
                                          <p:attrName>ppt_x</p:attrName>
                                        </p:attrNameLst>
                                      </p:cBhvr>
                                      <p:tavLst>
                                        <p:tav tm="0">
                                          <p:val>
                                            <p:strVal val="#ppt_x"/>
                                          </p:val>
                                        </p:tav>
                                        <p:tav tm="100000">
                                          <p:val>
                                            <p:strVal val="#ppt_x"/>
                                          </p:val>
                                        </p:tav>
                                      </p:tavLst>
                                    </p:anim>
                                    <p:anim calcmode="lin" valueType="num">
                                      <p:cBhvr additive="base">
                                        <p:cTn id="51" dur="500" fill="hold"/>
                                        <p:tgtEl>
                                          <p:spTgt spid="6"/>
                                        </p:tgtEl>
                                        <p:attrNameLst>
                                          <p:attrName>ppt_y</p:attrName>
                                        </p:attrNameLst>
                                      </p:cBhvr>
                                      <p:tavLst>
                                        <p:tav tm="0">
                                          <p:val>
                                            <p:strVal val="1+#ppt_h/2"/>
                                          </p:val>
                                        </p:tav>
                                        <p:tav tm="100000">
                                          <p:val>
                                            <p:strVal val="#ppt_y"/>
                                          </p:val>
                                        </p:tav>
                                      </p:tavLst>
                                    </p:anim>
                                  </p:childTnLst>
                                </p:cTn>
                              </p:par>
                            </p:childTnLst>
                          </p:cTn>
                        </p:par>
                        <p:par>
                          <p:cTn id="52" fill="hold">
                            <p:stCondLst>
                              <p:cond delay="3000"/>
                            </p:stCondLst>
                            <p:childTnLst>
                              <p:par>
                                <p:cTn id="53" presetID="2" presetClass="entr" presetSubtype="4" fill="hold" grpId="0" nodeType="afterEffect">
                                  <p:stCondLst>
                                    <p:cond delay="0"/>
                                  </p:stCondLst>
                                  <p:childTnLst>
                                    <p:set>
                                      <p:cBhvr>
                                        <p:cTn id="54" dur="1" fill="hold">
                                          <p:stCondLst>
                                            <p:cond delay="0"/>
                                          </p:stCondLst>
                                        </p:cTn>
                                        <p:tgtEl>
                                          <p:spTgt spid="7"/>
                                        </p:tgtEl>
                                        <p:attrNameLst>
                                          <p:attrName>style.visibility</p:attrName>
                                        </p:attrNameLst>
                                      </p:cBhvr>
                                      <p:to>
                                        <p:strVal val="visible"/>
                                      </p:to>
                                    </p:set>
                                    <p:anim calcmode="lin" valueType="num">
                                      <p:cBhvr additive="base">
                                        <p:cTn id="55" dur="500" fill="hold"/>
                                        <p:tgtEl>
                                          <p:spTgt spid="7"/>
                                        </p:tgtEl>
                                        <p:attrNameLst>
                                          <p:attrName>ppt_x</p:attrName>
                                        </p:attrNameLst>
                                      </p:cBhvr>
                                      <p:tavLst>
                                        <p:tav tm="0">
                                          <p:val>
                                            <p:strVal val="#ppt_x"/>
                                          </p:val>
                                        </p:tav>
                                        <p:tav tm="100000">
                                          <p:val>
                                            <p:strVal val="#ppt_x"/>
                                          </p:val>
                                        </p:tav>
                                      </p:tavLst>
                                    </p:anim>
                                    <p:anim calcmode="lin" valueType="num">
                                      <p:cBhvr additive="base">
                                        <p:cTn id="56" dur="500" fill="hold"/>
                                        <p:tgtEl>
                                          <p:spTgt spid="7"/>
                                        </p:tgtEl>
                                        <p:attrNameLst>
                                          <p:attrName>ppt_y</p:attrName>
                                        </p:attrNameLst>
                                      </p:cBhvr>
                                      <p:tavLst>
                                        <p:tav tm="0">
                                          <p:val>
                                            <p:strVal val="1+#ppt_h/2"/>
                                          </p:val>
                                        </p:tav>
                                        <p:tav tm="100000">
                                          <p:val>
                                            <p:strVal val="#ppt_y"/>
                                          </p:val>
                                        </p:tav>
                                      </p:tavLst>
                                    </p:anim>
                                  </p:childTnLst>
                                </p:cTn>
                              </p:par>
                            </p:childTnLst>
                          </p:cTn>
                        </p:par>
                        <p:par>
                          <p:cTn id="57" fill="hold">
                            <p:stCondLst>
                              <p:cond delay="3500"/>
                            </p:stCondLst>
                            <p:childTnLst>
                              <p:par>
                                <p:cTn id="58" presetID="2" presetClass="entr" presetSubtype="4" fill="hold" grpId="0" nodeType="afterEffect">
                                  <p:stCondLst>
                                    <p:cond delay="0"/>
                                  </p:stCondLst>
                                  <p:childTnLst>
                                    <p:set>
                                      <p:cBhvr>
                                        <p:cTn id="59" dur="1" fill="hold">
                                          <p:stCondLst>
                                            <p:cond delay="0"/>
                                          </p:stCondLst>
                                        </p:cTn>
                                        <p:tgtEl>
                                          <p:spTgt spid="8"/>
                                        </p:tgtEl>
                                        <p:attrNameLst>
                                          <p:attrName>style.visibility</p:attrName>
                                        </p:attrNameLst>
                                      </p:cBhvr>
                                      <p:to>
                                        <p:strVal val="visible"/>
                                      </p:to>
                                    </p:set>
                                    <p:anim calcmode="lin" valueType="num">
                                      <p:cBhvr additive="base">
                                        <p:cTn id="60" dur="500" fill="hold"/>
                                        <p:tgtEl>
                                          <p:spTgt spid="8"/>
                                        </p:tgtEl>
                                        <p:attrNameLst>
                                          <p:attrName>ppt_x</p:attrName>
                                        </p:attrNameLst>
                                      </p:cBhvr>
                                      <p:tavLst>
                                        <p:tav tm="0">
                                          <p:val>
                                            <p:strVal val="#ppt_x"/>
                                          </p:val>
                                        </p:tav>
                                        <p:tav tm="100000">
                                          <p:val>
                                            <p:strVal val="#ppt_x"/>
                                          </p:val>
                                        </p:tav>
                                      </p:tavLst>
                                    </p:anim>
                                    <p:anim calcmode="lin" valueType="num">
                                      <p:cBhvr additive="base">
                                        <p:cTn id="61" dur="500" fill="hold"/>
                                        <p:tgtEl>
                                          <p:spTgt spid="8"/>
                                        </p:tgtEl>
                                        <p:attrNameLst>
                                          <p:attrName>ppt_y</p:attrName>
                                        </p:attrNameLst>
                                      </p:cBhvr>
                                      <p:tavLst>
                                        <p:tav tm="0">
                                          <p:val>
                                            <p:strVal val="1+#ppt_h/2"/>
                                          </p:val>
                                        </p:tav>
                                        <p:tav tm="100000">
                                          <p:val>
                                            <p:strVal val="#ppt_y"/>
                                          </p:val>
                                        </p:tav>
                                      </p:tavLst>
                                    </p:anim>
                                  </p:childTnLst>
                                </p:cTn>
                              </p:par>
                            </p:childTnLst>
                          </p:cTn>
                        </p:par>
                        <p:par>
                          <p:cTn id="62" fill="hold">
                            <p:stCondLst>
                              <p:cond delay="4000"/>
                            </p:stCondLst>
                            <p:childTnLst>
                              <p:par>
                                <p:cTn id="63" presetID="22" presetClass="entr" presetSubtype="4" fill="hold" nodeType="afterEffect">
                                  <p:stCondLst>
                                    <p:cond delay="0"/>
                                  </p:stCondLst>
                                  <p:childTnLst>
                                    <p:set>
                                      <p:cBhvr>
                                        <p:cTn id="64" dur="1" fill="hold">
                                          <p:stCondLst>
                                            <p:cond delay="0"/>
                                          </p:stCondLst>
                                        </p:cTn>
                                        <p:tgtEl>
                                          <p:spTgt spid="18"/>
                                        </p:tgtEl>
                                        <p:attrNameLst>
                                          <p:attrName>style.visibility</p:attrName>
                                        </p:attrNameLst>
                                      </p:cBhvr>
                                      <p:to>
                                        <p:strVal val="visible"/>
                                      </p:to>
                                    </p:set>
                                    <p:animEffect transition="in" filter="wipe(down)">
                                      <p:cBhvr>
                                        <p:cTn id="65" dur="500"/>
                                        <p:tgtEl>
                                          <p:spTgt spid="18"/>
                                        </p:tgtEl>
                                      </p:cBhvr>
                                    </p:animEffect>
                                  </p:childTnLst>
                                </p:cTn>
                              </p:par>
                            </p:childTnLst>
                          </p:cTn>
                        </p:par>
                        <p:par>
                          <p:cTn id="66" fill="hold">
                            <p:stCondLst>
                              <p:cond delay="4500"/>
                            </p:stCondLst>
                            <p:childTnLst>
                              <p:par>
                                <p:cTn id="67" presetID="22" presetClass="entr" presetSubtype="2" fill="hold" nodeType="afterEffect">
                                  <p:stCondLst>
                                    <p:cond delay="0"/>
                                  </p:stCondLst>
                                  <p:childTnLst>
                                    <p:set>
                                      <p:cBhvr>
                                        <p:cTn id="68" dur="1" fill="hold">
                                          <p:stCondLst>
                                            <p:cond delay="0"/>
                                          </p:stCondLst>
                                        </p:cTn>
                                        <p:tgtEl>
                                          <p:spTgt spid="17"/>
                                        </p:tgtEl>
                                        <p:attrNameLst>
                                          <p:attrName>style.visibility</p:attrName>
                                        </p:attrNameLst>
                                      </p:cBhvr>
                                      <p:to>
                                        <p:strVal val="visible"/>
                                      </p:to>
                                    </p:set>
                                    <p:animEffect transition="in" filter="wipe(right)">
                                      <p:cBhvr>
                                        <p:cTn id="69" dur="500"/>
                                        <p:tgtEl>
                                          <p:spTgt spid="17"/>
                                        </p:tgtEl>
                                      </p:cBhvr>
                                    </p:animEffect>
                                  </p:childTnLst>
                                </p:cTn>
                              </p:par>
                            </p:childTnLst>
                          </p:cTn>
                        </p:par>
                        <p:par>
                          <p:cTn id="70" fill="hold">
                            <p:stCondLst>
                              <p:cond delay="5000"/>
                            </p:stCondLst>
                            <p:childTnLst>
                              <p:par>
                                <p:cTn id="71" presetID="22" presetClass="entr" presetSubtype="4" fill="hold" nodeType="afterEffect">
                                  <p:stCondLst>
                                    <p:cond delay="0"/>
                                  </p:stCondLst>
                                  <p:childTnLst>
                                    <p:set>
                                      <p:cBhvr>
                                        <p:cTn id="72" dur="1" fill="hold">
                                          <p:stCondLst>
                                            <p:cond delay="0"/>
                                          </p:stCondLst>
                                        </p:cTn>
                                        <p:tgtEl>
                                          <p:spTgt spid="19"/>
                                        </p:tgtEl>
                                        <p:attrNameLst>
                                          <p:attrName>style.visibility</p:attrName>
                                        </p:attrNameLst>
                                      </p:cBhvr>
                                      <p:to>
                                        <p:strVal val="visible"/>
                                      </p:to>
                                    </p:set>
                                    <p:animEffect transition="in" filter="wipe(down)">
                                      <p:cBhvr>
                                        <p:cTn id="73"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5" grpId="0" animBg="1"/>
      <p:bldP spid="6" grpId="0" animBg="1"/>
      <p:bldP spid="7" grpId="0" animBg="1"/>
      <p:bldP spid="8" grpId="0" animBg="1"/>
      <p:bldP spid="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054" y="694840"/>
            <a:ext cx="8652294" cy="1143000"/>
          </a:xfrm>
        </p:spPr>
        <p:txBody>
          <a:bodyPr/>
          <a:lstStyle/>
          <a:p>
            <a:r>
              <a:rPr lang="en-US" dirty="0"/>
              <a:t>Legal systems we’ll compare</a:t>
            </a:r>
          </a:p>
        </p:txBody>
      </p:sp>
      <p:sp>
        <p:nvSpPr>
          <p:cNvPr id="3" name="Content Placeholder 2"/>
          <p:cNvSpPr>
            <a:spLocks noGrp="1"/>
          </p:cNvSpPr>
          <p:nvPr>
            <p:ph idx="1"/>
          </p:nvPr>
        </p:nvSpPr>
        <p:spPr>
          <a:xfrm>
            <a:off x="1841716" y="2116810"/>
            <a:ext cx="8735877" cy="4351338"/>
          </a:xfrm>
        </p:spPr>
        <p:txBody>
          <a:bodyPr/>
          <a:lstStyle/>
          <a:p>
            <a:r>
              <a:rPr lang="en-US" dirty="0"/>
              <a:t>Norwegian law</a:t>
            </a:r>
          </a:p>
          <a:p>
            <a:r>
              <a:rPr lang="en-US" dirty="0"/>
              <a:t>German law</a:t>
            </a:r>
          </a:p>
          <a:p>
            <a:r>
              <a:rPr lang="en-US" dirty="0"/>
              <a:t>Italian law</a:t>
            </a:r>
          </a:p>
          <a:p>
            <a:r>
              <a:rPr lang="en-US" dirty="0"/>
              <a:t>English law</a:t>
            </a:r>
          </a:p>
        </p:txBody>
      </p:sp>
      <p:sp>
        <p:nvSpPr>
          <p:cNvPr id="4" name="Rectangle 3">
            <a:extLst>
              <a:ext uri="{FF2B5EF4-FFF2-40B4-BE49-F238E27FC236}">
                <a16:creationId xmlns:a16="http://schemas.microsoft.com/office/drawing/2014/main" id="{85436459-6197-4A7C-8294-DF77C06D1F1A}"/>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DFEAD579-7F80-494A-92CF-985D63BEAD9B}"/>
              </a:ext>
            </a:extLst>
          </p:cNvPr>
          <p:cNvSpPr/>
          <p:nvPr/>
        </p:nvSpPr>
        <p:spPr>
          <a:xfrm rot="16200000">
            <a:off x="4785414" y="5547413"/>
            <a:ext cx="589173"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AE45F16A-8377-4678-9208-5E7B97642196}"/>
              </a:ext>
            </a:extLst>
          </p:cNvPr>
          <p:cNvSpPr/>
          <p:nvPr/>
        </p:nvSpPr>
        <p:spPr>
          <a:xfrm rot="16200000">
            <a:off x="6680724" y="5410723"/>
            <a:ext cx="862554"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741C503C-35B3-40EA-A684-892FA0284E04}"/>
              </a:ext>
            </a:extLst>
          </p:cNvPr>
          <p:cNvSpPr/>
          <p:nvPr/>
        </p:nvSpPr>
        <p:spPr>
          <a:xfrm rot="16200000">
            <a:off x="8594272" y="5292271"/>
            <a:ext cx="1099457"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A043603E-D09F-417D-A36F-EC3F306D2E6C}"/>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573DB867-3E11-4494-BBCA-0C0E8AAAEB66}"/>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7C084B1E-3027-402A-873F-10E3804A795A}"/>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ACC8524F-46C0-46A0-A4B9-78C9F35C92F4}"/>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68A9C6BE-58BD-472F-AE74-3C0985C88432}"/>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F80EE65D-528C-4089-B115-018F6EDB2B4D}"/>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62A58250-49FE-4791-9169-9879BA240E3A}"/>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7400BB0B-66CD-4027-BDF4-915A60EDFA16}"/>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ADF4CFB0-A7DE-4E0A-AA44-A8ECD5DD52A3}"/>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713B84F8-D4D6-47BB-A7A0-7F8ADD293C04}"/>
              </a:ext>
            </a:extLst>
          </p:cNvPr>
          <p:cNvCxnSpPr/>
          <p:nvPr/>
        </p:nvCxnSpPr>
        <p:spPr>
          <a:xfrm>
            <a:off x="669303" y="5812915"/>
            <a:ext cx="4402317"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518AE2C-B521-40DA-AAF1-617F88D56F1B}"/>
              </a:ext>
            </a:extLst>
          </p:cNvPr>
          <p:cNvCxnSpPr>
            <a:cxnSpLocks/>
          </p:cNvCxnSpPr>
          <p:nvPr/>
        </p:nvCxnSpPr>
        <p:spPr>
          <a:xfrm>
            <a:off x="5071620" y="5812915"/>
            <a:ext cx="9763" cy="455911"/>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F3B4FF7A-9385-402F-9B1D-7EE4F9F4890A}"/>
              </a:ext>
            </a:extLst>
          </p:cNvPr>
          <p:cNvCxnSpPr>
            <a:cxnSpLocks/>
          </p:cNvCxnSpPr>
          <p:nvPr/>
        </p:nvCxnSpPr>
        <p:spPr>
          <a:xfrm>
            <a:off x="669303" y="838986"/>
            <a:ext cx="0" cy="4973929"/>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873654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additive="base">
                                        <p:cTn id="16" dur="500" fill="hold"/>
                                        <p:tgtEl>
                                          <p:spTgt spid="4"/>
                                        </p:tgtEl>
                                        <p:attrNameLst>
                                          <p:attrName>ppt_x</p:attrName>
                                        </p:attrNameLst>
                                      </p:cBhvr>
                                      <p:tavLst>
                                        <p:tav tm="0">
                                          <p:val>
                                            <p:strVal val="#ppt_x"/>
                                          </p:val>
                                        </p:tav>
                                        <p:tav tm="100000">
                                          <p:val>
                                            <p:strVal val="#ppt_x"/>
                                          </p:val>
                                        </p:tav>
                                      </p:tavLst>
                                    </p:anim>
                                    <p:anim calcmode="lin" valueType="num">
                                      <p:cBhvr additive="base">
                                        <p:cTn id="17" dur="500" fill="hold"/>
                                        <p:tgtEl>
                                          <p:spTgt spid="4"/>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additive="base">
                                        <p:cTn id="26" dur="500" fill="hold"/>
                                        <p:tgtEl>
                                          <p:spTgt spid="6"/>
                                        </p:tgtEl>
                                        <p:attrNameLst>
                                          <p:attrName>ppt_x</p:attrName>
                                        </p:attrNameLst>
                                      </p:cBhvr>
                                      <p:tavLst>
                                        <p:tav tm="0">
                                          <p:val>
                                            <p:strVal val="#ppt_x"/>
                                          </p:val>
                                        </p:tav>
                                        <p:tav tm="100000">
                                          <p:val>
                                            <p:strVal val="#ppt_x"/>
                                          </p:val>
                                        </p:tav>
                                      </p:tavLst>
                                    </p:anim>
                                    <p:anim calcmode="lin" valueType="num">
                                      <p:cBhvr additive="base">
                                        <p:cTn id="27" dur="500" fill="hold"/>
                                        <p:tgtEl>
                                          <p:spTgt spid="6"/>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ppt_x"/>
                                          </p:val>
                                        </p:tav>
                                        <p:tav tm="100000">
                                          <p:val>
                                            <p:strVal val="#ppt_x"/>
                                          </p:val>
                                        </p:tav>
                                      </p:tavLst>
                                    </p:anim>
                                    <p:anim calcmode="lin" valueType="num">
                                      <p:cBhvr additive="base">
                                        <p:cTn id="32" dur="500" fill="hold"/>
                                        <p:tgtEl>
                                          <p:spTgt spid="7"/>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ntr" presetSubtype="4" fill="hold" grpId="0" nodeType="after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additive="base">
                                        <p:cTn id="36" dur="500" fill="hold"/>
                                        <p:tgtEl>
                                          <p:spTgt spid="8"/>
                                        </p:tgtEl>
                                        <p:attrNameLst>
                                          <p:attrName>ppt_x</p:attrName>
                                        </p:attrNameLst>
                                      </p:cBhvr>
                                      <p:tavLst>
                                        <p:tav tm="0">
                                          <p:val>
                                            <p:strVal val="#ppt_x"/>
                                          </p:val>
                                        </p:tav>
                                        <p:tav tm="100000">
                                          <p:val>
                                            <p:strVal val="#ppt_x"/>
                                          </p:val>
                                        </p:tav>
                                      </p:tavLst>
                                    </p:anim>
                                    <p:anim calcmode="lin" valueType="num">
                                      <p:cBhvr additive="base">
                                        <p:cTn id="37" dur="500" fill="hold"/>
                                        <p:tgtEl>
                                          <p:spTgt spid="8"/>
                                        </p:tgtEl>
                                        <p:attrNameLst>
                                          <p:attrName>ppt_y</p:attrName>
                                        </p:attrNameLst>
                                      </p:cBhvr>
                                      <p:tavLst>
                                        <p:tav tm="0">
                                          <p:val>
                                            <p:strVal val="1+#ppt_h/2"/>
                                          </p:val>
                                        </p:tav>
                                        <p:tav tm="100000">
                                          <p:val>
                                            <p:strVal val="#ppt_y"/>
                                          </p:val>
                                        </p:tav>
                                      </p:tavLst>
                                    </p:anim>
                                  </p:childTnLst>
                                </p:cTn>
                              </p:par>
                            </p:childTnLst>
                          </p:cTn>
                        </p:par>
                        <p:par>
                          <p:cTn id="38" fill="hold">
                            <p:stCondLst>
                              <p:cond delay="3500"/>
                            </p:stCondLst>
                            <p:childTnLst>
                              <p:par>
                                <p:cTn id="39" presetID="22" presetClass="entr" presetSubtype="4" fill="hold" nodeType="after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wipe(down)">
                                      <p:cBhvr>
                                        <p:cTn id="41" dur="500"/>
                                        <p:tgtEl>
                                          <p:spTgt spid="18"/>
                                        </p:tgtEl>
                                      </p:cBhvr>
                                    </p:animEffect>
                                  </p:childTnLst>
                                </p:cTn>
                              </p:par>
                            </p:childTnLst>
                          </p:cTn>
                        </p:par>
                        <p:par>
                          <p:cTn id="42" fill="hold">
                            <p:stCondLst>
                              <p:cond delay="4000"/>
                            </p:stCondLst>
                            <p:childTnLst>
                              <p:par>
                                <p:cTn id="43" presetID="22" presetClass="entr" presetSubtype="2" fill="hold" nodeType="after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wipe(right)">
                                      <p:cBhvr>
                                        <p:cTn id="45" dur="500"/>
                                        <p:tgtEl>
                                          <p:spTgt spid="17"/>
                                        </p:tgtEl>
                                      </p:cBhvr>
                                    </p:animEffect>
                                  </p:childTnLst>
                                </p:cTn>
                              </p:par>
                            </p:childTnLst>
                          </p:cTn>
                        </p:par>
                        <p:par>
                          <p:cTn id="46" fill="hold">
                            <p:stCondLst>
                              <p:cond delay="4500"/>
                            </p:stCondLst>
                            <p:childTnLst>
                              <p:par>
                                <p:cTn id="47" presetID="22" presetClass="entr" presetSubtype="4" fill="hold" nodeType="after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wipe(down)">
                                      <p:cBhvr>
                                        <p:cTn id="4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Norwegian law</a:t>
            </a:r>
            <a:endParaRPr lang="sr-Latn-ME" dirty="0"/>
          </a:p>
        </p:txBody>
      </p:sp>
      <p:sp>
        <p:nvSpPr>
          <p:cNvPr id="3" name="Content Placeholder 2"/>
          <p:cNvSpPr>
            <a:spLocks noGrp="1"/>
          </p:cNvSpPr>
          <p:nvPr>
            <p:ph idx="1"/>
          </p:nvPr>
        </p:nvSpPr>
        <p:spPr>
          <a:xfrm>
            <a:off x="838200" y="1825625"/>
            <a:ext cx="10515600" cy="3323271"/>
          </a:xfrm>
        </p:spPr>
        <p:txBody>
          <a:bodyPr>
            <a:normAutofit fontScale="77500" lnSpcReduction="20000"/>
          </a:bodyPr>
          <a:lstStyle/>
          <a:p>
            <a:pPr algn="just"/>
            <a:r>
              <a:rPr lang="en-US" dirty="0"/>
              <a:t>Basis: Act on Formation of Contracts and judicial practice</a:t>
            </a:r>
          </a:p>
          <a:p>
            <a:pPr algn="just"/>
            <a:r>
              <a:rPr lang="en-US" dirty="0"/>
              <a:t>“Mirror image rule”: offer and completely corresponding acceptance</a:t>
            </a:r>
          </a:p>
          <a:p>
            <a:pPr algn="just"/>
            <a:r>
              <a:rPr lang="en-US" dirty="0"/>
              <a:t>No form requirements</a:t>
            </a:r>
          </a:p>
          <a:p>
            <a:pPr algn="just"/>
            <a:endParaRPr lang="en-US" dirty="0"/>
          </a:p>
          <a:p>
            <a:pPr algn="just"/>
            <a:r>
              <a:rPr lang="en-US" dirty="0"/>
              <a:t>The offer is binding on the </a:t>
            </a:r>
            <a:r>
              <a:rPr lang="en-US" dirty="0" err="1"/>
              <a:t>offeror</a:t>
            </a:r>
            <a:r>
              <a:rPr lang="en-US" dirty="0"/>
              <a:t> from the moment in which the offeree has obtained knowledge thereof</a:t>
            </a:r>
          </a:p>
          <a:p>
            <a:pPr algn="just"/>
            <a:endParaRPr lang="en-US" dirty="0"/>
          </a:p>
          <a:p>
            <a:pPr algn="just"/>
            <a:r>
              <a:rPr lang="en-US" dirty="0"/>
              <a:t>If the offeree believed, in sending a differing acceptance, that the acceptance was conforming, and if the </a:t>
            </a:r>
            <a:r>
              <a:rPr lang="en-US" dirty="0" err="1"/>
              <a:t>offeror</a:t>
            </a:r>
            <a:r>
              <a:rPr lang="en-US" dirty="0"/>
              <a:t> understood this circumstance, the contract is deemed concluded on the basis of the terms contained in the differing acceptance.</a:t>
            </a:r>
            <a:endParaRPr lang="sr-Latn-ME" dirty="0"/>
          </a:p>
        </p:txBody>
      </p:sp>
      <p:sp>
        <p:nvSpPr>
          <p:cNvPr id="4" name="Rectangle 3">
            <a:extLst>
              <a:ext uri="{FF2B5EF4-FFF2-40B4-BE49-F238E27FC236}">
                <a16:creationId xmlns:a16="http://schemas.microsoft.com/office/drawing/2014/main" id="{C86F0E81-F37C-4F75-AABF-43700F4FF39C}"/>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91D6B976-BD96-4526-A1BF-E3DBD8839126}"/>
              </a:ext>
            </a:extLst>
          </p:cNvPr>
          <p:cNvSpPr/>
          <p:nvPr/>
        </p:nvSpPr>
        <p:spPr>
          <a:xfrm rot="16200000">
            <a:off x="4785414" y="5547413"/>
            <a:ext cx="589173"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C7E06400-3463-4BD9-BF06-548AB08A722D}"/>
              </a:ext>
            </a:extLst>
          </p:cNvPr>
          <p:cNvSpPr/>
          <p:nvPr/>
        </p:nvSpPr>
        <p:spPr>
          <a:xfrm rot="16200000">
            <a:off x="6680724" y="5410723"/>
            <a:ext cx="862554"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5B96469E-64FA-4470-8336-A95DEB4B5A1E}"/>
              </a:ext>
            </a:extLst>
          </p:cNvPr>
          <p:cNvSpPr/>
          <p:nvPr/>
        </p:nvSpPr>
        <p:spPr>
          <a:xfrm rot="16200000">
            <a:off x="8594272" y="5292271"/>
            <a:ext cx="1099457"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2959926B-A35D-4E35-A62F-4ED79F715F59}"/>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4D64615E-B59D-492C-9F26-EBCF4A1B4B6B}"/>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F6A78187-E35F-437B-94AF-B7621E77C037}"/>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DB0DAF10-FD4D-4050-8CC8-34ECD36FA75E}"/>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4C09EFD9-6DF8-4D5F-9AF4-5D178388D596}"/>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5762BC67-E75E-4D1D-BC6C-21701B85E508}"/>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D4949E18-3739-4DBB-B11F-F1964B50B662}"/>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0109D453-70C5-4BC2-805F-5209C458986C}"/>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52C52CFA-B446-4DC4-9747-63CF402394CB}"/>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6F6CDB8E-33D8-49EC-9D5E-ABF9B55BE823}"/>
              </a:ext>
            </a:extLst>
          </p:cNvPr>
          <p:cNvCxnSpPr/>
          <p:nvPr/>
        </p:nvCxnSpPr>
        <p:spPr>
          <a:xfrm>
            <a:off x="669303" y="5812915"/>
            <a:ext cx="4402317"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61BDFA4-C737-4FD1-B605-0BD79EE72595}"/>
              </a:ext>
            </a:extLst>
          </p:cNvPr>
          <p:cNvCxnSpPr>
            <a:cxnSpLocks/>
          </p:cNvCxnSpPr>
          <p:nvPr/>
        </p:nvCxnSpPr>
        <p:spPr>
          <a:xfrm>
            <a:off x="5071620" y="5812915"/>
            <a:ext cx="9763" cy="455911"/>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017A6144-A972-4A0F-92B6-0AA74BD69398}"/>
              </a:ext>
            </a:extLst>
          </p:cNvPr>
          <p:cNvCxnSpPr>
            <a:cxnSpLocks/>
          </p:cNvCxnSpPr>
          <p:nvPr/>
        </p:nvCxnSpPr>
        <p:spPr>
          <a:xfrm>
            <a:off x="669303" y="838986"/>
            <a:ext cx="0" cy="4973929"/>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6825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additive="base">
                                        <p:cTn id="16" dur="500" fill="hold"/>
                                        <p:tgtEl>
                                          <p:spTgt spid="4"/>
                                        </p:tgtEl>
                                        <p:attrNameLst>
                                          <p:attrName>ppt_x</p:attrName>
                                        </p:attrNameLst>
                                      </p:cBhvr>
                                      <p:tavLst>
                                        <p:tav tm="0">
                                          <p:val>
                                            <p:strVal val="#ppt_x"/>
                                          </p:val>
                                        </p:tav>
                                        <p:tav tm="100000">
                                          <p:val>
                                            <p:strVal val="#ppt_x"/>
                                          </p:val>
                                        </p:tav>
                                      </p:tavLst>
                                    </p:anim>
                                    <p:anim calcmode="lin" valueType="num">
                                      <p:cBhvr additive="base">
                                        <p:cTn id="17" dur="500" fill="hold"/>
                                        <p:tgtEl>
                                          <p:spTgt spid="4"/>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additive="base">
                                        <p:cTn id="26" dur="500" fill="hold"/>
                                        <p:tgtEl>
                                          <p:spTgt spid="6"/>
                                        </p:tgtEl>
                                        <p:attrNameLst>
                                          <p:attrName>ppt_x</p:attrName>
                                        </p:attrNameLst>
                                      </p:cBhvr>
                                      <p:tavLst>
                                        <p:tav tm="0">
                                          <p:val>
                                            <p:strVal val="#ppt_x"/>
                                          </p:val>
                                        </p:tav>
                                        <p:tav tm="100000">
                                          <p:val>
                                            <p:strVal val="#ppt_x"/>
                                          </p:val>
                                        </p:tav>
                                      </p:tavLst>
                                    </p:anim>
                                    <p:anim calcmode="lin" valueType="num">
                                      <p:cBhvr additive="base">
                                        <p:cTn id="27" dur="500" fill="hold"/>
                                        <p:tgtEl>
                                          <p:spTgt spid="6"/>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ppt_x"/>
                                          </p:val>
                                        </p:tav>
                                        <p:tav tm="100000">
                                          <p:val>
                                            <p:strVal val="#ppt_x"/>
                                          </p:val>
                                        </p:tav>
                                      </p:tavLst>
                                    </p:anim>
                                    <p:anim calcmode="lin" valueType="num">
                                      <p:cBhvr additive="base">
                                        <p:cTn id="32" dur="500" fill="hold"/>
                                        <p:tgtEl>
                                          <p:spTgt spid="7"/>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ntr" presetSubtype="4" fill="hold" grpId="0" nodeType="after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additive="base">
                                        <p:cTn id="36" dur="500" fill="hold"/>
                                        <p:tgtEl>
                                          <p:spTgt spid="8"/>
                                        </p:tgtEl>
                                        <p:attrNameLst>
                                          <p:attrName>ppt_x</p:attrName>
                                        </p:attrNameLst>
                                      </p:cBhvr>
                                      <p:tavLst>
                                        <p:tav tm="0">
                                          <p:val>
                                            <p:strVal val="#ppt_x"/>
                                          </p:val>
                                        </p:tav>
                                        <p:tav tm="100000">
                                          <p:val>
                                            <p:strVal val="#ppt_x"/>
                                          </p:val>
                                        </p:tav>
                                      </p:tavLst>
                                    </p:anim>
                                    <p:anim calcmode="lin" valueType="num">
                                      <p:cBhvr additive="base">
                                        <p:cTn id="37" dur="500" fill="hold"/>
                                        <p:tgtEl>
                                          <p:spTgt spid="8"/>
                                        </p:tgtEl>
                                        <p:attrNameLst>
                                          <p:attrName>ppt_y</p:attrName>
                                        </p:attrNameLst>
                                      </p:cBhvr>
                                      <p:tavLst>
                                        <p:tav tm="0">
                                          <p:val>
                                            <p:strVal val="1+#ppt_h/2"/>
                                          </p:val>
                                        </p:tav>
                                        <p:tav tm="100000">
                                          <p:val>
                                            <p:strVal val="#ppt_y"/>
                                          </p:val>
                                        </p:tav>
                                      </p:tavLst>
                                    </p:anim>
                                  </p:childTnLst>
                                </p:cTn>
                              </p:par>
                            </p:childTnLst>
                          </p:cTn>
                        </p:par>
                        <p:par>
                          <p:cTn id="38" fill="hold">
                            <p:stCondLst>
                              <p:cond delay="3500"/>
                            </p:stCondLst>
                            <p:childTnLst>
                              <p:par>
                                <p:cTn id="39" presetID="22" presetClass="entr" presetSubtype="4" fill="hold" nodeType="after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wipe(down)">
                                      <p:cBhvr>
                                        <p:cTn id="41" dur="500"/>
                                        <p:tgtEl>
                                          <p:spTgt spid="18"/>
                                        </p:tgtEl>
                                      </p:cBhvr>
                                    </p:animEffect>
                                  </p:childTnLst>
                                </p:cTn>
                              </p:par>
                            </p:childTnLst>
                          </p:cTn>
                        </p:par>
                        <p:par>
                          <p:cTn id="42" fill="hold">
                            <p:stCondLst>
                              <p:cond delay="4000"/>
                            </p:stCondLst>
                            <p:childTnLst>
                              <p:par>
                                <p:cTn id="43" presetID="22" presetClass="entr" presetSubtype="2" fill="hold" nodeType="after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wipe(right)">
                                      <p:cBhvr>
                                        <p:cTn id="45" dur="500"/>
                                        <p:tgtEl>
                                          <p:spTgt spid="17"/>
                                        </p:tgtEl>
                                      </p:cBhvr>
                                    </p:animEffect>
                                  </p:childTnLst>
                                </p:cTn>
                              </p:par>
                            </p:childTnLst>
                          </p:cTn>
                        </p:par>
                        <p:par>
                          <p:cTn id="46" fill="hold">
                            <p:stCondLst>
                              <p:cond delay="4500"/>
                            </p:stCondLst>
                            <p:childTnLst>
                              <p:par>
                                <p:cTn id="47" presetID="22" presetClass="entr" presetSubtype="4" fill="hold" nodeType="after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wipe(down)">
                                      <p:cBhvr>
                                        <p:cTn id="4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Norwegian law</a:t>
            </a:r>
            <a:endParaRPr lang="sr-Latn-ME" dirty="0"/>
          </a:p>
        </p:txBody>
      </p:sp>
      <p:sp>
        <p:nvSpPr>
          <p:cNvPr id="3" name="Content Placeholder 2"/>
          <p:cNvSpPr>
            <a:spLocks noGrp="1"/>
          </p:cNvSpPr>
          <p:nvPr>
            <p:ph idx="1"/>
          </p:nvPr>
        </p:nvSpPr>
        <p:spPr/>
        <p:txBody>
          <a:bodyPr/>
          <a:lstStyle/>
          <a:p>
            <a:pPr algn="just"/>
            <a:r>
              <a:rPr lang="en-US" dirty="0"/>
              <a:t>No specific rules on battle of the forms</a:t>
            </a:r>
          </a:p>
          <a:p>
            <a:pPr algn="just"/>
            <a:r>
              <a:rPr lang="en-US" dirty="0"/>
              <a:t>Start of performance is acceptance of counter-offer</a:t>
            </a:r>
          </a:p>
          <a:p>
            <a:pPr algn="just"/>
            <a:endParaRPr lang="en-US" dirty="0"/>
          </a:p>
          <a:p>
            <a:pPr algn="just"/>
            <a:r>
              <a:rPr lang="en-US" dirty="0"/>
              <a:t>Duty of loyalty during negotiations</a:t>
            </a:r>
          </a:p>
          <a:p>
            <a:pPr algn="just"/>
            <a:r>
              <a:rPr lang="en-US" dirty="0"/>
              <a:t>Negotiations have to be carried out seriously and with the aim of reaching a mutually agreeable result</a:t>
            </a:r>
          </a:p>
          <a:p>
            <a:pPr algn="just"/>
            <a:r>
              <a:rPr lang="en-US" dirty="0"/>
              <a:t>Contract can be deemed concluded</a:t>
            </a:r>
            <a:endParaRPr lang="sr-Latn-ME" dirty="0"/>
          </a:p>
        </p:txBody>
      </p:sp>
      <p:sp>
        <p:nvSpPr>
          <p:cNvPr id="4" name="Rectangle 3">
            <a:extLst>
              <a:ext uri="{FF2B5EF4-FFF2-40B4-BE49-F238E27FC236}">
                <a16:creationId xmlns:a16="http://schemas.microsoft.com/office/drawing/2014/main" id="{548CB448-5DF6-4F49-914C-6BC44B71FA43}"/>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3CF562B8-A91F-4045-B705-D468BCD6D6A2}"/>
              </a:ext>
            </a:extLst>
          </p:cNvPr>
          <p:cNvSpPr/>
          <p:nvPr/>
        </p:nvSpPr>
        <p:spPr>
          <a:xfrm rot="16200000">
            <a:off x="4785414" y="5547413"/>
            <a:ext cx="589173"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56D948F0-396F-46E1-8C49-0A08DA2EE293}"/>
              </a:ext>
            </a:extLst>
          </p:cNvPr>
          <p:cNvSpPr/>
          <p:nvPr/>
        </p:nvSpPr>
        <p:spPr>
          <a:xfrm rot="16200000">
            <a:off x="6680724" y="5410723"/>
            <a:ext cx="862554"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1BC87991-AC19-4E18-A672-DD5A78DC663F}"/>
              </a:ext>
            </a:extLst>
          </p:cNvPr>
          <p:cNvSpPr/>
          <p:nvPr/>
        </p:nvSpPr>
        <p:spPr>
          <a:xfrm rot="16200000">
            <a:off x="8594272" y="5292271"/>
            <a:ext cx="1099457"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6436D0CA-121F-41CE-8229-1110149BA140}"/>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7AC71A9E-CD8C-407C-AF81-70BC98C211A2}"/>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8D27D623-6A56-432C-888D-48C50CE1AF5D}"/>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A07754ED-9401-404D-A093-80392BE0958C}"/>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A58B1705-1006-45FB-8DAE-464312B64E60}"/>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B4FAC0C0-4E82-439B-A52C-048D76707D3F}"/>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4C7698B1-79F7-4A82-80D5-5C7535A77044}"/>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948E977C-F1B2-4AE0-B236-3463EFEB4462}"/>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3E00A98F-9693-4F84-8957-B4E5B96C057B}"/>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C4A240C8-71C7-44CF-BCED-1397C1D4B48E}"/>
              </a:ext>
            </a:extLst>
          </p:cNvPr>
          <p:cNvCxnSpPr/>
          <p:nvPr/>
        </p:nvCxnSpPr>
        <p:spPr>
          <a:xfrm>
            <a:off x="669303" y="5812915"/>
            <a:ext cx="4402317"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6657583-EBC4-4AC6-9AC8-6A4136EB8173}"/>
              </a:ext>
            </a:extLst>
          </p:cNvPr>
          <p:cNvCxnSpPr>
            <a:cxnSpLocks/>
          </p:cNvCxnSpPr>
          <p:nvPr/>
        </p:nvCxnSpPr>
        <p:spPr>
          <a:xfrm>
            <a:off x="5071620" y="5812915"/>
            <a:ext cx="9763" cy="455911"/>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6BD2C1A5-79EE-41EE-B623-983B7D6AA8A6}"/>
              </a:ext>
            </a:extLst>
          </p:cNvPr>
          <p:cNvCxnSpPr>
            <a:cxnSpLocks/>
          </p:cNvCxnSpPr>
          <p:nvPr/>
        </p:nvCxnSpPr>
        <p:spPr>
          <a:xfrm>
            <a:off x="669303" y="838986"/>
            <a:ext cx="0" cy="4973929"/>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6622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additive="base">
                                        <p:cTn id="16" dur="500" fill="hold"/>
                                        <p:tgtEl>
                                          <p:spTgt spid="4"/>
                                        </p:tgtEl>
                                        <p:attrNameLst>
                                          <p:attrName>ppt_x</p:attrName>
                                        </p:attrNameLst>
                                      </p:cBhvr>
                                      <p:tavLst>
                                        <p:tav tm="0">
                                          <p:val>
                                            <p:strVal val="#ppt_x"/>
                                          </p:val>
                                        </p:tav>
                                        <p:tav tm="100000">
                                          <p:val>
                                            <p:strVal val="#ppt_x"/>
                                          </p:val>
                                        </p:tav>
                                      </p:tavLst>
                                    </p:anim>
                                    <p:anim calcmode="lin" valueType="num">
                                      <p:cBhvr additive="base">
                                        <p:cTn id="17" dur="500" fill="hold"/>
                                        <p:tgtEl>
                                          <p:spTgt spid="4"/>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additive="base">
                                        <p:cTn id="26" dur="500" fill="hold"/>
                                        <p:tgtEl>
                                          <p:spTgt spid="6"/>
                                        </p:tgtEl>
                                        <p:attrNameLst>
                                          <p:attrName>ppt_x</p:attrName>
                                        </p:attrNameLst>
                                      </p:cBhvr>
                                      <p:tavLst>
                                        <p:tav tm="0">
                                          <p:val>
                                            <p:strVal val="#ppt_x"/>
                                          </p:val>
                                        </p:tav>
                                        <p:tav tm="100000">
                                          <p:val>
                                            <p:strVal val="#ppt_x"/>
                                          </p:val>
                                        </p:tav>
                                      </p:tavLst>
                                    </p:anim>
                                    <p:anim calcmode="lin" valueType="num">
                                      <p:cBhvr additive="base">
                                        <p:cTn id="27" dur="500" fill="hold"/>
                                        <p:tgtEl>
                                          <p:spTgt spid="6"/>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ppt_x"/>
                                          </p:val>
                                        </p:tav>
                                        <p:tav tm="100000">
                                          <p:val>
                                            <p:strVal val="#ppt_x"/>
                                          </p:val>
                                        </p:tav>
                                      </p:tavLst>
                                    </p:anim>
                                    <p:anim calcmode="lin" valueType="num">
                                      <p:cBhvr additive="base">
                                        <p:cTn id="32" dur="500" fill="hold"/>
                                        <p:tgtEl>
                                          <p:spTgt spid="7"/>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ntr" presetSubtype="4" fill="hold" grpId="0" nodeType="after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additive="base">
                                        <p:cTn id="36" dur="500" fill="hold"/>
                                        <p:tgtEl>
                                          <p:spTgt spid="8"/>
                                        </p:tgtEl>
                                        <p:attrNameLst>
                                          <p:attrName>ppt_x</p:attrName>
                                        </p:attrNameLst>
                                      </p:cBhvr>
                                      <p:tavLst>
                                        <p:tav tm="0">
                                          <p:val>
                                            <p:strVal val="#ppt_x"/>
                                          </p:val>
                                        </p:tav>
                                        <p:tav tm="100000">
                                          <p:val>
                                            <p:strVal val="#ppt_x"/>
                                          </p:val>
                                        </p:tav>
                                      </p:tavLst>
                                    </p:anim>
                                    <p:anim calcmode="lin" valueType="num">
                                      <p:cBhvr additive="base">
                                        <p:cTn id="37" dur="500" fill="hold"/>
                                        <p:tgtEl>
                                          <p:spTgt spid="8"/>
                                        </p:tgtEl>
                                        <p:attrNameLst>
                                          <p:attrName>ppt_y</p:attrName>
                                        </p:attrNameLst>
                                      </p:cBhvr>
                                      <p:tavLst>
                                        <p:tav tm="0">
                                          <p:val>
                                            <p:strVal val="1+#ppt_h/2"/>
                                          </p:val>
                                        </p:tav>
                                        <p:tav tm="100000">
                                          <p:val>
                                            <p:strVal val="#ppt_y"/>
                                          </p:val>
                                        </p:tav>
                                      </p:tavLst>
                                    </p:anim>
                                  </p:childTnLst>
                                </p:cTn>
                              </p:par>
                            </p:childTnLst>
                          </p:cTn>
                        </p:par>
                        <p:par>
                          <p:cTn id="38" fill="hold">
                            <p:stCondLst>
                              <p:cond delay="3500"/>
                            </p:stCondLst>
                            <p:childTnLst>
                              <p:par>
                                <p:cTn id="39" presetID="22" presetClass="entr" presetSubtype="4" fill="hold" nodeType="after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wipe(down)">
                                      <p:cBhvr>
                                        <p:cTn id="41" dur="500"/>
                                        <p:tgtEl>
                                          <p:spTgt spid="18"/>
                                        </p:tgtEl>
                                      </p:cBhvr>
                                    </p:animEffect>
                                  </p:childTnLst>
                                </p:cTn>
                              </p:par>
                            </p:childTnLst>
                          </p:cTn>
                        </p:par>
                        <p:par>
                          <p:cTn id="42" fill="hold">
                            <p:stCondLst>
                              <p:cond delay="4000"/>
                            </p:stCondLst>
                            <p:childTnLst>
                              <p:par>
                                <p:cTn id="43" presetID="22" presetClass="entr" presetSubtype="2" fill="hold" nodeType="after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wipe(right)">
                                      <p:cBhvr>
                                        <p:cTn id="45" dur="500"/>
                                        <p:tgtEl>
                                          <p:spTgt spid="17"/>
                                        </p:tgtEl>
                                      </p:cBhvr>
                                    </p:animEffect>
                                  </p:childTnLst>
                                </p:cTn>
                              </p:par>
                            </p:childTnLst>
                          </p:cTn>
                        </p:par>
                        <p:par>
                          <p:cTn id="46" fill="hold">
                            <p:stCondLst>
                              <p:cond delay="4500"/>
                            </p:stCondLst>
                            <p:childTnLst>
                              <p:par>
                                <p:cTn id="47" presetID="22" presetClass="entr" presetSubtype="4" fill="hold" nodeType="after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wipe(down)">
                                      <p:cBhvr>
                                        <p:cTn id="4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German law</a:t>
            </a:r>
            <a:endParaRPr lang="sr-Latn-ME" dirty="0"/>
          </a:p>
        </p:txBody>
      </p:sp>
      <p:sp>
        <p:nvSpPr>
          <p:cNvPr id="3" name="Content Placeholder 2"/>
          <p:cNvSpPr>
            <a:spLocks noGrp="1"/>
          </p:cNvSpPr>
          <p:nvPr>
            <p:ph idx="1"/>
          </p:nvPr>
        </p:nvSpPr>
        <p:spPr>
          <a:xfrm>
            <a:off x="838200" y="1825625"/>
            <a:ext cx="10515600" cy="3711792"/>
          </a:xfrm>
        </p:spPr>
        <p:txBody>
          <a:bodyPr>
            <a:normAutofit fontScale="85000" lnSpcReduction="20000"/>
          </a:bodyPr>
          <a:lstStyle/>
          <a:p>
            <a:pPr algn="just"/>
            <a:r>
              <a:rPr lang="de-DE" dirty="0"/>
              <a:t>German </a:t>
            </a:r>
            <a:r>
              <a:rPr lang="de-DE" dirty="0" err="1"/>
              <a:t>Civil</a:t>
            </a:r>
            <a:r>
              <a:rPr lang="de-DE" dirty="0"/>
              <a:t> Law Book, Bürgerliches Gesetzbuch, “BGB”</a:t>
            </a:r>
          </a:p>
          <a:p>
            <a:pPr algn="just"/>
            <a:r>
              <a:rPr lang="de-DE" dirty="0" err="1"/>
              <a:t>Mirror</a:t>
            </a:r>
            <a:r>
              <a:rPr lang="de-DE" dirty="0"/>
              <a:t> </a:t>
            </a:r>
            <a:r>
              <a:rPr lang="de-DE" dirty="0" err="1"/>
              <a:t>image</a:t>
            </a:r>
            <a:r>
              <a:rPr lang="de-DE" dirty="0"/>
              <a:t> </a:t>
            </a:r>
            <a:r>
              <a:rPr lang="de-DE" dirty="0" err="1"/>
              <a:t>rule</a:t>
            </a:r>
            <a:endParaRPr lang="de-DE" dirty="0"/>
          </a:p>
          <a:p>
            <a:pPr algn="just"/>
            <a:r>
              <a:rPr lang="de-DE" dirty="0" err="1"/>
              <a:t>No</a:t>
            </a:r>
            <a:r>
              <a:rPr lang="de-DE" dirty="0"/>
              <a:t> form </a:t>
            </a:r>
            <a:r>
              <a:rPr lang="de-DE" dirty="0" err="1"/>
              <a:t>requirements</a:t>
            </a:r>
            <a:endParaRPr lang="de-DE" dirty="0"/>
          </a:p>
          <a:p>
            <a:pPr algn="just"/>
            <a:endParaRPr lang="de-DE" dirty="0"/>
          </a:p>
          <a:p>
            <a:pPr algn="just"/>
            <a:r>
              <a:rPr lang="en-US" dirty="0"/>
              <a:t>The offer becomes binding when it has reached the knowledge of the offeree</a:t>
            </a:r>
          </a:p>
          <a:p>
            <a:pPr algn="just"/>
            <a:endParaRPr lang="en-US" dirty="0"/>
          </a:p>
          <a:p>
            <a:pPr algn="just"/>
            <a:r>
              <a:rPr lang="en-US" dirty="0"/>
              <a:t>Modified acceptance: counter offer</a:t>
            </a:r>
          </a:p>
          <a:p>
            <a:pPr algn="just"/>
            <a:r>
              <a:rPr lang="en-US" dirty="0"/>
              <a:t>Unless offer and acceptance are aligned to a significant extent, as to form a material part of the contract, in which case contract is concluded in that part (“inessential term”)</a:t>
            </a:r>
            <a:endParaRPr lang="sr-Latn-ME" dirty="0"/>
          </a:p>
        </p:txBody>
      </p:sp>
      <p:sp>
        <p:nvSpPr>
          <p:cNvPr id="4" name="Rectangle 3">
            <a:extLst>
              <a:ext uri="{FF2B5EF4-FFF2-40B4-BE49-F238E27FC236}">
                <a16:creationId xmlns:a16="http://schemas.microsoft.com/office/drawing/2014/main" id="{13F8324A-2511-488B-A854-18EC93AC6AE2}"/>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159FD557-0D7F-4868-99D5-4D858B464685}"/>
              </a:ext>
            </a:extLst>
          </p:cNvPr>
          <p:cNvSpPr/>
          <p:nvPr/>
        </p:nvSpPr>
        <p:spPr>
          <a:xfrm rot="16200000">
            <a:off x="4785414" y="5547413"/>
            <a:ext cx="589173"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D4F05897-805F-4073-8AE9-C376EAB9CB4A}"/>
              </a:ext>
            </a:extLst>
          </p:cNvPr>
          <p:cNvSpPr/>
          <p:nvPr/>
        </p:nvSpPr>
        <p:spPr>
          <a:xfrm rot="16200000">
            <a:off x="6680724" y="5410723"/>
            <a:ext cx="862554"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6117BA3A-758C-4152-B21B-3F479DDF6671}"/>
              </a:ext>
            </a:extLst>
          </p:cNvPr>
          <p:cNvSpPr/>
          <p:nvPr/>
        </p:nvSpPr>
        <p:spPr>
          <a:xfrm rot="16200000">
            <a:off x="8594272" y="5292271"/>
            <a:ext cx="1099457"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E66BC172-A815-44DE-AAFE-885B84D69B2E}"/>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CFC934E8-841D-4225-81C6-ACA699D2CEE1}"/>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75BC8055-10EC-4D8C-B35A-A4CE9FEF7BF6}"/>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505674D2-74E8-4B45-9BD0-E07FDB4F69D0}"/>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0C3F86BA-781F-40E9-8F8D-5DABC763C3F4}"/>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C0A63064-E1A2-4A0B-AA41-39363BB754C0}"/>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81F16995-6570-4D6E-BD03-905823188E63}"/>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D4E028A0-C38B-4F37-908C-BCEEF0DC79B6}"/>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2A783692-0BBC-4BEA-B5E7-DC0C623607DD}"/>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21E3036E-2920-41E1-9148-F1E8A2325A64}"/>
              </a:ext>
            </a:extLst>
          </p:cNvPr>
          <p:cNvCxnSpPr/>
          <p:nvPr/>
        </p:nvCxnSpPr>
        <p:spPr>
          <a:xfrm>
            <a:off x="669303" y="5812915"/>
            <a:ext cx="4402317"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9953A4C7-5137-4DE2-886A-EE14EEE3755F}"/>
              </a:ext>
            </a:extLst>
          </p:cNvPr>
          <p:cNvCxnSpPr>
            <a:cxnSpLocks/>
          </p:cNvCxnSpPr>
          <p:nvPr/>
        </p:nvCxnSpPr>
        <p:spPr>
          <a:xfrm>
            <a:off x="5071620" y="5812915"/>
            <a:ext cx="9763" cy="455911"/>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4A3731E-5FC2-4F84-BB92-2F6F88F07E2F}"/>
              </a:ext>
            </a:extLst>
          </p:cNvPr>
          <p:cNvCxnSpPr>
            <a:cxnSpLocks/>
          </p:cNvCxnSpPr>
          <p:nvPr/>
        </p:nvCxnSpPr>
        <p:spPr>
          <a:xfrm>
            <a:off x="669303" y="838986"/>
            <a:ext cx="0" cy="4973929"/>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2002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additive="base">
                                        <p:cTn id="16" dur="500" fill="hold"/>
                                        <p:tgtEl>
                                          <p:spTgt spid="4"/>
                                        </p:tgtEl>
                                        <p:attrNameLst>
                                          <p:attrName>ppt_x</p:attrName>
                                        </p:attrNameLst>
                                      </p:cBhvr>
                                      <p:tavLst>
                                        <p:tav tm="0">
                                          <p:val>
                                            <p:strVal val="#ppt_x"/>
                                          </p:val>
                                        </p:tav>
                                        <p:tav tm="100000">
                                          <p:val>
                                            <p:strVal val="#ppt_x"/>
                                          </p:val>
                                        </p:tav>
                                      </p:tavLst>
                                    </p:anim>
                                    <p:anim calcmode="lin" valueType="num">
                                      <p:cBhvr additive="base">
                                        <p:cTn id="17" dur="500" fill="hold"/>
                                        <p:tgtEl>
                                          <p:spTgt spid="4"/>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additive="base">
                                        <p:cTn id="26" dur="500" fill="hold"/>
                                        <p:tgtEl>
                                          <p:spTgt spid="6"/>
                                        </p:tgtEl>
                                        <p:attrNameLst>
                                          <p:attrName>ppt_x</p:attrName>
                                        </p:attrNameLst>
                                      </p:cBhvr>
                                      <p:tavLst>
                                        <p:tav tm="0">
                                          <p:val>
                                            <p:strVal val="#ppt_x"/>
                                          </p:val>
                                        </p:tav>
                                        <p:tav tm="100000">
                                          <p:val>
                                            <p:strVal val="#ppt_x"/>
                                          </p:val>
                                        </p:tav>
                                      </p:tavLst>
                                    </p:anim>
                                    <p:anim calcmode="lin" valueType="num">
                                      <p:cBhvr additive="base">
                                        <p:cTn id="27" dur="500" fill="hold"/>
                                        <p:tgtEl>
                                          <p:spTgt spid="6"/>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ppt_x"/>
                                          </p:val>
                                        </p:tav>
                                        <p:tav tm="100000">
                                          <p:val>
                                            <p:strVal val="#ppt_x"/>
                                          </p:val>
                                        </p:tav>
                                      </p:tavLst>
                                    </p:anim>
                                    <p:anim calcmode="lin" valueType="num">
                                      <p:cBhvr additive="base">
                                        <p:cTn id="32" dur="500" fill="hold"/>
                                        <p:tgtEl>
                                          <p:spTgt spid="7"/>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ntr" presetSubtype="4" fill="hold" grpId="0" nodeType="after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additive="base">
                                        <p:cTn id="36" dur="500" fill="hold"/>
                                        <p:tgtEl>
                                          <p:spTgt spid="8"/>
                                        </p:tgtEl>
                                        <p:attrNameLst>
                                          <p:attrName>ppt_x</p:attrName>
                                        </p:attrNameLst>
                                      </p:cBhvr>
                                      <p:tavLst>
                                        <p:tav tm="0">
                                          <p:val>
                                            <p:strVal val="#ppt_x"/>
                                          </p:val>
                                        </p:tav>
                                        <p:tav tm="100000">
                                          <p:val>
                                            <p:strVal val="#ppt_x"/>
                                          </p:val>
                                        </p:tav>
                                      </p:tavLst>
                                    </p:anim>
                                    <p:anim calcmode="lin" valueType="num">
                                      <p:cBhvr additive="base">
                                        <p:cTn id="37" dur="500" fill="hold"/>
                                        <p:tgtEl>
                                          <p:spTgt spid="8"/>
                                        </p:tgtEl>
                                        <p:attrNameLst>
                                          <p:attrName>ppt_y</p:attrName>
                                        </p:attrNameLst>
                                      </p:cBhvr>
                                      <p:tavLst>
                                        <p:tav tm="0">
                                          <p:val>
                                            <p:strVal val="1+#ppt_h/2"/>
                                          </p:val>
                                        </p:tav>
                                        <p:tav tm="100000">
                                          <p:val>
                                            <p:strVal val="#ppt_y"/>
                                          </p:val>
                                        </p:tav>
                                      </p:tavLst>
                                    </p:anim>
                                  </p:childTnLst>
                                </p:cTn>
                              </p:par>
                            </p:childTnLst>
                          </p:cTn>
                        </p:par>
                        <p:par>
                          <p:cTn id="38" fill="hold">
                            <p:stCondLst>
                              <p:cond delay="3500"/>
                            </p:stCondLst>
                            <p:childTnLst>
                              <p:par>
                                <p:cTn id="39" presetID="22" presetClass="entr" presetSubtype="4" fill="hold" nodeType="after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wipe(down)">
                                      <p:cBhvr>
                                        <p:cTn id="41" dur="500"/>
                                        <p:tgtEl>
                                          <p:spTgt spid="18"/>
                                        </p:tgtEl>
                                      </p:cBhvr>
                                    </p:animEffect>
                                  </p:childTnLst>
                                </p:cTn>
                              </p:par>
                            </p:childTnLst>
                          </p:cTn>
                        </p:par>
                        <p:par>
                          <p:cTn id="42" fill="hold">
                            <p:stCondLst>
                              <p:cond delay="4000"/>
                            </p:stCondLst>
                            <p:childTnLst>
                              <p:par>
                                <p:cTn id="43" presetID="22" presetClass="entr" presetSubtype="2" fill="hold" nodeType="after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wipe(right)">
                                      <p:cBhvr>
                                        <p:cTn id="45" dur="500"/>
                                        <p:tgtEl>
                                          <p:spTgt spid="17"/>
                                        </p:tgtEl>
                                      </p:cBhvr>
                                    </p:animEffect>
                                  </p:childTnLst>
                                </p:cTn>
                              </p:par>
                            </p:childTnLst>
                          </p:cTn>
                        </p:par>
                        <p:par>
                          <p:cTn id="46" fill="hold">
                            <p:stCondLst>
                              <p:cond delay="4500"/>
                            </p:stCondLst>
                            <p:childTnLst>
                              <p:par>
                                <p:cTn id="47" presetID="22" presetClass="entr" presetSubtype="4" fill="hold" nodeType="after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wipe(down)">
                                      <p:cBhvr>
                                        <p:cTn id="4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German law</a:t>
            </a:r>
            <a:endParaRPr lang="sr-Latn-ME" dirty="0"/>
          </a:p>
        </p:txBody>
      </p:sp>
      <p:sp>
        <p:nvSpPr>
          <p:cNvPr id="3" name="Content Placeholder 2"/>
          <p:cNvSpPr>
            <a:spLocks noGrp="1"/>
          </p:cNvSpPr>
          <p:nvPr>
            <p:ph idx="1"/>
          </p:nvPr>
        </p:nvSpPr>
        <p:spPr>
          <a:xfrm>
            <a:off x="838200" y="1825625"/>
            <a:ext cx="10515600" cy="3374288"/>
          </a:xfrm>
        </p:spPr>
        <p:txBody>
          <a:bodyPr>
            <a:normAutofit fontScale="92500" lnSpcReduction="20000"/>
          </a:bodyPr>
          <a:lstStyle/>
          <a:p>
            <a:pPr algn="just"/>
            <a:r>
              <a:rPr lang="en-US" dirty="0"/>
              <a:t>Open lack of agreement: no contract</a:t>
            </a:r>
          </a:p>
          <a:p>
            <a:pPr algn="just"/>
            <a:r>
              <a:rPr lang="en-US" dirty="0"/>
              <a:t>However, if conduct of parties excludes doubts to the existence of agreement: knock out rule</a:t>
            </a:r>
          </a:p>
          <a:p>
            <a:pPr algn="just"/>
            <a:endParaRPr lang="en-US" dirty="0"/>
          </a:p>
          <a:p>
            <a:pPr algn="just"/>
            <a:r>
              <a:rPr lang="en-US" dirty="0"/>
              <a:t>No contract is concluded in negotiations unless all terms have been agreed to</a:t>
            </a:r>
          </a:p>
          <a:p>
            <a:pPr algn="just"/>
            <a:r>
              <a:rPr lang="en-US" dirty="0"/>
              <a:t>No contract is concluded if it’s been agreed it will be embodied in a finalized document, and that hasn’t been done</a:t>
            </a:r>
          </a:p>
          <a:p>
            <a:pPr algn="just"/>
            <a:r>
              <a:rPr lang="en-US" dirty="0"/>
              <a:t>Duty of loyalty and good faith in negotiations</a:t>
            </a:r>
            <a:endParaRPr lang="sr-Latn-ME" dirty="0"/>
          </a:p>
        </p:txBody>
      </p:sp>
      <p:sp>
        <p:nvSpPr>
          <p:cNvPr id="4" name="Rectangle 3">
            <a:extLst>
              <a:ext uri="{FF2B5EF4-FFF2-40B4-BE49-F238E27FC236}">
                <a16:creationId xmlns:a16="http://schemas.microsoft.com/office/drawing/2014/main" id="{8EDA4045-93D5-4AAF-958E-3FB412A7BBC9}"/>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35C44D41-AC26-4C45-90AA-E03DB016E6CD}"/>
              </a:ext>
            </a:extLst>
          </p:cNvPr>
          <p:cNvSpPr/>
          <p:nvPr/>
        </p:nvSpPr>
        <p:spPr>
          <a:xfrm rot="16200000">
            <a:off x="4785414" y="5547413"/>
            <a:ext cx="589173"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98F1B57E-9366-4CA1-B3B2-AF00BD0915B7}"/>
              </a:ext>
            </a:extLst>
          </p:cNvPr>
          <p:cNvSpPr/>
          <p:nvPr/>
        </p:nvSpPr>
        <p:spPr>
          <a:xfrm rot="16200000">
            <a:off x="6680724" y="5410723"/>
            <a:ext cx="862554"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1802E47B-A3A6-44BE-855B-5E42621FF97D}"/>
              </a:ext>
            </a:extLst>
          </p:cNvPr>
          <p:cNvSpPr/>
          <p:nvPr/>
        </p:nvSpPr>
        <p:spPr>
          <a:xfrm rot="16200000">
            <a:off x="8594272" y="5292271"/>
            <a:ext cx="1099457"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AC7BA52E-5923-49F3-A621-96CA6FBB2D21}"/>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0ED957D2-1F4F-4896-9E8B-AF84814DB15B}"/>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45C0D9E0-92A5-46A7-A825-D78D137FDA22}"/>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D5D1AE9D-58FD-492B-B6AB-F4CC523F8E95}"/>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2BE86899-9965-455A-BE64-BF21FDD864FF}"/>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08F4ABA9-10EF-47C6-8530-13F0D2F66645}"/>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C92D9285-2262-4624-AC92-1C2DBBB32EA2}"/>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A3A9B72A-C65F-4CDA-B765-03027B804317}"/>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B54A5FD5-C0ED-4B9F-BDF5-2C7D2115C9EE}"/>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98D3E033-1035-4C37-9FAC-52D8B6AB3708}"/>
              </a:ext>
            </a:extLst>
          </p:cNvPr>
          <p:cNvCxnSpPr/>
          <p:nvPr/>
        </p:nvCxnSpPr>
        <p:spPr>
          <a:xfrm>
            <a:off x="669303" y="5812915"/>
            <a:ext cx="4402317"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F895BC6-A78A-410B-BA37-489B0F19BF8D}"/>
              </a:ext>
            </a:extLst>
          </p:cNvPr>
          <p:cNvCxnSpPr>
            <a:cxnSpLocks/>
          </p:cNvCxnSpPr>
          <p:nvPr/>
        </p:nvCxnSpPr>
        <p:spPr>
          <a:xfrm>
            <a:off x="5071620" y="5812915"/>
            <a:ext cx="9763" cy="455911"/>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8CDE87E-56BC-47DA-A336-0B154D707E75}"/>
              </a:ext>
            </a:extLst>
          </p:cNvPr>
          <p:cNvCxnSpPr>
            <a:cxnSpLocks/>
          </p:cNvCxnSpPr>
          <p:nvPr/>
        </p:nvCxnSpPr>
        <p:spPr>
          <a:xfrm>
            <a:off x="669303" y="838986"/>
            <a:ext cx="0" cy="4973929"/>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3660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additive="base">
                                        <p:cTn id="16" dur="500" fill="hold"/>
                                        <p:tgtEl>
                                          <p:spTgt spid="4"/>
                                        </p:tgtEl>
                                        <p:attrNameLst>
                                          <p:attrName>ppt_x</p:attrName>
                                        </p:attrNameLst>
                                      </p:cBhvr>
                                      <p:tavLst>
                                        <p:tav tm="0">
                                          <p:val>
                                            <p:strVal val="#ppt_x"/>
                                          </p:val>
                                        </p:tav>
                                        <p:tav tm="100000">
                                          <p:val>
                                            <p:strVal val="#ppt_x"/>
                                          </p:val>
                                        </p:tav>
                                      </p:tavLst>
                                    </p:anim>
                                    <p:anim calcmode="lin" valueType="num">
                                      <p:cBhvr additive="base">
                                        <p:cTn id="17" dur="500" fill="hold"/>
                                        <p:tgtEl>
                                          <p:spTgt spid="4"/>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additive="base">
                                        <p:cTn id="26" dur="500" fill="hold"/>
                                        <p:tgtEl>
                                          <p:spTgt spid="6"/>
                                        </p:tgtEl>
                                        <p:attrNameLst>
                                          <p:attrName>ppt_x</p:attrName>
                                        </p:attrNameLst>
                                      </p:cBhvr>
                                      <p:tavLst>
                                        <p:tav tm="0">
                                          <p:val>
                                            <p:strVal val="#ppt_x"/>
                                          </p:val>
                                        </p:tav>
                                        <p:tav tm="100000">
                                          <p:val>
                                            <p:strVal val="#ppt_x"/>
                                          </p:val>
                                        </p:tav>
                                      </p:tavLst>
                                    </p:anim>
                                    <p:anim calcmode="lin" valueType="num">
                                      <p:cBhvr additive="base">
                                        <p:cTn id="27" dur="500" fill="hold"/>
                                        <p:tgtEl>
                                          <p:spTgt spid="6"/>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ppt_x"/>
                                          </p:val>
                                        </p:tav>
                                        <p:tav tm="100000">
                                          <p:val>
                                            <p:strVal val="#ppt_x"/>
                                          </p:val>
                                        </p:tav>
                                      </p:tavLst>
                                    </p:anim>
                                    <p:anim calcmode="lin" valueType="num">
                                      <p:cBhvr additive="base">
                                        <p:cTn id="32" dur="500" fill="hold"/>
                                        <p:tgtEl>
                                          <p:spTgt spid="7"/>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ntr" presetSubtype="4" fill="hold" grpId="0" nodeType="after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additive="base">
                                        <p:cTn id="36" dur="500" fill="hold"/>
                                        <p:tgtEl>
                                          <p:spTgt spid="8"/>
                                        </p:tgtEl>
                                        <p:attrNameLst>
                                          <p:attrName>ppt_x</p:attrName>
                                        </p:attrNameLst>
                                      </p:cBhvr>
                                      <p:tavLst>
                                        <p:tav tm="0">
                                          <p:val>
                                            <p:strVal val="#ppt_x"/>
                                          </p:val>
                                        </p:tav>
                                        <p:tav tm="100000">
                                          <p:val>
                                            <p:strVal val="#ppt_x"/>
                                          </p:val>
                                        </p:tav>
                                      </p:tavLst>
                                    </p:anim>
                                    <p:anim calcmode="lin" valueType="num">
                                      <p:cBhvr additive="base">
                                        <p:cTn id="37" dur="500" fill="hold"/>
                                        <p:tgtEl>
                                          <p:spTgt spid="8"/>
                                        </p:tgtEl>
                                        <p:attrNameLst>
                                          <p:attrName>ppt_y</p:attrName>
                                        </p:attrNameLst>
                                      </p:cBhvr>
                                      <p:tavLst>
                                        <p:tav tm="0">
                                          <p:val>
                                            <p:strVal val="1+#ppt_h/2"/>
                                          </p:val>
                                        </p:tav>
                                        <p:tav tm="100000">
                                          <p:val>
                                            <p:strVal val="#ppt_y"/>
                                          </p:val>
                                        </p:tav>
                                      </p:tavLst>
                                    </p:anim>
                                  </p:childTnLst>
                                </p:cTn>
                              </p:par>
                            </p:childTnLst>
                          </p:cTn>
                        </p:par>
                        <p:par>
                          <p:cTn id="38" fill="hold">
                            <p:stCondLst>
                              <p:cond delay="3500"/>
                            </p:stCondLst>
                            <p:childTnLst>
                              <p:par>
                                <p:cTn id="39" presetID="22" presetClass="entr" presetSubtype="4" fill="hold" nodeType="after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wipe(down)">
                                      <p:cBhvr>
                                        <p:cTn id="41" dur="500"/>
                                        <p:tgtEl>
                                          <p:spTgt spid="18"/>
                                        </p:tgtEl>
                                      </p:cBhvr>
                                    </p:animEffect>
                                  </p:childTnLst>
                                </p:cTn>
                              </p:par>
                            </p:childTnLst>
                          </p:cTn>
                        </p:par>
                        <p:par>
                          <p:cTn id="42" fill="hold">
                            <p:stCondLst>
                              <p:cond delay="4000"/>
                            </p:stCondLst>
                            <p:childTnLst>
                              <p:par>
                                <p:cTn id="43" presetID="22" presetClass="entr" presetSubtype="2" fill="hold" nodeType="after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wipe(right)">
                                      <p:cBhvr>
                                        <p:cTn id="45" dur="500"/>
                                        <p:tgtEl>
                                          <p:spTgt spid="17"/>
                                        </p:tgtEl>
                                      </p:cBhvr>
                                    </p:animEffect>
                                  </p:childTnLst>
                                </p:cTn>
                              </p:par>
                            </p:childTnLst>
                          </p:cTn>
                        </p:par>
                        <p:par>
                          <p:cTn id="46" fill="hold">
                            <p:stCondLst>
                              <p:cond delay="4500"/>
                            </p:stCondLst>
                            <p:childTnLst>
                              <p:par>
                                <p:cTn id="47" presetID="22" presetClass="entr" presetSubtype="4" fill="hold" nodeType="after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wipe(down)">
                                      <p:cBhvr>
                                        <p:cTn id="4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Italian law</a:t>
            </a:r>
            <a:endParaRPr lang="sr-Latn-ME" dirty="0"/>
          </a:p>
        </p:txBody>
      </p:sp>
      <p:sp>
        <p:nvSpPr>
          <p:cNvPr id="3" name="Content Placeholder 2"/>
          <p:cNvSpPr>
            <a:spLocks noGrp="1"/>
          </p:cNvSpPr>
          <p:nvPr>
            <p:ph idx="1"/>
          </p:nvPr>
        </p:nvSpPr>
        <p:spPr>
          <a:xfrm>
            <a:off x="1102520" y="1837511"/>
            <a:ext cx="10515600" cy="3465120"/>
          </a:xfrm>
        </p:spPr>
        <p:txBody>
          <a:bodyPr>
            <a:normAutofit fontScale="92500" lnSpcReduction="10000"/>
          </a:bodyPr>
          <a:lstStyle/>
          <a:p>
            <a:pPr algn="just"/>
            <a:r>
              <a:rPr lang="en-US" dirty="0"/>
              <a:t>Civil Law Book (</a:t>
            </a:r>
            <a:r>
              <a:rPr lang="en-US" dirty="0" err="1"/>
              <a:t>Codice</a:t>
            </a:r>
            <a:r>
              <a:rPr lang="en-US" dirty="0"/>
              <a:t> </a:t>
            </a:r>
            <a:r>
              <a:rPr lang="en-US" dirty="0" err="1"/>
              <a:t>Civile</a:t>
            </a:r>
            <a:r>
              <a:rPr lang="en-US" dirty="0"/>
              <a:t>)</a:t>
            </a:r>
          </a:p>
          <a:p>
            <a:pPr algn="just"/>
            <a:r>
              <a:rPr lang="en-US" dirty="0"/>
              <a:t>Requirements for the contract</a:t>
            </a:r>
          </a:p>
          <a:p>
            <a:pPr lvl="1" algn="just"/>
            <a:r>
              <a:rPr lang="en-US" dirty="0"/>
              <a:t>Agreement between the parties</a:t>
            </a:r>
          </a:p>
          <a:p>
            <a:pPr lvl="2" algn="just"/>
            <a:r>
              <a:rPr lang="en-US" dirty="0"/>
              <a:t>Offer and acceptance</a:t>
            </a:r>
          </a:p>
          <a:p>
            <a:pPr lvl="1" algn="just"/>
            <a:r>
              <a:rPr lang="en-US" dirty="0"/>
              <a:t>Object</a:t>
            </a:r>
          </a:p>
          <a:p>
            <a:pPr lvl="2" algn="just"/>
            <a:r>
              <a:rPr lang="en-US" dirty="0"/>
              <a:t>Possible, legal, determined or determinable</a:t>
            </a:r>
          </a:p>
          <a:p>
            <a:pPr lvl="1" algn="just"/>
            <a:r>
              <a:rPr lang="en-US" dirty="0"/>
              <a:t>Causa</a:t>
            </a:r>
          </a:p>
          <a:p>
            <a:pPr lvl="2" algn="just"/>
            <a:r>
              <a:rPr lang="en-US" dirty="0"/>
              <a:t>Social-economic function of the contract (no violation of mandatory rules or public policy)</a:t>
            </a:r>
          </a:p>
          <a:p>
            <a:pPr lvl="1" algn="just"/>
            <a:r>
              <a:rPr lang="en-US" dirty="0"/>
              <a:t>Form (for some contracts)</a:t>
            </a:r>
          </a:p>
          <a:p>
            <a:pPr lvl="2" algn="just"/>
            <a:r>
              <a:rPr lang="en-US" dirty="0"/>
              <a:t>Most often real estate</a:t>
            </a:r>
            <a:endParaRPr lang="sr-Latn-ME" dirty="0"/>
          </a:p>
        </p:txBody>
      </p:sp>
      <p:sp>
        <p:nvSpPr>
          <p:cNvPr id="4" name="Rectangle 3">
            <a:extLst>
              <a:ext uri="{FF2B5EF4-FFF2-40B4-BE49-F238E27FC236}">
                <a16:creationId xmlns:a16="http://schemas.microsoft.com/office/drawing/2014/main" id="{05FF4D85-3E60-47C6-9198-26B1C7B4B54C}"/>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994388C7-00CA-47F3-A485-531241A4819B}"/>
              </a:ext>
            </a:extLst>
          </p:cNvPr>
          <p:cNvSpPr/>
          <p:nvPr/>
        </p:nvSpPr>
        <p:spPr>
          <a:xfrm rot="16200000">
            <a:off x="4785414" y="5547413"/>
            <a:ext cx="589173"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6976F1D1-5F69-4136-91FA-61E6DB5AC1A4}"/>
              </a:ext>
            </a:extLst>
          </p:cNvPr>
          <p:cNvSpPr/>
          <p:nvPr/>
        </p:nvSpPr>
        <p:spPr>
          <a:xfrm rot="16200000">
            <a:off x="6680724" y="5410723"/>
            <a:ext cx="862554"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38990B9F-D332-4858-8B91-0EE5804BB95C}"/>
              </a:ext>
            </a:extLst>
          </p:cNvPr>
          <p:cNvSpPr/>
          <p:nvPr/>
        </p:nvSpPr>
        <p:spPr>
          <a:xfrm rot="16200000">
            <a:off x="8594272" y="5292271"/>
            <a:ext cx="1099457"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05FFDE2C-8946-4658-A79B-96DEEF15E63F}"/>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2CABD521-CB8D-496F-96DC-3D2769CF722D}"/>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53BA0AF6-1C7A-4D70-B885-BD830C9BC142}"/>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FE1BDF87-8635-40B8-B19B-970AF5245E66}"/>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64AB8A94-A600-436D-B916-470917CB2E70}"/>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53D9BE42-EE04-42A0-B615-D0732DD7A51B}"/>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18FD6DF9-41B3-42E6-8F41-54EFEBD778F9}"/>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A2DB8A1C-6867-4AF2-A7F1-36AFC376CEB6}"/>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72CB79B7-3F54-4BAE-BF4D-22A03182261A}"/>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431BAD5D-07A3-4779-B3FD-D00FEEFB2231}"/>
              </a:ext>
            </a:extLst>
          </p:cNvPr>
          <p:cNvCxnSpPr/>
          <p:nvPr/>
        </p:nvCxnSpPr>
        <p:spPr>
          <a:xfrm>
            <a:off x="669303" y="5812915"/>
            <a:ext cx="4402317"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5CA300FA-EABE-47CA-87CE-8C47DE04247B}"/>
              </a:ext>
            </a:extLst>
          </p:cNvPr>
          <p:cNvCxnSpPr>
            <a:cxnSpLocks/>
          </p:cNvCxnSpPr>
          <p:nvPr/>
        </p:nvCxnSpPr>
        <p:spPr>
          <a:xfrm>
            <a:off x="5071620" y="5812915"/>
            <a:ext cx="9763" cy="455911"/>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8EB958E-E191-4FA5-B8C1-3899AA60F0FA}"/>
              </a:ext>
            </a:extLst>
          </p:cNvPr>
          <p:cNvCxnSpPr>
            <a:cxnSpLocks/>
          </p:cNvCxnSpPr>
          <p:nvPr/>
        </p:nvCxnSpPr>
        <p:spPr>
          <a:xfrm>
            <a:off x="669303" y="838986"/>
            <a:ext cx="0" cy="4973929"/>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58240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additive="base">
                                        <p:cTn id="16" dur="500" fill="hold"/>
                                        <p:tgtEl>
                                          <p:spTgt spid="4"/>
                                        </p:tgtEl>
                                        <p:attrNameLst>
                                          <p:attrName>ppt_x</p:attrName>
                                        </p:attrNameLst>
                                      </p:cBhvr>
                                      <p:tavLst>
                                        <p:tav tm="0">
                                          <p:val>
                                            <p:strVal val="#ppt_x"/>
                                          </p:val>
                                        </p:tav>
                                        <p:tav tm="100000">
                                          <p:val>
                                            <p:strVal val="#ppt_x"/>
                                          </p:val>
                                        </p:tav>
                                      </p:tavLst>
                                    </p:anim>
                                    <p:anim calcmode="lin" valueType="num">
                                      <p:cBhvr additive="base">
                                        <p:cTn id="17" dur="500" fill="hold"/>
                                        <p:tgtEl>
                                          <p:spTgt spid="4"/>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additive="base">
                                        <p:cTn id="26" dur="500" fill="hold"/>
                                        <p:tgtEl>
                                          <p:spTgt spid="6"/>
                                        </p:tgtEl>
                                        <p:attrNameLst>
                                          <p:attrName>ppt_x</p:attrName>
                                        </p:attrNameLst>
                                      </p:cBhvr>
                                      <p:tavLst>
                                        <p:tav tm="0">
                                          <p:val>
                                            <p:strVal val="#ppt_x"/>
                                          </p:val>
                                        </p:tav>
                                        <p:tav tm="100000">
                                          <p:val>
                                            <p:strVal val="#ppt_x"/>
                                          </p:val>
                                        </p:tav>
                                      </p:tavLst>
                                    </p:anim>
                                    <p:anim calcmode="lin" valueType="num">
                                      <p:cBhvr additive="base">
                                        <p:cTn id="27" dur="500" fill="hold"/>
                                        <p:tgtEl>
                                          <p:spTgt spid="6"/>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ppt_x"/>
                                          </p:val>
                                        </p:tav>
                                        <p:tav tm="100000">
                                          <p:val>
                                            <p:strVal val="#ppt_x"/>
                                          </p:val>
                                        </p:tav>
                                      </p:tavLst>
                                    </p:anim>
                                    <p:anim calcmode="lin" valueType="num">
                                      <p:cBhvr additive="base">
                                        <p:cTn id="32" dur="500" fill="hold"/>
                                        <p:tgtEl>
                                          <p:spTgt spid="7"/>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ntr" presetSubtype="4" fill="hold" grpId="0" nodeType="after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additive="base">
                                        <p:cTn id="36" dur="500" fill="hold"/>
                                        <p:tgtEl>
                                          <p:spTgt spid="8"/>
                                        </p:tgtEl>
                                        <p:attrNameLst>
                                          <p:attrName>ppt_x</p:attrName>
                                        </p:attrNameLst>
                                      </p:cBhvr>
                                      <p:tavLst>
                                        <p:tav tm="0">
                                          <p:val>
                                            <p:strVal val="#ppt_x"/>
                                          </p:val>
                                        </p:tav>
                                        <p:tav tm="100000">
                                          <p:val>
                                            <p:strVal val="#ppt_x"/>
                                          </p:val>
                                        </p:tav>
                                      </p:tavLst>
                                    </p:anim>
                                    <p:anim calcmode="lin" valueType="num">
                                      <p:cBhvr additive="base">
                                        <p:cTn id="37" dur="500" fill="hold"/>
                                        <p:tgtEl>
                                          <p:spTgt spid="8"/>
                                        </p:tgtEl>
                                        <p:attrNameLst>
                                          <p:attrName>ppt_y</p:attrName>
                                        </p:attrNameLst>
                                      </p:cBhvr>
                                      <p:tavLst>
                                        <p:tav tm="0">
                                          <p:val>
                                            <p:strVal val="1+#ppt_h/2"/>
                                          </p:val>
                                        </p:tav>
                                        <p:tav tm="100000">
                                          <p:val>
                                            <p:strVal val="#ppt_y"/>
                                          </p:val>
                                        </p:tav>
                                      </p:tavLst>
                                    </p:anim>
                                  </p:childTnLst>
                                </p:cTn>
                              </p:par>
                            </p:childTnLst>
                          </p:cTn>
                        </p:par>
                        <p:par>
                          <p:cTn id="38" fill="hold">
                            <p:stCondLst>
                              <p:cond delay="3500"/>
                            </p:stCondLst>
                            <p:childTnLst>
                              <p:par>
                                <p:cTn id="39" presetID="22" presetClass="entr" presetSubtype="4" fill="hold" nodeType="after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wipe(down)">
                                      <p:cBhvr>
                                        <p:cTn id="41" dur="500"/>
                                        <p:tgtEl>
                                          <p:spTgt spid="18"/>
                                        </p:tgtEl>
                                      </p:cBhvr>
                                    </p:animEffect>
                                  </p:childTnLst>
                                </p:cTn>
                              </p:par>
                            </p:childTnLst>
                          </p:cTn>
                        </p:par>
                        <p:par>
                          <p:cTn id="42" fill="hold">
                            <p:stCondLst>
                              <p:cond delay="4000"/>
                            </p:stCondLst>
                            <p:childTnLst>
                              <p:par>
                                <p:cTn id="43" presetID="22" presetClass="entr" presetSubtype="2" fill="hold" nodeType="after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wipe(right)">
                                      <p:cBhvr>
                                        <p:cTn id="45" dur="500"/>
                                        <p:tgtEl>
                                          <p:spTgt spid="17"/>
                                        </p:tgtEl>
                                      </p:cBhvr>
                                    </p:animEffect>
                                  </p:childTnLst>
                                </p:cTn>
                              </p:par>
                            </p:childTnLst>
                          </p:cTn>
                        </p:par>
                        <p:par>
                          <p:cTn id="46" fill="hold">
                            <p:stCondLst>
                              <p:cond delay="4500"/>
                            </p:stCondLst>
                            <p:childTnLst>
                              <p:par>
                                <p:cTn id="47" presetID="22" presetClass="entr" presetSubtype="4" fill="hold" nodeType="after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wipe(down)">
                                      <p:cBhvr>
                                        <p:cTn id="4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Italian law</a:t>
            </a:r>
            <a:endParaRPr lang="sr-Latn-ME" dirty="0"/>
          </a:p>
        </p:txBody>
      </p:sp>
      <p:sp>
        <p:nvSpPr>
          <p:cNvPr id="3" name="Content Placeholder 2"/>
          <p:cNvSpPr>
            <a:spLocks noGrp="1"/>
          </p:cNvSpPr>
          <p:nvPr>
            <p:ph idx="1"/>
          </p:nvPr>
        </p:nvSpPr>
        <p:spPr>
          <a:xfrm>
            <a:off x="1139771" y="1648654"/>
            <a:ext cx="9912457" cy="3750385"/>
          </a:xfrm>
        </p:spPr>
        <p:txBody>
          <a:bodyPr>
            <a:normAutofit fontScale="85000" lnSpcReduction="20000"/>
          </a:bodyPr>
          <a:lstStyle/>
          <a:p>
            <a:pPr algn="just"/>
            <a:r>
              <a:rPr lang="en-US" dirty="0"/>
              <a:t>Offer can be revoked until the contract is concluded</a:t>
            </a:r>
          </a:p>
          <a:p>
            <a:pPr algn="just"/>
            <a:r>
              <a:rPr lang="en-US" dirty="0"/>
              <a:t>If an offer specifies that it is meant to be irrevocable for a determined period, it will be binding on the </a:t>
            </a:r>
            <a:r>
              <a:rPr lang="en-US" dirty="0" err="1"/>
              <a:t>offeror</a:t>
            </a:r>
            <a:endParaRPr lang="en-US" dirty="0"/>
          </a:p>
          <a:p>
            <a:pPr algn="just"/>
            <a:endParaRPr lang="en-US" dirty="0"/>
          </a:p>
          <a:p>
            <a:pPr algn="just"/>
            <a:r>
              <a:rPr lang="en-US" dirty="0"/>
              <a:t>Mirror image rule with strict application</a:t>
            </a:r>
          </a:p>
          <a:p>
            <a:pPr algn="just"/>
            <a:r>
              <a:rPr lang="en-US" dirty="0"/>
              <a:t>Counter offer may be tacitly accepted</a:t>
            </a:r>
          </a:p>
          <a:p>
            <a:pPr algn="just"/>
            <a:r>
              <a:rPr lang="en-US" dirty="0"/>
              <a:t>Silence is not acceptance</a:t>
            </a:r>
          </a:p>
          <a:p>
            <a:pPr algn="just"/>
            <a:endParaRPr lang="en-US" dirty="0"/>
          </a:p>
          <a:p>
            <a:pPr algn="just"/>
            <a:r>
              <a:rPr lang="en-US" dirty="0"/>
              <a:t>Duty to negotiate in good faith</a:t>
            </a:r>
          </a:p>
          <a:p>
            <a:pPr algn="just"/>
            <a:r>
              <a:rPr lang="en-US" dirty="0"/>
              <a:t>Duty not to create unjustified expectations</a:t>
            </a:r>
            <a:endParaRPr lang="sr-Latn-ME" dirty="0"/>
          </a:p>
        </p:txBody>
      </p:sp>
      <p:sp>
        <p:nvSpPr>
          <p:cNvPr id="4" name="Rectangle 3">
            <a:extLst>
              <a:ext uri="{FF2B5EF4-FFF2-40B4-BE49-F238E27FC236}">
                <a16:creationId xmlns:a16="http://schemas.microsoft.com/office/drawing/2014/main" id="{4F10387C-1113-4D50-B84F-2B104A855C87}"/>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526D599D-8F87-41C9-A93E-F9FDABAF4461}"/>
              </a:ext>
            </a:extLst>
          </p:cNvPr>
          <p:cNvSpPr/>
          <p:nvPr/>
        </p:nvSpPr>
        <p:spPr>
          <a:xfrm rot="16200000">
            <a:off x="4785414" y="5547413"/>
            <a:ext cx="589173"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F1A40A60-8709-492C-885F-13F0F8B33E92}"/>
              </a:ext>
            </a:extLst>
          </p:cNvPr>
          <p:cNvSpPr/>
          <p:nvPr/>
        </p:nvSpPr>
        <p:spPr>
          <a:xfrm rot="16200000">
            <a:off x="6680724" y="5410723"/>
            <a:ext cx="862554"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1E1996AB-DB6B-4A9F-889E-B1D453CD444C}"/>
              </a:ext>
            </a:extLst>
          </p:cNvPr>
          <p:cNvSpPr/>
          <p:nvPr/>
        </p:nvSpPr>
        <p:spPr>
          <a:xfrm rot="16200000">
            <a:off x="8594272" y="5292271"/>
            <a:ext cx="1099457"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1F399FCD-9497-424D-B40E-641C1C4B1140}"/>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57A53548-1B66-40DF-A73D-1528FC4FA5B5}"/>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3BED48AF-AB76-4941-A2E6-F50BE144135D}"/>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5BDE400D-7065-40CD-AF4B-B7E59FC28EA1}"/>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75452D44-1AB5-481A-84BC-26BE42DF650B}"/>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57E71226-D9C9-4587-8E03-AFCCEDBBEE85}"/>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85CB6F6A-0CCC-4DFD-AD37-D541BFCD29B7}"/>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13F5F329-A4B8-4E96-978B-E2A290EE5967}"/>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52BCDA85-098C-43CE-B9C9-9957ABC491B4}"/>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C3865928-37AC-4861-9141-3B9396209CC7}"/>
              </a:ext>
            </a:extLst>
          </p:cNvPr>
          <p:cNvCxnSpPr/>
          <p:nvPr/>
        </p:nvCxnSpPr>
        <p:spPr>
          <a:xfrm>
            <a:off x="669303" y="5812915"/>
            <a:ext cx="4402317"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674B2EB-1EF8-4BCD-8A7E-9E6316A04188}"/>
              </a:ext>
            </a:extLst>
          </p:cNvPr>
          <p:cNvCxnSpPr>
            <a:cxnSpLocks/>
          </p:cNvCxnSpPr>
          <p:nvPr/>
        </p:nvCxnSpPr>
        <p:spPr>
          <a:xfrm>
            <a:off x="5071620" y="5812915"/>
            <a:ext cx="9763" cy="455911"/>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18CC8BFE-A3CB-4F57-8082-E8F9D65B06B5}"/>
              </a:ext>
            </a:extLst>
          </p:cNvPr>
          <p:cNvCxnSpPr>
            <a:cxnSpLocks/>
          </p:cNvCxnSpPr>
          <p:nvPr/>
        </p:nvCxnSpPr>
        <p:spPr>
          <a:xfrm>
            <a:off x="669303" y="838986"/>
            <a:ext cx="0" cy="4973929"/>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6938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additive="base">
                                        <p:cTn id="16" dur="500" fill="hold"/>
                                        <p:tgtEl>
                                          <p:spTgt spid="4"/>
                                        </p:tgtEl>
                                        <p:attrNameLst>
                                          <p:attrName>ppt_x</p:attrName>
                                        </p:attrNameLst>
                                      </p:cBhvr>
                                      <p:tavLst>
                                        <p:tav tm="0">
                                          <p:val>
                                            <p:strVal val="#ppt_x"/>
                                          </p:val>
                                        </p:tav>
                                        <p:tav tm="100000">
                                          <p:val>
                                            <p:strVal val="#ppt_x"/>
                                          </p:val>
                                        </p:tav>
                                      </p:tavLst>
                                    </p:anim>
                                    <p:anim calcmode="lin" valueType="num">
                                      <p:cBhvr additive="base">
                                        <p:cTn id="17" dur="500" fill="hold"/>
                                        <p:tgtEl>
                                          <p:spTgt spid="4"/>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additive="base">
                                        <p:cTn id="26" dur="500" fill="hold"/>
                                        <p:tgtEl>
                                          <p:spTgt spid="6"/>
                                        </p:tgtEl>
                                        <p:attrNameLst>
                                          <p:attrName>ppt_x</p:attrName>
                                        </p:attrNameLst>
                                      </p:cBhvr>
                                      <p:tavLst>
                                        <p:tav tm="0">
                                          <p:val>
                                            <p:strVal val="#ppt_x"/>
                                          </p:val>
                                        </p:tav>
                                        <p:tav tm="100000">
                                          <p:val>
                                            <p:strVal val="#ppt_x"/>
                                          </p:val>
                                        </p:tav>
                                      </p:tavLst>
                                    </p:anim>
                                    <p:anim calcmode="lin" valueType="num">
                                      <p:cBhvr additive="base">
                                        <p:cTn id="27" dur="500" fill="hold"/>
                                        <p:tgtEl>
                                          <p:spTgt spid="6"/>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ppt_x"/>
                                          </p:val>
                                        </p:tav>
                                        <p:tav tm="100000">
                                          <p:val>
                                            <p:strVal val="#ppt_x"/>
                                          </p:val>
                                        </p:tav>
                                      </p:tavLst>
                                    </p:anim>
                                    <p:anim calcmode="lin" valueType="num">
                                      <p:cBhvr additive="base">
                                        <p:cTn id="32" dur="500" fill="hold"/>
                                        <p:tgtEl>
                                          <p:spTgt spid="7"/>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ntr" presetSubtype="4" fill="hold" grpId="0" nodeType="after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additive="base">
                                        <p:cTn id="36" dur="500" fill="hold"/>
                                        <p:tgtEl>
                                          <p:spTgt spid="8"/>
                                        </p:tgtEl>
                                        <p:attrNameLst>
                                          <p:attrName>ppt_x</p:attrName>
                                        </p:attrNameLst>
                                      </p:cBhvr>
                                      <p:tavLst>
                                        <p:tav tm="0">
                                          <p:val>
                                            <p:strVal val="#ppt_x"/>
                                          </p:val>
                                        </p:tav>
                                        <p:tav tm="100000">
                                          <p:val>
                                            <p:strVal val="#ppt_x"/>
                                          </p:val>
                                        </p:tav>
                                      </p:tavLst>
                                    </p:anim>
                                    <p:anim calcmode="lin" valueType="num">
                                      <p:cBhvr additive="base">
                                        <p:cTn id="37" dur="500" fill="hold"/>
                                        <p:tgtEl>
                                          <p:spTgt spid="8"/>
                                        </p:tgtEl>
                                        <p:attrNameLst>
                                          <p:attrName>ppt_y</p:attrName>
                                        </p:attrNameLst>
                                      </p:cBhvr>
                                      <p:tavLst>
                                        <p:tav tm="0">
                                          <p:val>
                                            <p:strVal val="1+#ppt_h/2"/>
                                          </p:val>
                                        </p:tav>
                                        <p:tav tm="100000">
                                          <p:val>
                                            <p:strVal val="#ppt_y"/>
                                          </p:val>
                                        </p:tav>
                                      </p:tavLst>
                                    </p:anim>
                                  </p:childTnLst>
                                </p:cTn>
                              </p:par>
                            </p:childTnLst>
                          </p:cTn>
                        </p:par>
                        <p:par>
                          <p:cTn id="38" fill="hold">
                            <p:stCondLst>
                              <p:cond delay="3500"/>
                            </p:stCondLst>
                            <p:childTnLst>
                              <p:par>
                                <p:cTn id="39" presetID="22" presetClass="entr" presetSubtype="4" fill="hold" nodeType="after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wipe(down)">
                                      <p:cBhvr>
                                        <p:cTn id="41" dur="500"/>
                                        <p:tgtEl>
                                          <p:spTgt spid="18"/>
                                        </p:tgtEl>
                                      </p:cBhvr>
                                    </p:animEffect>
                                  </p:childTnLst>
                                </p:cTn>
                              </p:par>
                            </p:childTnLst>
                          </p:cTn>
                        </p:par>
                        <p:par>
                          <p:cTn id="42" fill="hold">
                            <p:stCondLst>
                              <p:cond delay="4000"/>
                            </p:stCondLst>
                            <p:childTnLst>
                              <p:par>
                                <p:cTn id="43" presetID="22" presetClass="entr" presetSubtype="2" fill="hold" nodeType="after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wipe(right)">
                                      <p:cBhvr>
                                        <p:cTn id="45" dur="500"/>
                                        <p:tgtEl>
                                          <p:spTgt spid="17"/>
                                        </p:tgtEl>
                                      </p:cBhvr>
                                    </p:animEffect>
                                  </p:childTnLst>
                                </p:cTn>
                              </p:par>
                            </p:childTnLst>
                          </p:cTn>
                        </p:par>
                        <p:par>
                          <p:cTn id="46" fill="hold">
                            <p:stCondLst>
                              <p:cond delay="4500"/>
                            </p:stCondLst>
                            <p:childTnLst>
                              <p:par>
                                <p:cTn id="47" presetID="22" presetClass="entr" presetSubtype="4" fill="hold" nodeType="after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wipe(down)">
                                      <p:cBhvr>
                                        <p:cTn id="4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96938" y="838200"/>
            <a:ext cx="8652294" cy="1143000"/>
          </a:xfrm>
        </p:spPr>
        <p:txBody>
          <a:bodyPr/>
          <a:lstStyle/>
          <a:p>
            <a:r>
              <a:rPr lang="en-US" dirty="0"/>
              <a:t>English law</a:t>
            </a:r>
          </a:p>
        </p:txBody>
      </p:sp>
      <p:sp>
        <p:nvSpPr>
          <p:cNvPr id="3" name="Content Placeholder 2"/>
          <p:cNvSpPr>
            <a:spLocks noGrp="1"/>
          </p:cNvSpPr>
          <p:nvPr>
            <p:ph idx="1"/>
          </p:nvPr>
        </p:nvSpPr>
        <p:spPr>
          <a:xfrm>
            <a:off x="2096938" y="2193471"/>
            <a:ext cx="7696200" cy="4114800"/>
          </a:xfrm>
        </p:spPr>
        <p:txBody>
          <a:bodyPr/>
          <a:lstStyle/>
          <a:p>
            <a:r>
              <a:rPr lang="en-US" sz="1800" dirty="0"/>
              <a:t>Requires two elements for contract formation:</a:t>
            </a:r>
          </a:p>
          <a:p>
            <a:pPr lvl="1"/>
            <a:r>
              <a:rPr lang="en-US" sz="1600" dirty="0"/>
              <a:t>Mutual assent</a:t>
            </a:r>
          </a:p>
          <a:p>
            <a:pPr lvl="2"/>
            <a:r>
              <a:rPr lang="en-US" sz="1600" dirty="0"/>
              <a:t>Offer</a:t>
            </a:r>
          </a:p>
          <a:p>
            <a:pPr lvl="2"/>
            <a:r>
              <a:rPr lang="en-US" sz="1600" dirty="0"/>
              <a:t>Acceptance</a:t>
            </a:r>
          </a:p>
          <a:p>
            <a:pPr lvl="1"/>
            <a:r>
              <a:rPr lang="en-US" sz="1600" dirty="0"/>
              <a:t>Consideration</a:t>
            </a:r>
          </a:p>
          <a:p>
            <a:r>
              <a:rPr lang="en-US" sz="1800" dirty="0"/>
              <a:t>Consideration: an exchange is “bargained for”</a:t>
            </a:r>
          </a:p>
          <a:p>
            <a:pPr lvl="1"/>
            <a:r>
              <a:rPr lang="en-US" sz="1400" dirty="0"/>
              <a:t>Benefit-detriment test</a:t>
            </a:r>
          </a:p>
          <a:p>
            <a:pPr lvl="1"/>
            <a:r>
              <a:rPr lang="en-US" sz="1400" dirty="0"/>
              <a:t>Benefits and detriments are broadly construed</a:t>
            </a:r>
          </a:p>
          <a:p>
            <a:pPr lvl="2"/>
            <a:r>
              <a:rPr lang="en-US" sz="1400" dirty="0"/>
              <a:t>Any diminishment of legal freedom</a:t>
            </a:r>
          </a:p>
          <a:p>
            <a:pPr lvl="1"/>
            <a:r>
              <a:rPr lang="en-US" sz="1400" dirty="0"/>
              <a:t>Not an inquiry into value</a:t>
            </a:r>
          </a:p>
          <a:p>
            <a:pPr marL="457200" lvl="1" indent="0">
              <a:buNone/>
            </a:pPr>
            <a:endParaRPr lang="en-US" sz="1400" dirty="0"/>
          </a:p>
          <a:p>
            <a:pPr lvl="1"/>
            <a:endParaRPr lang="sr-Latn-ME" dirty="0"/>
          </a:p>
        </p:txBody>
      </p:sp>
      <p:sp>
        <p:nvSpPr>
          <p:cNvPr id="4" name="Rectangle 3">
            <a:extLst>
              <a:ext uri="{FF2B5EF4-FFF2-40B4-BE49-F238E27FC236}">
                <a16:creationId xmlns:a16="http://schemas.microsoft.com/office/drawing/2014/main" id="{FE84E903-F6F2-46BF-A489-438E10828C25}"/>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B999C4FF-03FB-4BF0-B268-77313A59C45C}"/>
              </a:ext>
            </a:extLst>
          </p:cNvPr>
          <p:cNvSpPr/>
          <p:nvPr/>
        </p:nvSpPr>
        <p:spPr>
          <a:xfrm rot="16200000">
            <a:off x="4785414" y="5547413"/>
            <a:ext cx="589173"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6225A382-5E0C-4BEE-BD54-F3B74B90219D}"/>
              </a:ext>
            </a:extLst>
          </p:cNvPr>
          <p:cNvSpPr/>
          <p:nvPr/>
        </p:nvSpPr>
        <p:spPr>
          <a:xfrm rot="16200000">
            <a:off x="6680724" y="5410723"/>
            <a:ext cx="862554"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66D1C43E-A9C4-45BE-867C-1468FC88A8EC}"/>
              </a:ext>
            </a:extLst>
          </p:cNvPr>
          <p:cNvSpPr/>
          <p:nvPr/>
        </p:nvSpPr>
        <p:spPr>
          <a:xfrm rot="16200000">
            <a:off x="8594272" y="5292271"/>
            <a:ext cx="1099457"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C83308B1-3E93-45B1-A77A-05F9C95D469D}"/>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929162EF-E2CB-4B76-B0B8-03EF4A921D41}"/>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E65FA422-B070-48CF-B1D7-A82FA49183E3}"/>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EC931432-7B02-469A-B414-5B9A160B5C36}"/>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6345F62F-492E-40A3-983A-42581EC68247}"/>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27AFACA7-3DE6-4E29-9837-4B13CC9AAA1B}"/>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238DAD88-AA3A-42BD-8D9C-DD79B2FD2F8B}"/>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A63ECA46-BAB0-4E95-B1D8-5088BDD1E178}"/>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D3272175-0F2D-4851-A20B-A703812AC6B9}"/>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565146AB-84CD-4B65-8808-92B1E3404146}"/>
              </a:ext>
            </a:extLst>
          </p:cNvPr>
          <p:cNvCxnSpPr/>
          <p:nvPr/>
        </p:nvCxnSpPr>
        <p:spPr>
          <a:xfrm>
            <a:off x="669303" y="5812915"/>
            <a:ext cx="4402317"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E1D74A-CE3D-4058-9C9F-5DA48757898E}"/>
              </a:ext>
            </a:extLst>
          </p:cNvPr>
          <p:cNvCxnSpPr>
            <a:cxnSpLocks/>
          </p:cNvCxnSpPr>
          <p:nvPr/>
        </p:nvCxnSpPr>
        <p:spPr>
          <a:xfrm>
            <a:off x="5071620" y="5812915"/>
            <a:ext cx="9763" cy="455911"/>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6F8F8422-98F1-4A41-AA22-A5BA8CB94B3F}"/>
              </a:ext>
            </a:extLst>
          </p:cNvPr>
          <p:cNvCxnSpPr>
            <a:cxnSpLocks/>
          </p:cNvCxnSpPr>
          <p:nvPr/>
        </p:nvCxnSpPr>
        <p:spPr>
          <a:xfrm>
            <a:off x="669303" y="838986"/>
            <a:ext cx="0" cy="4973929"/>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8243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additive="base">
                                        <p:cTn id="16" dur="500" fill="hold"/>
                                        <p:tgtEl>
                                          <p:spTgt spid="4"/>
                                        </p:tgtEl>
                                        <p:attrNameLst>
                                          <p:attrName>ppt_x</p:attrName>
                                        </p:attrNameLst>
                                      </p:cBhvr>
                                      <p:tavLst>
                                        <p:tav tm="0">
                                          <p:val>
                                            <p:strVal val="#ppt_x"/>
                                          </p:val>
                                        </p:tav>
                                        <p:tav tm="100000">
                                          <p:val>
                                            <p:strVal val="#ppt_x"/>
                                          </p:val>
                                        </p:tav>
                                      </p:tavLst>
                                    </p:anim>
                                    <p:anim calcmode="lin" valueType="num">
                                      <p:cBhvr additive="base">
                                        <p:cTn id="17" dur="500" fill="hold"/>
                                        <p:tgtEl>
                                          <p:spTgt spid="4"/>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additive="base">
                                        <p:cTn id="26" dur="500" fill="hold"/>
                                        <p:tgtEl>
                                          <p:spTgt spid="6"/>
                                        </p:tgtEl>
                                        <p:attrNameLst>
                                          <p:attrName>ppt_x</p:attrName>
                                        </p:attrNameLst>
                                      </p:cBhvr>
                                      <p:tavLst>
                                        <p:tav tm="0">
                                          <p:val>
                                            <p:strVal val="#ppt_x"/>
                                          </p:val>
                                        </p:tav>
                                        <p:tav tm="100000">
                                          <p:val>
                                            <p:strVal val="#ppt_x"/>
                                          </p:val>
                                        </p:tav>
                                      </p:tavLst>
                                    </p:anim>
                                    <p:anim calcmode="lin" valueType="num">
                                      <p:cBhvr additive="base">
                                        <p:cTn id="27" dur="500" fill="hold"/>
                                        <p:tgtEl>
                                          <p:spTgt spid="6"/>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ppt_x"/>
                                          </p:val>
                                        </p:tav>
                                        <p:tav tm="100000">
                                          <p:val>
                                            <p:strVal val="#ppt_x"/>
                                          </p:val>
                                        </p:tav>
                                      </p:tavLst>
                                    </p:anim>
                                    <p:anim calcmode="lin" valueType="num">
                                      <p:cBhvr additive="base">
                                        <p:cTn id="32" dur="500" fill="hold"/>
                                        <p:tgtEl>
                                          <p:spTgt spid="7"/>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ntr" presetSubtype="4" fill="hold" grpId="0" nodeType="after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additive="base">
                                        <p:cTn id="36" dur="500" fill="hold"/>
                                        <p:tgtEl>
                                          <p:spTgt spid="8"/>
                                        </p:tgtEl>
                                        <p:attrNameLst>
                                          <p:attrName>ppt_x</p:attrName>
                                        </p:attrNameLst>
                                      </p:cBhvr>
                                      <p:tavLst>
                                        <p:tav tm="0">
                                          <p:val>
                                            <p:strVal val="#ppt_x"/>
                                          </p:val>
                                        </p:tav>
                                        <p:tav tm="100000">
                                          <p:val>
                                            <p:strVal val="#ppt_x"/>
                                          </p:val>
                                        </p:tav>
                                      </p:tavLst>
                                    </p:anim>
                                    <p:anim calcmode="lin" valueType="num">
                                      <p:cBhvr additive="base">
                                        <p:cTn id="37" dur="500" fill="hold"/>
                                        <p:tgtEl>
                                          <p:spTgt spid="8"/>
                                        </p:tgtEl>
                                        <p:attrNameLst>
                                          <p:attrName>ppt_y</p:attrName>
                                        </p:attrNameLst>
                                      </p:cBhvr>
                                      <p:tavLst>
                                        <p:tav tm="0">
                                          <p:val>
                                            <p:strVal val="1+#ppt_h/2"/>
                                          </p:val>
                                        </p:tav>
                                        <p:tav tm="100000">
                                          <p:val>
                                            <p:strVal val="#ppt_y"/>
                                          </p:val>
                                        </p:tav>
                                      </p:tavLst>
                                    </p:anim>
                                  </p:childTnLst>
                                </p:cTn>
                              </p:par>
                            </p:childTnLst>
                          </p:cTn>
                        </p:par>
                        <p:par>
                          <p:cTn id="38" fill="hold">
                            <p:stCondLst>
                              <p:cond delay="3500"/>
                            </p:stCondLst>
                            <p:childTnLst>
                              <p:par>
                                <p:cTn id="39" presetID="22" presetClass="entr" presetSubtype="4" fill="hold" nodeType="after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wipe(down)">
                                      <p:cBhvr>
                                        <p:cTn id="41" dur="500"/>
                                        <p:tgtEl>
                                          <p:spTgt spid="18"/>
                                        </p:tgtEl>
                                      </p:cBhvr>
                                    </p:animEffect>
                                  </p:childTnLst>
                                </p:cTn>
                              </p:par>
                            </p:childTnLst>
                          </p:cTn>
                        </p:par>
                        <p:par>
                          <p:cTn id="42" fill="hold">
                            <p:stCondLst>
                              <p:cond delay="4000"/>
                            </p:stCondLst>
                            <p:childTnLst>
                              <p:par>
                                <p:cTn id="43" presetID="22" presetClass="entr" presetSubtype="2" fill="hold" nodeType="after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wipe(right)">
                                      <p:cBhvr>
                                        <p:cTn id="45" dur="500"/>
                                        <p:tgtEl>
                                          <p:spTgt spid="17"/>
                                        </p:tgtEl>
                                      </p:cBhvr>
                                    </p:animEffect>
                                  </p:childTnLst>
                                </p:cTn>
                              </p:par>
                            </p:childTnLst>
                          </p:cTn>
                        </p:par>
                        <p:par>
                          <p:cTn id="46" fill="hold">
                            <p:stCondLst>
                              <p:cond delay="4500"/>
                            </p:stCondLst>
                            <p:childTnLst>
                              <p:par>
                                <p:cTn id="47" presetID="22" presetClass="entr" presetSubtype="4" fill="hold" nodeType="after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wipe(down)">
                                      <p:cBhvr>
                                        <p:cTn id="4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2908" y="473990"/>
            <a:ext cx="8652294" cy="1143000"/>
          </a:xfrm>
        </p:spPr>
        <p:txBody>
          <a:bodyPr/>
          <a:lstStyle/>
          <a:p>
            <a:r>
              <a:rPr lang="en-US" dirty="0"/>
              <a:t>English law</a:t>
            </a:r>
          </a:p>
        </p:txBody>
      </p:sp>
      <p:sp>
        <p:nvSpPr>
          <p:cNvPr id="3" name="Content Placeholder 2"/>
          <p:cNvSpPr>
            <a:spLocks noGrp="1"/>
          </p:cNvSpPr>
          <p:nvPr>
            <p:ph idx="1"/>
          </p:nvPr>
        </p:nvSpPr>
        <p:spPr>
          <a:xfrm>
            <a:off x="2514600" y="1809750"/>
            <a:ext cx="7696200" cy="4114800"/>
          </a:xfrm>
        </p:spPr>
        <p:txBody>
          <a:bodyPr/>
          <a:lstStyle/>
          <a:p>
            <a:r>
              <a:rPr lang="en-US" sz="2400" dirty="0"/>
              <a:t>An offer may be revoked until it has been accepted</a:t>
            </a:r>
          </a:p>
          <a:p>
            <a:pPr lvl="1"/>
            <a:r>
              <a:rPr lang="en-US" dirty="0"/>
              <a:t>An offer not to revoke has to have consideration</a:t>
            </a:r>
          </a:p>
          <a:p>
            <a:pPr lvl="1"/>
            <a:endParaRPr lang="en-US" dirty="0"/>
          </a:p>
          <a:p>
            <a:r>
              <a:rPr lang="en-US" sz="2400" dirty="0"/>
              <a:t>Strict application of the “mirror image rule” to battle of forms</a:t>
            </a:r>
          </a:p>
          <a:p>
            <a:endParaRPr lang="en-US" sz="2400" dirty="0"/>
          </a:p>
          <a:p>
            <a:r>
              <a:rPr lang="en-US" sz="2400" dirty="0"/>
              <a:t>No duty of loyalty or good faith in negotiations</a:t>
            </a:r>
          </a:p>
          <a:p>
            <a:pPr lvl="1"/>
            <a:r>
              <a:rPr lang="en-US" dirty="0"/>
              <a:t>But there is a duty not to make fraudulent misrepresentations</a:t>
            </a:r>
          </a:p>
          <a:p>
            <a:pPr lvl="1"/>
            <a:endParaRPr lang="en-US" sz="1400" dirty="0"/>
          </a:p>
          <a:p>
            <a:pPr lvl="1"/>
            <a:endParaRPr lang="sr-Latn-ME" dirty="0"/>
          </a:p>
        </p:txBody>
      </p:sp>
      <p:sp>
        <p:nvSpPr>
          <p:cNvPr id="4" name="Rectangle 3">
            <a:extLst>
              <a:ext uri="{FF2B5EF4-FFF2-40B4-BE49-F238E27FC236}">
                <a16:creationId xmlns:a16="http://schemas.microsoft.com/office/drawing/2014/main" id="{8644FB13-5282-456F-A7F9-EB143C7FEB8E}"/>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5C562A28-A35B-4904-A7DE-D184E22AC75B}"/>
              </a:ext>
            </a:extLst>
          </p:cNvPr>
          <p:cNvSpPr/>
          <p:nvPr/>
        </p:nvSpPr>
        <p:spPr>
          <a:xfrm rot="16200000">
            <a:off x="4785414" y="5547413"/>
            <a:ext cx="589173"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16BA4974-7D75-44FD-8A5C-026872260F5A}"/>
              </a:ext>
            </a:extLst>
          </p:cNvPr>
          <p:cNvSpPr/>
          <p:nvPr/>
        </p:nvSpPr>
        <p:spPr>
          <a:xfrm rot="16200000">
            <a:off x="6680724" y="5410723"/>
            <a:ext cx="862554"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74DE3281-43CF-4615-BF35-009D0CE132D4}"/>
              </a:ext>
            </a:extLst>
          </p:cNvPr>
          <p:cNvSpPr/>
          <p:nvPr/>
        </p:nvSpPr>
        <p:spPr>
          <a:xfrm rot="16200000">
            <a:off x="8594272" y="5292271"/>
            <a:ext cx="1099457"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723BDCB2-80D5-4DB0-9FB5-DCB3BDF26018}"/>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04A04F96-2D03-4D6E-805E-65B87971D8E1}"/>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CFBDE6FC-3010-498F-A053-A1D1B0AC6D82}"/>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012C1037-A5A2-485A-9F6F-4DC5EF8CB9AC}"/>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1C2B2BDC-E7E0-4EF8-9364-DD2994E7AC2B}"/>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6E30B201-327D-4EF9-89EE-AB9F91416A90}"/>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7D9559E9-9ED3-4C0B-B766-52A13B91D853}"/>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E4A9F9F9-5D88-4DDF-8B14-7CA4C6627600}"/>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933467AD-C9EB-479B-9861-A8CD30026CAC}"/>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F05CB09F-3E6B-4E49-BABD-3CBD61547B2D}"/>
              </a:ext>
            </a:extLst>
          </p:cNvPr>
          <p:cNvCxnSpPr/>
          <p:nvPr/>
        </p:nvCxnSpPr>
        <p:spPr>
          <a:xfrm>
            <a:off x="669303" y="5812915"/>
            <a:ext cx="4402317"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D2A7924-86BA-4A2A-BEA0-D25001C37DAF}"/>
              </a:ext>
            </a:extLst>
          </p:cNvPr>
          <p:cNvCxnSpPr>
            <a:cxnSpLocks/>
          </p:cNvCxnSpPr>
          <p:nvPr/>
        </p:nvCxnSpPr>
        <p:spPr>
          <a:xfrm>
            <a:off x="5071620" y="5812915"/>
            <a:ext cx="9763" cy="455911"/>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CDF4B9F-4E94-46E2-B4E2-E483DD65DC52}"/>
              </a:ext>
            </a:extLst>
          </p:cNvPr>
          <p:cNvCxnSpPr>
            <a:cxnSpLocks/>
          </p:cNvCxnSpPr>
          <p:nvPr/>
        </p:nvCxnSpPr>
        <p:spPr>
          <a:xfrm>
            <a:off x="669303" y="838986"/>
            <a:ext cx="0" cy="4973929"/>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1588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1000"/>
                                        <p:tgtEl>
                                          <p:spTgt spid="3">
                                            <p:txEl>
                                              <p:pRg st="3" end="3"/>
                                            </p:txEl>
                                          </p:spTgt>
                                        </p:tgtEl>
                                      </p:cBhvr>
                                    </p:animEffect>
                                    <p:anim calcmode="lin" valueType="num">
                                      <p:cBhvr>
                                        <p:cTn id="20"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1000"/>
                                        <p:tgtEl>
                                          <p:spTgt spid="3">
                                            <p:txEl>
                                              <p:pRg st="5" end="5"/>
                                            </p:txEl>
                                          </p:spTgt>
                                        </p:tgtEl>
                                      </p:cBhvr>
                                    </p:animEffect>
                                    <p:anim calcmode="lin" valueType="num">
                                      <p:cBhvr>
                                        <p:cTn id="27"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5" end="5"/>
                                            </p:txEl>
                                          </p:spTgt>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fade">
                                      <p:cBhvr>
                                        <p:cTn id="31" dur="1000"/>
                                        <p:tgtEl>
                                          <p:spTgt spid="3">
                                            <p:txEl>
                                              <p:pRg st="6" end="6"/>
                                            </p:txEl>
                                          </p:spTgt>
                                        </p:tgtEl>
                                      </p:cBhvr>
                                    </p:animEffect>
                                    <p:anim calcmode="lin" valueType="num">
                                      <p:cBhvr>
                                        <p:cTn id="32"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3"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par>
                          <p:cTn id="34" fill="hold">
                            <p:stCondLst>
                              <p:cond delay="1000"/>
                            </p:stCondLst>
                            <p:childTnLst>
                              <p:par>
                                <p:cTn id="35" presetID="10" presetClass="entr" presetSubtype="0" fill="hold" nodeType="after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00"/>
                                        <p:tgtEl>
                                          <p:spTgt spid="10"/>
                                        </p:tgtEl>
                                      </p:cBhvr>
                                    </p:animEffect>
                                  </p:childTnLst>
                                </p:cTn>
                              </p:par>
                            </p:childTnLst>
                          </p:cTn>
                        </p:par>
                        <p:par>
                          <p:cTn id="38" fill="hold">
                            <p:stCondLst>
                              <p:cond delay="1500"/>
                            </p:stCondLst>
                            <p:childTnLst>
                              <p:par>
                                <p:cTn id="39" presetID="2" presetClass="entr" presetSubtype="4" fill="hold" grpId="0" nodeType="afterEffect">
                                  <p:stCondLst>
                                    <p:cond delay="0"/>
                                  </p:stCondLst>
                                  <p:childTnLst>
                                    <p:set>
                                      <p:cBhvr>
                                        <p:cTn id="40" dur="1" fill="hold">
                                          <p:stCondLst>
                                            <p:cond delay="0"/>
                                          </p:stCondLst>
                                        </p:cTn>
                                        <p:tgtEl>
                                          <p:spTgt spid="9"/>
                                        </p:tgtEl>
                                        <p:attrNameLst>
                                          <p:attrName>style.visibility</p:attrName>
                                        </p:attrNameLst>
                                      </p:cBhvr>
                                      <p:to>
                                        <p:strVal val="visible"/>
                                      </p:to>
                                    </p:set>
                                    <p:anim calcmode="lin" valueType="num">
                                      <p:cBhvr additive="base">
                                        <p:cTn id="41" dur="500" fill="hold"/>
                                        <p:tgtEl>
                                          <p:spTgt spid="9"/>
                                        </p:tgtEl>
                                        <p:attrNameLst>
                                          <p:attrName>ppt_x</p:attrName>
                                        </p:attrNameLst>
                                      </p:cBhvr>
                                      <p:tavLst>
                                        <p:tav tm="0">
                                          <p:val>
                                            <p:strVal val="#ppt_x"/>
                                          </p:val>
                                        </p:tav>
                                        <p:tav tm="100000">
                                          <p:val>
                                            <p:strVal val="#ppt_x"/>
                                          </p:val>
                                        </p:tav>
                                      </p:tavLst>
                                    </p:anim>
                                    <p:anim calcmode="lin" valueType="num">
                                      <p:cBhvr additive="base">
                                        <p:cTn id="42" dur="500" fill="hold"/>
                                        <p:tgtEl>
                                          <p:spTgt spid="9"/>
                                        </p:tgtEl>
                                        <p:attrNameLst>
                                          <p:attrName>ppt_y</p:attrName>
                                        </p:attrNameLst>
                                      </p:cBhvr>
                                      <p:tavLst>
                                        <p:tav tm="0">
                                          <p:val>
                                            <p:strVal val="1+#ppt_h/2"/>
                                          </p:val>
                                        </p:tav>
                                        <p:tav tm="100000">
                                          <p:val>
                                            <p:strVal val="#ppt_y"/>
                                          </p:val>
                                        </p:tav>
                                      </p:tavLst>
                                    </p:anim>
                                  </p:childTnLst>
                                </p:cTn>
                              </p:par>
                            </p:childTnLst>
                          </p:cTn>
                        </p:par>
                        <p:par>
                          <p:cTn id="43" fill="hold">
                            <p:stCondLst>
                              <p:cond delay="2000"/>
                            </p:stCondLst>
                            <p:childTnLst>
                              <p:par>
                                <p:cTn id="44" presetID="2" presetClass="entr" presetSubtype="4" fill="hold" grpId="0" nodeType="afterEffect">
                                  <p:stCondLst>
                                    <p:cond delay="0"/>
                                  </p:stCondLst>
                                  <p:childTnLst>
                                    <p:set>
                                      <p:cBhvr>
                                        <p:cTn id="45" dur="1" fill="hold">
                                          <p:stCondLst>
                                            <p:cond delay="0"/>
                                          </p:stCondLst>
                                        </p:cTn>
                                        <p:tgtEl>
                                          <p:spTgt spid="4"/>
                                        </p:tgtEl>
                                        <p:attrNameLst>
                                          <p:attrName>style.visibility</p:attrName>
                                        </p:attrNameLst>
                                      </p:cBhvr>
                                      <p:to>
                                        <p:strVal val="visible"/>
                                      </p:to>
                                    </p:set>
                                    <p:anim calcmode="lin" valueType="num">
                                      <p:cBhvr additive="base">
                                        <p:cTn id="46" dur="500" fill="hold"/>
                                        <p:tgtEl>
                                          <p:spTgt spid="4"/>
                                        </p:tgtEl>
                                        <p:attrNameLst>
                                          <p:attrName>ppt_x</p:attrName>
                                        </p:attrNameLst>
                                      </p:cBhvr>
                                      <p:tavLst>
                                        <p:tav tm="0">
                                          <p:val>
                                            <p:strVal val="#ppt_x"/>
                                          </p:val>
                                        </p:tav>
                                        <p:tav tm="100000">
                                          <p:val>
                                            <p:strVal val="#ppt_x"/>
                                          </p:val>
                                        </p:tav>
                                      </p:tavLst>
                                    </p:anim>
                                    <p:anim calcmode="lin" valueType="num">
                                      <p:cBhvr additive="base">
                                        <p:cTn id="47" dur="500" fill="hold"/>
                                        <p:tgtEl>
                                          <p:spTgt spid="4"/>
                                        </p:tgtEl>
                                        <p:attrNameLst>
                                          <p:attrName>ppt_y</p:attrName>
                                        </p:attrNameLst>
                                      </p:cBhvr>
                                      <p:tavLst>
                                        <p:tav tm="0">
                                          <p:val>
                                            <p:strVal val="1+#ppt_h/2"/>
                                          </p:val>
                                        </p:tav>
                                        <p:tav tm="100000">
                                          <p:val>
                                            <p:strVal val="#ppt_y"/>
                                          </p:val>
                                        </p:tav>
                                      </p:tavLst>
                                    </p:anim>
                                  </p:childTnLst>
                                </p:cTn>
                              </p:par>
                            </p:childTnLst>
                          </p:cTn>
                        </p:par>
                        <p:par>
                          <p:cTn id="48" fill="hold">
                            <p:stCondLst>
                              <p:cond delay="2500"/>
                            </p:stCondLst>
                            <p:childTnLst>
                              <p:par>
                                <p:cTn id="49" presetID="2" presetClass="entr" presetSubtype="4" fill="hold" grpId="0" nodeType="afterEffect">
                                  <p:stCondLst>
                                    <p:cond delay="0"/>
                                  </p:stCondLst>
                                  <p:childTnLst>
                                    <p:set>
                                      <p:cBhvr>
                                        <p:cTn id="50" dur="1" fill="hold">
                                          <p:stCondLst>
                                            <p:cond delay="0"/>
                                          </p:stCondLst>
                                        </p:cTn>
                                        <p:tgtEl>
                                          <p:spTgt spid="5"/>
                                        </p:tgtEl>
                                        <p:attrNameLst>
                                          <p:attrName>style.visibility</p:attrName>
                                        </p:attrNameLst>
                                      </p:cBhvr>
                                      <p:to>
                                        <p:strVal val="visible"/>
                                      </p:to>
                                    </p:set>
                                    <p:anim calcmode="lin" valueType="num">
                                      <p:cBhvr additive="base">
                                        <p:cTn id="51" dur="500" fill="hold"/>
                                        <p:tgtEl>
                                          <p:spTgt spid="5"/>
                                        </p:tgtEl>
                                        <p:attrNameLst>
                                          <p:attrName>ppt_x</p:attrName>
                                        </p:attrNameLst>
                                      </p:cBhvr>
                                      <p:tavLst>
                                        <p:tav tm="0">
                                          <p:val>
                                            <p:strVal val="#ppt_x"/>
                                          </p:val>
                                        </p:tav>
                                        <p:tav tm="100000">
                                          <p:val>
                                            <p:strVal val="#ppt_x"/>
                                          </p:val>
                                        </p:tav>
                                      </p:tavLst>
                                    </p:anim>
                                    <p:anim calcmode="lin" valueType="num">
                                      <p:cBhvr additive="base">
                                        <p:cTn id="52" dur="500" fill="hold"/>
                                        <p:tgtEl>
                                          <p:spTgt spid="5"/>
                                        </p:tgtEl>
                                        <p:attrNameLst>
                                          <p:attrName>ppt_y</p:attrName>
                                        </p:attrNameLst>
                                      </p:cBhvr>
                                      <p:tavLst>
                                        <p:tav tm="0">
                                          <p:val>
                                            <p:strVal val="1+#ppt_h/2"/>
                                          </p:val>
                                        </p:tav>
                                        <p:tav tm="100000">
                                          <p:val>
                                            <p:strVal val="#ppt_y"/>
                                          </p:val>
                                        </p:tav>
                                      </p:tavLst>
                                    </p:anim>
                                  </p:childTnLst>
                                </p:cTn>
                              </p:par>
                            </p:childTnLst>
                          </p:cTn>
                        </p:par>
                        <p:par>
                          <p:cTn id="53" fill="hold">
                            <p:stCondLst>
                              <p:cond delay="3000"/>
                            </p:stCondLst>
                            <p:childTnLst>
                              <p:par>
                                <p:cTn id="54" presetID="2" presetClass="entr" presetSubtype="4" fill="hold" grpId="0" nodeType="afterEffect">
                                  <p:stCondLst>
                                    <p:cond delay="0"/>
                                  </p:stCondLst>
                                  <p:childTnLst>
                                    <p:set>
                                      <p:cBhvr>
                                        <p:cTn id="55" dur="1" fill="hold">
                                          <p:stCondLst>
                                            <p:cond delay="0"/>
                                          </p:stCondLst>
                                        </p:cTn>
                                        <p:tgtEl>
                                          <p:spTgt spid="6"/>
                                        </p:tgtEl>
                                        <p:attrNameLst>
                                          <p:attrName>style.visibility</p:attrName>
                                        </p:attrNameLst>
                                      </p:cBhvr>
                                      <p:to>
                                        <p:strVal val="visible"/>
                                      </p:to>
                                    </p:set>
                                    <p:anim calcmode="lin" valueType="num">
                                      <p:cBhvr additive="base">
                                        <p:cTn id="56" dur="500" fill="hold"/>
                                        <p:tgtEl>
                                          <p:spTgt spid="6"/>
                                        </p:tgtEl>
                                        <p:attrNameLst>
                                          <p:attrName>ppt_x</p:attrName>
                                        </p:attrNameLst>
                                      </p:cBhvr>
                                      <p:tavLst>
                                        <p:tav tm="0">
                                          <p:val>
                                            <p:strVal val="#ppt_x"/>
                                          </p:val>
                                        </p:tav>
                                        <p:tav tm="100000">
                                          <p:val>
                                            <p:strVal val="#ppt_x"/>
                                          </p:val>
                                        </p:tav>
                                      </p:tavLst>
                                    </p:anim>
                                    <p:anim calcmode="lin" valueType="num">
                                      <p:cBhvr additive="base">
                                        <p:cTn id="57" dur="500" fill="hold"/>
                                        <p:tgtEl>
                                          <p:spTgt spid="6"/>
                                        </p:tgtEl>
                                        <p:attrNameLst>
                                          <p:attrName>ppt_y</p:attrName>
                                        </p:attrNameLst>
                                      </p:cBhvr>
                                      <p:tavLst>
                                        <p:tav tm="0">
                                          <p:val>
                                            <p:strVal val="1+#ppt_h/2"/>
                                          </p:val>
                                        </p:tav>
                                        <p:tav tm="100000">
                                          <p:val>
                                            <p:strVal val="#ppt_y"/>
                                          </p:val>
                                        </p:tav>
                                      </p:tavLst>
                                    </p:anim>
                                  </p:childTnLst>
                                </p:cTn>
                              </p:par>
                            </p:childTnLst>
                          </p:cTn>
                        </p:par>
                        <p:par>
                          <p:cTn id="58" fill="hold">
                            <p:stCondLst>
                              <p:cond delay="3500"/>
                            </p:stCondLst>
                            <p:childTnLst>
                              <p:par>
                                <p:cTn id="59" presetID="2" presetClass="entr" presetSubtype="4" fill="hold" grpId="0" nodeType="afterEffect">
                                  <p:stCondLst>
                                    <p:cond delay="0"/>
                                  </p:stCondLst>
                                  <p:childTnLst>
                                    <p:set>
                                      <p:cBhvr>
                                        <p:cTn id="60" dur="1" fill="hold">
                                          <p:stCondLst>
                                            <p:cond delay="0"/>
                                          </p:stCondLst>
                                        </p:cTn>
                                        <p:tgtEl>
                                          <p:spTgt spid="7"/>
                                        </p:tgtEl>
                                        <p:attrNameLst>
                                          <p:attrName>style.visibility</p:attrName>
                                        </p:attrNameLst>
                                      </p:cBhvr>
                                      <p:to>
                                        <p:strVal val="visible"/>
                                      </p:to>
                                    </p:set>
                                    <p:anim calcmode="lin" valueType="num">
                                      <p:cBhvr additive="base">
                                        <p:cTn id="61" dur="500" fill="hold"/>
                                        <p:tgtEl>
                                          <p:spTgt spid="7"/>
                                        </p:tgtEl>
                                        <p:attrNameLst>
                                          <p:attrName>ppt_x</p:attrName>
                                        </p:attrNameLst>
                                      </p:cBhvr>
                                      <p:tavLst>
                                        <p:tav tm="0">
                                          <p:val>
                                            <p:strVal val="#ppt_x"/>
                                          </p:val>
                                        </p:tav>
                                        <p:tav tm="100000">
                                          <p:val>
                                            <p:strVal val="#ppt_x"/>
                                          </p:val>
                                        </p:tav>
                                      </p:tavLst>
                                    </p:anim>
                                    <p:anim calcmode="lin" valueType="num">
                                      <p:cBhvr additive="base">
                                        <p:cTn id="62" dur="500" fill="hold"/>
                                        <p:tgtEl>
                                          <p:spTgt spid="7"/>
                                        </p:tgtEl>
                                        <p:attrNameLst>
                                          <p:attrName>ppt_y</p:attrName>
                                        </p:attrNameLst>
                                      </p:cBhvr>
                                      <p:tavLst>
                                        <p:tav tm="0">
                                          <p:val>
                                            <p:strVal val="1+#ppt_h/2"/>
                                          </p:val>
                                        </p:tav>
                                        <p:tav tm="100000">
                                          <p:val>
                                            <p:strVal val="#ppt_y"/>
                                          </p:val>
                                        </p:tav>
                                      </p:tavLst>
                                    </p:anim>
                                  </p:childTnLst>
                                </p:cTn>
                              </p:par>
                            </p:childTnLst>
                          </p:cTn>
                        </p:par>
                        <p:par>
                          <p:cTn id="63" fill="hold">
                            <p:stCondLst>
                              <p:cond delay="4000"/>
                            </p:stCondLst>
                            <p:childTnLst>
                              <p:par>
                                <p:cTn id="64" presetID="2" presetClass="entr" presetSubtype="4" fill="hold" grpId="0" nodeType="afterEffect">
                                  <p:stCondLst>
                                    <p:cond delay="0"/>
                                  </p:stCondLst>
                                  <p:childTnLst>
                                    <p:set>
                                      <p:cBhvr>
                                        <p:cTn id="65" dur="1" fill="hold">
                                          <p:stCondLst>
                                            <p:cond delay="0"/>
                                          </p:stCondLst>
                                        </p:cTn>
                                        <p:tgtEl>
                                          <p:spTgt spid="8"/>
                                        </p:tgtEl>
                                        <p:attrNameLst>
                                          <p:attrName>style.visibility</p:attrName>
                                        </p:attrNameLst>
                                      </p:cBhvr>
                                      <p:to>
                                        <p:strVal val="visible"/>
                                      </p:to>
                                    </p:set>
                                    <p:anim calcmode="lin" valueType="num">
                                      <p:cBhvr additive="base">
                                        <p:cTn id="66" dur="500" fill="hold"/>
                                        <p:tgtEl>
                                          <p:spTgt spid="8"/>
                                        </p:tgtEl>
                                        <p:attrNameLst>
                                          <p:attrName>ppt_x</p:attrName>
                                        </p:attrNameLst>
                                      </p:cBhvr>
                                      <p:tavLst>
                                        <p:tav tm="0">
                                          <p:val>
                                            <p:strVal val="#ppt_x"/>
                                          </p:val>
                                        </p:tav>
                                        <p:tav tm="100000">
                                          <p:val>
                                            <p:strVal val="#ppt_x"/>
                                          </p:val>
                                        </p:tav>
                                      </p:tavLst>
                                    </p:anim>
                                    <p:anim calcmode="lin" valueType="num">
                                      <p:cBhvr additive="base">
                                        <p:cTn id="67" dur="500" fill="hold"/>
                                        <p:tgtEl>
                                          <p:spTgt spid="8"/>
                                        </p:tgtEl>
                                        <p:attrNameLst>
                                          <p:attrName>ppt_y</p:attrName>
                                        </p:attrNameLst>
                                      </p:cBhvr>
                                      <p:tavLst>
                                        <p:tav tm="0">
                                          <p:val>
                                            <p:strVal val="1+#ppt_h/2"/>
                                          </p:val>
                                        </p:tav>
                                        <p:tav tm="100000">
                                          <p:val>
                                            <p:strVal val="#ppt_y"/>
                                          </p:val>
                                        </p:tav>
                                      </p:tavLst>
                                    </p:anim>
                                  </p:childTnLst>
                                </p:cTn>
                              </p:par>
                            </p:childTnLst>
                          </p:cTn>
                        </p:par>
                        <p:par>
                          <p:cTn id="68" fill="hold">
                            <p:stCondLst>
                              <p:cond delay="4500"/>
                            </p:stCondLst>
                            <p:childTnLst>
                              <p:par>
                                <p:cTn id="69" presetID="22" presetClass="entr" presetSubtype="4" fill="hold" nodeType="afterEffect">
                                  <p:stCondLst>
                                    <p:cond delay="0"/>
                                  </p:stCondLst>
                                  <p:childTnLst>
                                    <p:set>
                                      <p:cBhvr>
                                        <p:cTn id="70" dur="1" fill="hold">
                                          <p:stCondLst>
                                            <p:cond delay="0"/>
                                          </p:stCondLst>
                                        </p:cTn>
                                        <p:tgtEl>
                                          <p:spTgt spid="18"/>
                                        </p:tgtEl>
                                        <p:attrNameLst>
                                          <p:attrName>style.visibility</p:attrName>
                                        </p:attrNameLst>
                                      </p:cBhvr>
                                      <p:to>
                                        <p:strVal val="visible"/>
                                      </p:to>
                                    </p:set>
                                    <p:animEffect transition="in" filter="wipe(down)">
                                      <p:cBhvr>
                                        <p:cTn id="71" dur="500"/>
                                        <p:tgtEl>
                                          <p:spTgt spid="18"/>
                                        </p:tgtEl>
                                      </p:cBhvr>
                                    </p:animEffect>
                                  </p:childTnLst>
                                </p:cTn>
                              </p:par>
                            </p:childTnLst>
                          </p:cTn>
                        </p:par>
                        <p:par>
                          <p:cTn id="72" fill="hold">
                            <p:stCondLst>
                              <p:cond delay="5000"/>
                            </p:stCondLst>
                            <p:childTnLst>
                              <p:par>
                                <p:cTn id="73" presetID="22" presetClass="entr" presetSubtype="2" fill="hold" nodeType="afterEffect">
                                  <p:stCondLst>
                                    <p:cond delay="0"/>
                                  </p:stCondLst>
                                  <p:childTnLst>
                                    <p:set>
                                      <p:cBhvr>
                                        <p:cTn id="74" dur="1" fill="hold">
                                          <p:stCondLst>
                                            <p:cond delay="0"/>
                                          </p:stCondLst>
                                        </p:cTn>
                                        <p:tgtEl>
                                          <p:spTgt spid="17"/>
                                        </p:tgtEl>
                                        <p:attrNameLst>
                                          <p:attrName>style.visibility</p:attrName>
                                        </p:attrNameLst>
                                      </p:cBhvr>
                                      <p:to>
                                        <p:strVal val="visible"/>
                                      </p:to>
                                    </p:set>
                                    <p:animEffect transition="in" filter="wipe(right)">
                                      <p:cBhvr>
                                        <p:cTn id="75" dur="500"/>
                                        <p:tgtEl>
                                          <p:spTgt spid="17"/>
                                        </p:tgtEl>
                                      </p:cBhvr>
                                    </p:animEffect>
                                  </p:childTnLst>
                                </p:cTn>
                              </p:par>
                            </p:childTnLst>
                          </p:cTn>
                        </p:par>
                        <p:par>
                          <p:cTn id="76" fill="hold">
                            <p:stCondLst>
                              <p:cond delay="5500"/>
                            </p:stCondLst>
                            <p:childTnLst>
                              <p:par>
                                <p:cTn id="77" presetID="22" presetClass="entr" presetSubtype="4" fill="hold" nodeType="afterEffect">
                                  <p:stCondLst>
                                    <p:cond delay="0"/>
                                  </p:stCondLst>
                                  <p:childTnLst>
                                    <p:set>
                                      <p:cBhvr>
                                        <p:cTn id="78" dur="1" fill="hold">
                                          <p:stCondLst>
                                            <p:cond delay="0"/>
                                          </p:stCondLst>
                                        </p:cTn>
                                        <p:tgtEl>
                                          <p:spTgt spid="19"/>
                                        </p:tgtEl>
                                        <p:attrNameLst>
                                          <p:attrName>style.visibility</p:attrName>
                                        </p:attrNameLst>
                                      </p:cBhvr>
                                      <p:to>
                                        <p:strVal val="visible"/>
                                      </p:to>
                                    </p:set>
                                    <p:animEffect transition="in" filter="wipe(down)">
                                      <p:cBhvr>
                                        <p:cTn id="7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5" grpId="0" animBg="1"/>
      <p:bldP spid="6" grpId="0" animBg="1"/>
      <p:bldP spid="7" grpId="0" animBg="1"/>
      <p:bldP spid="8" grpId="0" animBg="1"/>
      <p:bldP spid="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6019" y="152783"/>
            <a:ext cx="9799961" cy="1143000"/>
          </a:xfrm>
        </p:spPr>
        <p:txBody>
          <a:bodyPr>
            <a:normAutofit fontScale="90000"/>
          </a:bodyPr>
          <a:lstStyle/>
          <a:p>
            <a:r>
              <a:rPr lang="en-US" dirty="0"/>
              <a:t>Written amendment to an existing contract</a:t>
            </a:r>
          </a:p>
        </p:txBody>
      </p:sp>
      <p:sp>
        <p:nvSpPr>
          <p:cNvPr id="3" name="Content Placeholder 2"/>
          <p:cNvSpPr>
            <a:spLocks noGrp="1"/>
          </p:cNvSpPr>
          <p:nvPr>
            <p:ph idx="1"/>
          </p:nvPr>
        </p:nvSpPr>
        <p:spPr>
          <a:xfrm>
            <a:off x="1136459" y="1472772"/>
            <a:ext cx="10515600" cy="4351338"/>
          </a:xfrm>
        </p:spPr>
        <p:txBody>
          <a:bodyPr>
            <a:normAutofit lnSpcReduction="10000"/>
          </a:bodyPr>
          <a:lstStyle/>
          <a:p>
            <a:r>
              <a:rPr lang="en-US" b="1" dirty="0"/>
              <a:t>Parties enter into a contract</a:t>
            </a:r>
          </a:p>
          <a:p>
            <a:pPr lvl="1"/>
            <a:r>
              <a:rPr lang="en-US" dirty="0"/>
              <a:t>Company A sells bananas to company B</a:t>
            </a:r>
          </a:p>
          <a:p>
            <a:r>
              <a:rPr lang="en-US" b="1" dirty="0"/>
              <a:t>They subsequently change the terms of the contract</a:t>
            </a:r>
          </a:p>
          <a:p>
            <a:pPr lvl="1"/>
            <a:r>
              <a:rPr lang="en-US" dirty="0"/>
              <a:t>A realizes that they have made a mistake in their original offer, and proposes an increase in price</a:t>
            </a:r>
          </a:p>
          <a:p>
            <a:pPr lvl="1"/>
            <a:r>
              <a:rPr lang="en-US" dirty="0"/>
              <a:t>In order to avoid any delays, B agrees to pay a higher price</a:t>
            </a:r>
          </a:p>
          <a:p>
            <a:pPr lvl="1"/>
            <a:r>
              <a:rPr lang="en-US" dirty="0"/>
              <a:t>The rest of the terms is identical</a:t>
            </a:r>
          </a:p>
          <a:p>
            <a:r>
              <a:rPr lang="en-US" b="1" dirty="0"/>
              <a:t>One party then wishes to avoid enforcement of the changed terms</a:t>
            </a:r>
          </a:p>
          <a:p>
            <a:pPr lvl="1"/>
            <a:r>
              <a:rPr lang="en-US" dirty="0"/>
              <a:t>B then finds a new supplier, offering to provide bananas at a price similar to the one that A offered initially</a:t>
            </a:r>
          </a:p>
          <a:p>
            <a:pPr lvl="1"/>
            <a:r>
              <a:rPr lang="en-US" dirty="0"/>
              <a:t>B wants to revoke the amendment</a:t>
            </a:r>
            <a:endParaRPr lang="sr-Latn-ME" dirty="0"/>
          </a:p>
        </p:txBody>
      </p:sp>
      <p:sp>
        <p:nvSpPr>
          <p:cNvPr id="4" name="Rectangle 3">
            <a:extLst>
              <a:ext uri="{FF2B5EF4-FFF2-40B4-BE49-F238E27FC236}">
                <a16:creationId xmlns:a16="http://schemas.microsoft.com/office/drawing/2014/main" id="{2CE9B56D-25B8-4B72-BB3C-2739CAAFAF75}"/>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5AB29633-D34A-40F0-AEFC-FB440E5C8758}"/>
              </a:ext>
            </a:extLst>
          </p:cNvPr>
          <p:cNvSpPr/>
          <p:nvPr/>
        </p:nvSpPr>
        <p:spPr>
          <a:xfrm rot="16200000">
            <a:off x="4785414" y="5547413"/>
            <a:ext cx="589173"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D64EB220-A2D7-40DB-A787-09C0823F9F3D}"/>
              </a:ext>
            </a:extLst>
          </p:cNvPr>
          <p:cNvSpPr/>
          <p:nvPr/>
        </p:nvSpPr>
        <p:spPr>
          <a:xfrm rot="16200000">
            <a:off x="6680724" y="5410723"/>
            <a:ext cx="862554"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BA4BDEC8-0513-4B74-B649-045D64CC5091}"/>
              </a:ext>
            </a:extLst>
          </p:cNvPr>
          <p:cNvSpPr/>
          <p:nvPr/>
        </p:nvSpPr>
        <p:spPr>
          <a:xfrm rot="16200000">
            <a:off x="8594272" y="5292271"/>
            <a:ext cx="1099457"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0E487507-3809-41AF-A502-92E513B628EC}"/>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B519889D-3EFA-4CED-9235-379E7C2F51FF}"/>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87A9A13D-E6C3-4677-988E-7BF784825264}"/>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D1BFF2E7-27F2-4A30-BBC7-B0DEA882580F}"/>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18B47295-7E26-4D8D-89B4-CD7A283DDE70}"/>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39A7CBD8-410A-49B4-9753-4B0C9BFFC773}"/>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B169539D-8F5D-424E-987E-2310AE4EDB15}"/>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DD87D4E5-A71A-4EAB-98FA-13396242A57E}"/>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E5EE5428-F48C-4993-8785-4F73DEEB4EEA}"/>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457D2491-8516-479B-8C26-7BBCB188C22A}"/>
              </a:ext>
            </a:extLst>
          </p:cNvPr>
          <p:cNvCxnSpPr/>
          <p:nvPr/>
        </p:nvCxnSpPr>
        <p:spPr>
          <a:xfrm>
            <a:off x="669303" y="5812915"/>
            <a:ext cx="4402317"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8A2DBD43-3193-436A-8109-678DD5A59AB7}"/>
              </a:ext>
            </a:extLst>
          </p:cNvPr>
          <p:cNvCxnSpPr>
            <a:cxnSpLocks/>
          </p:cNvCxnSpPr>
          <p:nvPr/>
        </p:nvCxnSpPr>
        <p:spPr>
          <a:xfrm>
            <a:off x="5071620" y="5812915"/>
            <a:ext cx="9763" cy="455911"/>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F7A80ED3-EF37-449B-B65A-6BC76EF9651B}"/>
              </a:ext>
            </a:extLst>
          </p:cNvPr>
          <p:cNvCxnSpPr>
            <a:cxnSpLocks/>
          </p:cNvCxnSpPr>
          <p:nvPr/>
        </p:nvCxnSpPr>
        <p:spPr>
          <a:xfrm>
            <a:off x="669303" y="838986"/>
            <a:ext cx="0" cy="4973929"/>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59190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fade">
                                      <p:cBhvr>
                                        <p:cTn id="29" dur="500"/>
                                        <p:tgtEl>
                                          <p:spTgt spid="3">
                                            <p:txEl>
                                              <p:pRg st="6" end="6"/>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fade">
                                      <p:cBhvr>
                                        <p:cTn id="35" dur="500"/>
                                        <p:tgtEl>
                                          <p:spTgt spid="3">
                                            <p:txEl>
                                              <p:pRg st="8" end="8"/>
                                            </p:txEl>
                                          </p:spTgt>
                                        </p:tgtEl>
                                      </p:cBhvr>
                                    </p:animEffect>
                                  </p:childTnLst>
                                </p:cTn>
                              </p:par>
                            </p:childTnLst>
                          </p:cTn>
                        </p:par>
                        <p:par>
                          <p:cTn id="36" fill="hold">
                            <p:stCondLst>
                              <p:cond delay="500"/>
                            </p:stCondLst>
                            <p:childTnLst>
                              <p:par>
                                <p:cTn id="37" presetID="10" presetClass="entr" presetSubtype="0" fill="hold" nodeType="after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500"/>
                                        <p:tgtEl>
                                          <p:spTgt spid="10"/>
                                        </p:tgtEl>
                                      </p:cBhvr>
                                    </p:animEffect>
                                  </p:childTnLst>
                                </p:cTn>
                              </p:par>
                            </p:childTnLst>
                          </p:cTn>
                        </p:par>
                        <p:par>
                          <p:cTn id="40" fill="hold">
                            <p:stCondLst>
                              <p:cond delay="1000"/>
                            </p:stCondLst>
                            <p:childTnLst>
                              <p:par>
                                <p:cTn id="41" presetID="2" presetClass="entr" presetSubtype="4" fill="hold" grpId="0" nodeType="afterEffect">
                                  <p:stCondLst>
                                    <p:cond delay="0"/>
                                  </p:stCondLst>
                                  <p:childTnLst>
                                    <p:set>
                                      <p:cBhvr>
                                        <p:cTn id="42" dur="1" fill="hold">
                                          <p:stCondLst>
                                            <p:cond delay="0"/>
                                          </p:stCondLst>
                                        </p:cTn>
                                        <p:tgtEl>
                                          <p:spTgt spid="9"/>
                                        </p:tgtEl>
                                        <p:attrNameLst>
                                          <p:attrName>style.visibility</p:attrName>
                                        </p:attrNameLst>
                                      </p:cBhvr>
                                      <p:to>
                                        <p:strVal val="visible"/>
                                      </p:to>
                                    </p:set>
                                    <p:anim calcmode="lin" valueType="num">
                                      <p:cBhvr additive="base">
                                        <p:cTn id="43" dur="500" fill="hold"/>
                                        <p:tgtEl>
                                          <p:spTgt spid="9"/>
                                        </p:tgtEl>
                                        <p:attrNameLst>
                                          <p:attrName>ppt_x</p:attrName>
                                        </p:attrNameLst>
                                      </p:cBhvr>
                                      <p:tavLst>
                                        <p:tav tm="0">
                                          <p:val>
                                            <p:strVal val="#ppt_x"/>
                                          </p:val>
                                        </p:tav>
                                        <p:tav tm="100000">
                                          <p:val>
                                            <p:strVal val="#ppt_x"/>
                                          </p:val>
                                        </p:tav>
                                      </p:tavLst>
                                    </p:anim>
                                    <p:anim calcmode="lin" valueType="num">
                                      <p:cBhvr additive="base">
                                        <p:cTn id="44" dur="500" fill="hold"/>
                                        <p:tgtEl>
                                          <p:spTgt spid="9"/>
                                        </p:tgtEl>
                                        <p:attrNameLst>
                                          <p:attrName>ppt_y</p:attrName>
                                        </p:attrNameLst>
                                      </p:cBhvr>
                                      <p:tavLst>
                                        <p:tav tm="0">
                                          <p:val>
                                            <p:strVal val="1+#ppt_h/2"/>
                                          </p:val>
                                        </p:tav>
                                        <p:tav tm="100000">
                                          <p:val>
                                            <p:strVal val="#ppt_y"/>
                                          </p:val>
                                        </p:tav>
                                      </p:tavLst>
                                    </p:anim>
                                  </p:childTnLst>
                                </p:cTn>
                              </p:par>
                            </p:childTnLst>
                          </p:cTn>
                        </p:par>
                        <p:par>
                          <p:cTn id="45" fill="hold">
                            <p:stCondLst>
                              <p:cond delay="1500"/>
                            </p:stCondLst>
                            <p:childTnLst>
                              <p:par>
                                <p:cTn id="46" presetID="2" presetClass="entr" presetSubtype="4" fill="hold" grpId="0" nodeType="afterEffect">
                                  <p:stCondLst>
                                    <p:cond delay="0"/>
                                  </p:stCondLst>
                                  <p:childTnLst>
                                    <p:set>
                                      <p:cBhvr>
                                        <p:cTn id="47" dur="1" fill="hold">
                                          <p:stCondLst>
                                            <p:cond delay="0"/>
                                          </p:stCondLst>
                                        </p:cTn>
                                        <p:tgtEl>
                                          <p:spTgt spid="4"/>
                                        </p:tgtEl>
                                        <p:attrNameLst>
                                          <p:attrName>style.visibility</p:attrName>
                                        </p:attrNameLst>
                                      </p:cBhvr>
                                      <p:to>
                                        <p:strVal val="visible"/>
                                      </p:to>
                                    </p:set>
                                    <p:anim calcmode="lin" valueType="num">
                                      <p:cBhvr additive="base">
                                        <p:cTn id="48" dur="500" fill="hold"/>
                                        <p:tgtEl>
                                          <p:spTgt spid="4"/>
                                        </p:tgtEl>
                                        <p:attrNameLst>
                                          <p:attrName>ppt_x</p:attrName>
                                        </p:attrNameLst>
                                      </p:cBhvr>
                                      <p:tavLst>
                                        <p:tav tm="0">
                                          <p:val>
                                            <p:strVal val="#ppt_x"/>
                                          </p:val>
                                        </p:tav>
                                        <p:tav tm="100000">
                                          <p:val>
                                            <p:strVal val="#ppt_x"/>
                                          </p:val>
                                        </p:tav>
                                      </p:tavLst>
                                    </p:anim>
                                    <p:anim calcmode="lin" valueType="num">
                                      <p:cBhvr additive="base">
                                        <p:cTn id="49" dur="500" fill="hold"/>
                                        <p:tgtEl>
                                          <p:spTgt spid="4"/>
                                        </p:tgtEl>
                                        <p:attrNameLst>
                                          <p:attrName>ppt_y</p:attrName>
                                        </p:attrNameLst>
                                      </p:cBhvr>
                                      <p:tavLst>
                                        <p:tav tm="0">
                                          <p:val>
                                            <p:strVal val="1+#ppt_h/2"/>
                                          </p:val>
                                        </p:tav>
                                        <p:tav tm="100000">
                                          <p:val>
                                            <p:strVal val="#ppt_y"/>
                                          </p:val>
                                        </p:tav>
                                      </p:tavLst>
                                    </p:anim>
                                  </p:childTnLst>
                                </p:cTn>
                              </p:par>
                            </p:childTnLst>
                          </p:cTn>
                        </p:par>
                        <p:par>
                          <p:cTn id="50" fill="hold">
                            <p:stCondLst>
                              <p:cond delay="2000"/>
                            </p:stCondLst>
                            <p:childTnLst>
                              <p:par>
                                <p:cTn id="51" presetID="2" presetClass="entr" presetSubtype="4" fill="hold" grpId="0" nodeType="afterEffect">
                                  <p:stCondLst>
                                    <p:cond delay="0"/>
                                  </p:stCondLst>
                                  <p:childTnLst>
                                    <p:set>
                                      <p:cBhvr>
                                        <p:cTn id="52" dur="1" fill="hold">
                                          <p:stCondLst>
                                            <p:cond delay="0"/>
                                          </p:stCondLst>
                                        </p:cTn>
                                        <p:tgtEl>
                                          <p:spTgt spid="5"/>
                                        </p:tgtEl>
                                        <p:attrNameLst>
                                          <p:attrName>style.visibility</p:attrName>
                                        </p:attrNameLst>
                                      </p:cBhvr>
                                      <p:to>
                                        <p:strVal val="visible"/>
                                      </p:to>
                                    </p:set>
                                    <p:anim calcmode="lin" valueType="num">
                                      <p:cBhvr additive="base">
                                        <p:cTn id="53" dur="500" fill="hold"/>
                                        <p:tgtEl>
                                          <p:spTgt spid="5"/>
                                        </p:tgtEl>
                                        <p:attrNameLst>
                                          <p:attrName>ppt_x</p:attrName>
                                        </p:attrNameLst>
                                      </p:cBhvr>
                                      <p:tavLst>
                                        <p:tav tm="0">
                                          <p:val>
                                            <p:strVal val="#ppt_x"/>
                                          </p:val>
                                        </p:tav>
                                        <p:tav tm="100000">
                                          <p:val>
                                            <p:strVal val="#ppt_x"/>
                                          </p:val>
                                        </p:tav>
                                      </p:tavLst>
                                    </p:anim>
                                    <p:anim calcmode="lin" valueType="num">
                                      <p:cBhvr additive="base">
                                        <p:cTn id="54" dur="500" fill="hold"/>
                                        <p:tgtEl>
                                          <p:spTgt spid="5"/>
                                        </p:tgtEl>
                                        <p:attrNameLst>
                                          <p:attrName>ppt_y</p:attrName>
                                        </p:attrNameLst>
                                      </p:cBhvr>
                                      <p:tavLst>
                                        <p:tav tm="0">
                                          <p:val>
                                            <p:strVal val="1+#ppt_h/2"/>
                                          </p:val>
                                        </p:tav>
                                        <p:tav tm="100000">
                                          <p:val>
                                            <p:strVal val="#ppt_y"/>
                                          </p:val>
                                        </p:tav>
                                      </p:tavLst>
                                    </p:anim>
                                  </p:childTnLst>
                                </p:cTn>
                              </p:par>
                            </p:childTnLst>
                          </p:cTn>
                        </p:par>
                        <p:par>
                          <p:cTn id="55" fill="hold">
                            <p:stCondLst>
                              <p:cond delay="2500"/>
                            </p:stCondLst>
                            <p:childTnLst>
                              <p:par>
                                <p:cTn id="56" presetID="2" presetClass="entr" presetSubtype="4" fill="hold" grpId="0" nodeType="afterEffect">
                                  <p:stCondLst>
                                    <p:cond delay="0"/>
                                  </p:stCondLst>
                                  <p:childTnLst>
                                    <p:set>
                                      <p:cBhvr>
                                        <p:cTn id="57" dur="1" fill="hold">
                                          <p:stCondLst>
                                            <p:cond delay="0"/>
                                          </p:stCondLst>
                                        </p:cTn>
                                        <p:tgtEl>
                                          <p:spTgt spid="6"/>
                                        </p:tgtEl>
                                        <p:attrNameLst>
                                          <p:attrName>style.visibility</p:attrName>
                                        </p:attrNameLst>
                                      </p:cBhvr>
                                      <p:to>
                                        <p:strVal val="visible"/>
                                      </p:to>
                                    </p:set>
                                    <p:anim calcmode="lin" valueType="num">
                                      <p:cBhvr additive="base">
                                        <p:cTn id="58" dur="500" fill="hold"/>
                                        <p:tgtEl>
                                          <p:spTgt spid="6"/>
                                        </p:tgtEl>
                                        <p:attrNameLst>
                                          <p:attrName>ppt_x</p:attrName>
                                        </p:attrNameLst>
                                      </p:cBhvr>
                                      <p:tavLst>
                                        <p:tav tm="0">
                                          <p:val>
                                            <p:strVal val="#ppt_x"/>
                                          </p:val>
                                        </p:tav>
                                        <p:tav tm="100000">
                                          <p:val>
                                            <p:strVal val="#ppt_x"/>
                                          </p:val>
                                        </p:tav>
                                      </p:tavLst>
                                    </p:anim>
                                    <p:anim calcmode="lin" valueType="num">
                                      <p:cBhvr additive="base">
                                        <p:cTn id="59" dur="500" fill="hold"/>
                                        <p:tgtEl>
                                          <p:spTgt spid="6"/>
                                        </p:tgtEl>
                                        <p:attrNameLst>
                                          <p:attrName>ppt_y</p:attrName>
                                        </p:attrNameLst>
                                      </p:cBhvr>
                                      <p:tavLst>
                                        <p:tav tm="0">
                                          <p:val>
                                            <p:strVal val="1+#ppt_h/2"/>
                                          </p:val>
                                        </p:tav>
                                        <p:tav tm="100000">
                                          <p:val>
                                            <p:strVal val="#ppt_y"/>
                                          </p:val>
                                        </p:tav>
                                      </p:tavLst>
                                    </p:anim>
                                  </p:childTnLst>
                                </p:cTn>
                              </p:par>
                            </p:childTnLst>
                          </p:cTn>
                        </p:par>
                        <p:par>
                          <p:cTn id="60" fill="hold">
                            <p:stCondLst>
                              <p:cond delay="3000"/>
                            </p:stCondLst>
                            <p:childTnLst>
                              <p:par>
                                <p:cTn id="61" presetID="2" presetClass="entr" presetSubtype="4" fill="hold" grpId="0" nodeType="afterEffect">
                                  <p:stCondLst>
                                    <p:cond delay="0"/>
                                  </p:stCondLst>
                                  <p:childTnLst>
                                    <p:set>
                                      <p:cBhvr>
                                        <p:cTn id="62" dur="1" fill="hold">
                                          <p:stCondLst>
                                            <p:cond delay="0"/>
                                          </p:stCondLst>
                                        </p:cTn>
                                        <p:tgtEl>
                                          <p:spTgt spid="7"/>
                                        </p:tgtEl>
                                        <p:attrNameLst>
                                          <p:attrName>style.visibility</p:attrName>
                                        </p:attrNameLst>
                                      </p:cBhvr>
                                      <p:to>
                                        <p:strVal val="visible"/>
                                      </p:to>
                                    </p:set>
                                    <p:anim calcmode="lin" valueType="num">
                                      <p:cBhvr additive="base">
                                        <p:cTn id="63" dur="500" fill="hold"/>
                                        <p:tgtEl>
                                          <p:spTgt spid="7"/>
                                        </p:tgtEl>
                                        <p:attrNameLst>
                                          <p:attrName>ppt_x</p:attrName>
                                        </p:attrNameLst>
                                      </p:cBhvr>
                                      <p:tavLst>
                                        <p:tav tm="0">
                                          <p:val>
                                            <p:strVal val="#ppt_x"/>
                                          </p:val>
                                        </p:tav>
                                        <p:tav tm="100000">
                                          <p:val>
                                            <p:strVal val="#ppt_x"/>
                                          </p:val>
                                        </p:tav>
                                      </p:tavLst>
                                    </p:anim>
                                    <p:anim calcmode="lin" valueType="num">
                                      <p:cBhvr additive="base">
                                        <p:cTn id="64" dur="500" fill="hold"/>
                                        <p:tgtEl>
                                          <p:spTgt spid="7"/>
                                        </p:tgtEl>
                                        <p:attrNameLst>
                                          <p:attrName>ppt_y</p:attrName>
                                        </p:attrNameLst>
                                      </p:cBhvr>
                                      <p:tavLst>
                                        <p:tav tm="0">
                                          <p:val>
                                            <p:strVal val="1+#ppt_h/2"/>
                                          </p:val>
                                        </p:tav>
                                        <p:tav tm="100000">
                                          <p:val>
                                            <p:strVal val="#ppt_y"/>
                                          </p:val>
                                        </p:tav>
                                      </p:tavLst>
                                    </p:anim>
                                  </p:childTnLst>
                                </p:cTn>
                              </p:par>
                            </p:childTnLst>
                          </p:cTn>
                        </p:par>
                        <p:par>
                          <p:cTn id="65" fill="hold">
                            <p:stCondLst>
                              <p:cond delay="3500"/>
                            </p:stCondLst>
                            <p:childTnLst>
                              <p:par>
                                <p:cTn id="66" presetID="2" presetClass="entr" presetSubtype="4" fill="hold" grpId="0" nodeType="afterEffect">
                                  <p:stCondLst>
                                    <p:cond delay="0"/>
                                  </p:stCondLst>
                                  <p:childTnLst>
                                    <p:set>
                                      <p:cBhvr>
                                        <p:cTn id="67" dur="1" fill="hold">
                                          <p:stCondLst>
                                            <p:cond delay="0"/>
                                          </p:stCondLst>
                                        </p:cTn>
                                        <p:tgtEl>
                                          <p:spTgt spid="8"/>
                                        </p:tgtEl>
                                        <p:attrNameLst>
                                          <p:attrName>style.visibility</p:attrName>
                                        </p:attrNameLst>
                                      </p:cBhvr>
                                      <p:to>
                                        <p:strVal val="visible"/>
                                      </p:to>
                                    </p:set>
                                    <p:anim calcmode="lin" valueType="num">
                                      <p:cBhvr additive="base">
                                        <p:cTn id="68" dur="500" fill="hold"/>
                                        <p:tgtEl>
                                          <p:spTgt spid="8"/>
                                        </p:tgtEl>
                                        <p:attrNameLst>
                                          <p:attrName>ppt_x</p:attrName>
                                        </p:attrNameLst>
                                      </p:cBhvr>
                                      <p:tavLst>
                                        <p:tav tm="0">
                                          <p:val>
                                            <p:strVal val="#ppt_x"/>
                                          </p:val>
                                        </p:tav>
                                        <p:tav tm="100000">
                                          <p:val>
                                            <p:strVal val="#ppt_x"/>
                                          </p:val>
                                        </p:tav>
                                      </p:tavLst>
                                    </p:anim>
                                    <p:anim calcmode="lin" valueType="num">
                                      <p:cBhvr additive="base">
                                        <p:cTn id="69" dur="500" fill="hold"/>
                                        <p:tgtEl>
                                          <p:spTgt spid="8"/>
                                        </p:tgtEl>
                                        <p:attrNameLst>
                                          <p:attrName>ppt_y</p:attrName>
                                        </p:attrNameLst>
                                      </p:cBhvr>
                                      <p:tavLst>
                                        <p:tav tm="0">
                                          <p:val>
                                            <p:strVal val="1+#ppt_h/2"/>
                                          </p:val>
                                        </p:tav>
                                        <p:tav tm="100000">
                                          <p:val>
                                            <p:strVal val="#ppt_y"/>
                                          </p:val>
                                        </p:tav>
                                      </p:tavLst>
                                    </p:anim>
                                  </p:childTnLst>
                                </p:cTn>
                              </p:par>
                            </p:childTnLst>
                          </p:cTn>
                        </p:par>
                        <p:par>
                          <p:cTn id="70" fill="hold">
                            <p:stCondLst>
                              <p:cond delay="4000"/>
                            </p:stCondLst>
                            <p:childTnLst>
                              <p:par>
                                <p:cTn id="71" presetID="22" presetClass="entr" presetSubtype="4" fill="hold" nodeType="afterEffect">
                                  <p:stCondLst>
                                    <p:cond delay="0"/>
                                  </p:stCondLst>
                                  <p:childTnLst>
                                    <p:set>
                                      <p:cBhvr>
                                        <p:cTn id="72" dur="1" fill="hold">
                                          <p:stCondLst>
                                            <p:cond delay="0"/>
                                          </p:stCondLst>
                                        </p:cTn>
                                        <p:tgtEl>
                                          <p:spTgt spid="18"/>
                                        </p:tgtEl>
                                        <p:attrNameLst>
                                          <p:attrName>style.visibility</p:attrName>
                                        </p:attrNameLst>
                                      </p:cBhvr>
                                      <p:to>
                                        <p:strVal val="visible"/>
                                      </p:to>
                                    </p:set>
                                    <p:animEffect transition="in" filter="wipe(down)">
                                      <p:cBhvr>
                                        <p:cTn id="73" dur="500"/>
                                        <p:tgtEl>
                                          <p:spTgt spid="18"/>
                                        </p:tgtEl>
                                      </p:cBhvr>
                                    </p:animEffect>
                                  </p:childTnLst>
                                </p:cTn>
                              </p:par>
                            </p:childTnLst>
                          </p:cTn>
                        </p:par>
                        <p:par>
                          <p:cTn id="74" fill="hold">
                            <p:stCondLst>
                              <p:cond delay="4500"/>
                            </p:stCondLst>
                            <p:childTnLst>
                              <p:par>
                                <p:cTn id="75" presetID="22" presetClass="entr" presetSubtype="2" fill="hold" nodeType="afterEffect">
                                  <p:stCondLst>
                                    <p:cond delay="0"/>
                                  </p:stCondLst>
                                  <p:childTnLst>
                                    <p:set>
                                      <p:cBhvr>
                                        <p:cTn id="76" dur="1" fill="hold">
                                          <p:stCondLst>
                                            <p:cond delay="0"/>
                                          </p:stCondLst>
                                        </p:cTn>
                                        <p:tgtEl>
                                          <p:spTgt spid="17"/>
                                        </p:tgtEl>
                                        <p:attrNameLst>
                                          <p:attrName>style.visibility</p:attrName>
                                        </p:attrNameLst>
                                      </p:cBhvr>
                                      <p:to>
                                        <p:strVal val="visible"/>
                                      </p:to>
                                    </p:set>
                                    <p:animEffect transition="in" filter="wipe(right)">
                                      <p:cBhvr>
                                        <p:cTn id="77" dur="500"/>
                                        <p:tgtEl>
                                          <p:spTgt spid="17"/>
                                        </p:tgtEl>
                                      </p:cBhvr>
                                    </p:animEffect>
                                  </p:childTnLst>
                                </p:cTn>
                              </p:par>
                            </p:childTnLst>
                          </p:cTn>
                        </p:par>
                        <p:par>
                          <p:cTn id="78" fill="hold">
                            <p:stCondLst>
                              <p:cond delay="5000"/>
                            </p:stCondLst>
                            <p:childTnLst>
                              <p:par>
                                <p:cTn id="79" presetID="22" presetClass="entr" presetSubtype="4" fill="hold" nodeType="afterEffect">
                                  <p:stCondLst>
                                    <p:cond delay="0"/>
                                  </p:stCondLst>
                                  <p:childTnLst>
                                    <p:set>
                                      <p:cBhvr>
                                        <p:cTn id="80" dur="1" fill="hold">
                                          <p:stCondLst>
                                            <p:cond delay="0"/>
                                          </p:stCondLst>
                                        </p:cTn>
                                        <p:tgtEl>
                                          <p:spTgt spid="19"/>
                                        </p:tgtEl>
                                        <p:attrNameLst>
                                          <p:attrName>style.visibility</p:attrName>
                                        </p:attrNameLst>
                                      </p:cBhvr>
                                      <p:to>
                                        <p:strVal val="visible"/>
                                      </p:to>
                                    </p:set>
                                    <p:animEffect transition="in" filter="wipe(down)">
                                      <p:cBhvr>
                                        <p:cTn id="81"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5" grpId="0" animBg="1"/>
      <p:bldP spid="6" grpId="0" animBg="1"/>
      <p:bldP spid="7" grpId="0" animBg="1"/>
      <p:bldP spid="8" grpId="0" animBg="1"/>
      <p:bldP spid="9"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9343" y="637124"/>
            <a:ext cx="9918123" cy="1143000"/>
          </a:xfrm>
        </p:spPr>
        <p:txBody>
          <a:bodyPr>
            <a:normAutofit/>
          </a:bodyPr>
          <a:lstStyle/>
          <a:p>
            <a:r>
              <a:rPr lang="en-US" dirty="0"/>
              <a:t>Written amendment to an existing contract</a:t>
            </a:r>
          </a:p>
        </p:txBody>
      </p:sp>
      <p:sp>
        <p:nvSpPr>
          <p:cNvPr id="3" name="Content Placeholder 2"/>
          <p:cNvSpPr>
            <a:spLocks noGrp="1"/>
          </p:cNvSpPr>
          <p:nvPr>
            <p:ph idx="1"/>
          </p:nvPr>
        </p:nvSpPr>
        <p:spPr>
          <a:xfrm>
            <a:off x="1627323" y="2150713"/>
            <a:ext cx="7696200" cy="4114800"/>
          </a:xfrm>
        </p:spPr>
        <p:txBody>
          <a:bodyPr>
            <a:normAutofit/>
          </a:bodyPr>
          <a:lstStyle/>
          <a:p>
            <a:r>
              <a:rPr lang="en-US" sz="2000" dirty="0"/>
              <a:t>Norwegian law</a:t>
            </a:r>
          </a:p>
          <a:p>
            <a:pPr lvl="1"/>
            <a:r>
              <a:rPr lang="en-US" sz="1600" dirty="0"/>
              <a:t>Amendment is binding, B cannot avoid</a:t>
            </a:r>
          </a:p>
          <a:p>
            <a:r>
              <a:rPr lang="en-US" sz="2000" dirty="0"/>
              <a:t>German law</a:t>
            </a:r>
          </a:p>
          <a:p>
            <a:pPr lvl="1"/>
            <a:r>
              <a:rPr lang="en-US" sz="1600" dirty="0"/>
              <a:t>Amendment is binding, B cannot avoid</a:t>
            </a:r>
          </a:p>
          <a:p>
            <a:r>
              <a:rPr lang="en-US" sz="2000" dirty="0"/>
              <a:t>Italian law</a:t>
            </a:r>
          </a:p>
          <a:p>
            <a:pPr lvl="1"/>
            <a:r>
              <a:rPr lang="en-US" sz="1600" dirty="0"/>
              <a:t>Amendment is binding, B cannot avoid</a:t>
            </a:r>
          </a:p>
          <a:p>
            <a:r>
              <a:rPr lang="en-US" sz="2000" dirty="0"/>
              <a:t>English law</a:t>
            </a:r>
          </a:p>
          <a:p>
            <a:pPr lvl="1"/>
            <a:r>
              <a:rPr lang="en-US" sz="1600" dirty="0"/>
              <a:t>Depends on consideration</a:t>
            </a:r>
          </a:p>
        </p:txBody>
      </p:sp>
      <p:sp>
        <p:nvSpPr>
          <p:cNvPr id="4" name="Rectangle 3">
            <a:extLst>
              <a:ext uri="{FF2B5EF4-FFF2-40B4-BE49-F238E27FC236}">
                <a16:creationId xmlns:a16="http://schemas.microsoft.com/office/drawing/2014/main" id="{D87618F4-383A-418C-8AF5-F671229B314F}"/>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DE3482E6-43FA-4C81-AEE5-AC46956B5F67}"/>
              </a:ext>
            </a:extLst>
          </p:cNvPr>
          <p:cNvSpPr/>
          <p:nvPr/>
        </p:nvSpPr>
        <p:spPr>
          <a:xfrm rot="16200000">
            <a:off x="4785414" y="5547413"/>
            <a:ext cx="589173"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01EBDD4E-8544-40E2-A367-3E16C472D727}"/>
              </a:ext>
            </a:extLst>
          </p:cNvPr>
          <p:cNvSpPr/>
          <p:nvPr/>
        </p:nvSpPr>
        <p:spPr>
          <a:xfrm rot="16200000">
            <a:off x="6680724" y="5410723"/>
            <a:ext cx="862554"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B9171247-129A-4894-A690-9259EC8763B1}"/>
              </a:ext>
            </a:extLst>
          </p:cNvPr>
          <p:cNvSpPr/>
          <p:nvPr/>
        </p:nvSpPr>
        <p:spPr>
          <a:xfrm rot="16200000">
            <a:off x="8594272" y="5292271"/>
            <a:ext cx="1099457"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9BCCBE34-E308-4F23-AE66-D73D4EF4FACD}"/>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4F762F43-D553-49C2-A98F-EFDC2F3CA42B}"/>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7F13BA5E-E9F4-4F0A-9511-41A64F02EFE0}"/>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59B17863-CE0A-4535-A584-40938AFF57A7}"/>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6ED5AAC4-E388-4693-BD64-FA265F0EB5AD}"/>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858709B6-A00E-4F07-ADF2-E3D1DB520627}"/>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EE555C08-E70A-4E31-A136-86F1A2DE92D3}"/>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AE70820A-C3E9-4956-B1CF-73B8EC503883}"/>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6C32B256-8C73-4B27-8243-9D2215BA245F}"/>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F2CE0520-1A7C-4E0B-B323-8D8E560DDDC7}"/>
              </a:ext>
            </a:extLst>
          </p:cNvPr>
          <p:cNvCxnSpPr/>
          <p:nvPr/>
        </p:nvCxnSpPr>
        <p:spPr>
          <a:xfrm>
            <a:off x="669303" y="5812915"/>
            <a:ext cx="4402317"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F143446-F914-4148-94DB-8053285E2BB0}"/>
              </a:ext>
            </a:extLst>
          </p:cNvPr>
          <p:cNvCxnSpPr>
            <a:cxnSpLocks/>
          </p:cNvCxnSpPr>
          <p:nvPr/>
        </p:nvCxnSpPr>
        <p:spPr>
          <a:xfrm>
            <a:off x="5071620" y="5812915"/>
            <a:ext cx="9763" cy="455911"/>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FAC302F8-5ED8-431C-9596-4A188BDA6095}"/>
              </a:ext>
            </a:extLst>
          </p:cNvPr>
          <p:cNvCxnSpPr>
            <a:cxnSpLocks/>
          </p:cNvCxnSpPr>
          <p:nvPr/>
        </p:nvCxnSpPr>
        <p:spPr>
          <a:xfrm>
            <a:off x="669303" y="838986"/>
            <a:ext cx="0" cy="4973929"/>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2021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additive="base">
                                        <p:cTn id="16" dur="500" fill="hold"/>
                                        <p:tgtEl>
                                          <p:spTgt spid="4"/>
                                        </p:tgtEl>
                                        <p:attrNameLst>
                                          <p:attrName>ppt_x</p:attrName>
                                        </p:attrNameLst>
                                      </p:cBhvr>
                                      <p:tavLst>
                                        <p:tav tm="0">
                                          <p:val>
                                            <p:strVal val="#ppt_x"/>
                                          </p:val>
                                        </p:tav>
                                        <p:tav tm="100000">
                                          <p:val>
                                            <p:strVal val="#ppt_x"/>
                                          </p:val>
                                        </p:tav>
                                      </p:tavLst>
                                    </p:anim>
                                    <p:anim calcmode="lin" valueType="num">
                                      <p:cBhvr additive="base">
                                        <p:cTn id="17" dur="500" fill="hold"/>
                                        <p:tgtEl>
                                          <p:spTgt spid="4"/>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additive="base">
                                        <p:cTn id="26" dur="500" fill="hold"/>
                                        <p:tgtEl>
                                          <p:spTgt spid="6"/>
                                        </p:tgtEl>
                                        <p:attrNameLst>
                                          <p:attrName>ppt_x</p:attrName>
                                        </p:attrNameLst>
                                      </p:cBhvr>
                                      <p:tavLst>
                                        <p:tav tm="0">
                                          <p:val>
                                            <p:strVal val="#ppt_x"/>
                                          </p:val>
                                        </p:tav>
                                        <p:tav tm="100000">
                                          <p:val>
                                            <p:strVal val="#ppt_x"/>
                                          </p:val>
                                        </p:tav>
                                      </p:tavLst>
                                    </p:anim>
                                    <p:anim calcmode="lin" valueType="num">
                                      <p:cBhvr additive="base">
                                        <p:cTn id="27" dur="500" fill="hold"/>
                                        <p:tgtEl>
                                          <p:spTgt spid="6"/>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ppt_x"/>
                                          </p:val>
                                        </p:tav>
                                        <p:tav tm="100000">
                                          <p:val>
                                            <p:strVal val="#ppt_x"/>
                                          </p:val>
                                        </p:tav>
                                      </p:tavLst>
                                    </p:anim>
                                    <p:anim calcmode="lin" valueType="num">
                                      <p:cBhvr additive="base">
                                        <p:cTn id="32" dur="500" fill="hold"/>
                                        <p:tgtEl>
                                          <p:spTgt spid="7"/>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ntr" presetSubtype="4" fill="hold" grpId="0" nodeType="after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additive="base">
                                        <p:cTn id="36" dur="500" fill="hold"/>
                                        <p:tgtEl>
                                          <p:spTgt spid="8"/>
                                        </p:tgtEl>
                                        <p:attrNameLst>
                                          <p:attrName>ppt_x</p:attrName>
                                        </p:attrNameLst>
                                      </p:cBhvr>
                                      <p:tavLst>
                                        <p:tav tm="0">
                                          <p:val>
                                            <p:strVal val="#ppt_x"/>
                                          </p:val>
                                        </p:tav>
                                        <p:tav tm="100000">
                                          <p:val>
                                            <p:strVal val="#ppt_x"/>
                                          </p:val>
                                        </p:tav>
                                      </p:tavLst>
                                    </p:anim>
                                    <p:anim calcmode="lin" valueType="num">
                                      <p:cBhvr additive="base">
                                        <p:cTn id="37" dur="500" fill="hold"/>
                                        <p:tgtEl>
                                          <p:spTgt spid="8"/>
                                        </p:tgtEl>
                                        <p:attrNameLst>
                                          <p:attrName>ppt_y</p:attrName>
                                        </p:attrNameLst>
                                      </p:cBhvr>
                                      <p:tavLst>
                                        <p:tav tm="0">
                                          <p:val>
                                            <p:strVal val="1+#ppt_h/2"/>
                                          </p:val>
                                        </p:tav>
                                        <p:tav tm="100000">
                                          <p:val>
                                            <p:strVal val="#ppt_y"/>
                                          </p:val>
                                        </p:tav>
                                      </p:tavLst>
                                    </p:anim>
                                  </p:childTnLst>
                                </p:cTn>
                              </p:par>
                            </p:childTnLst>
                          </p:cTn>
                        </p:par>
                        <p:par>
                          <p:cTn id="38" fill="hold">
                            <p:stCondLst>
                              <p:cond delay="3500"/>
                            </p:stCondLst>
                            <p:childTnLst>
                              <p:par>
                                <p:cTn id="39" presetID="22" presetClass="entr" presetSubtype="4" fill="hold" nodeType="after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wipe(down)">
                                      <p:cBhvr>
                                        <p:cTn id="41" dur="500"/>
                                        <p:tgtEl>
                                          <p:spTgt spid="18"/>
                                        </p:tgtEl>
                                      </p:cBhvr>
                                    </p:animEffect>
                                  </p:childTnLst>
                                </p:cTn>
                              </p:par>
                            </p:childTnLst>
                          </p:cTn>
                        </p:par>
                        <p:par>
                          <p:cTn id="42" fill="hold">
                            <p:stCondLst>
                              <p:cond delay="4000"/>
                            </p:stCondLst>
                            <p:childTnLst>
                              <p:par>
                                <p:cTn id="43" presetID="22" presetClass="entr" presetSubtype="2" fill="hold" nodeType="after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wipe(right)">
                                      <p:cBhvr>
                                        <p:cTn id="45" dur="500"/>
                                        <p:tgtEl>
                                          <p:spTgt spid="17"/>
                                        </p:tgtEl>
                                      </p:cBhvr>
                                    </p:animEffect>
                                  </p:childTnLst>
                                </p:cTn>
                              </p:par>
                            </p:childTnLst>
                          </p:cTn>
                        </p:par>
                        <p:par>
                          <p:cTn id="46" fill="hold">
                            <p:stCondLst>
                              <p:cond delay="4500"/>
                            </p:stCondLst>
                            <p:childTnLst>
                              <p:par>
                                <p:cTn id="47" presetID="22" presetClass="entr" presetSubtype="4" fill="hold" nodeType="after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wipe(down)">
                                      <p:cBhvr>
                                        <p:cTn id="4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4074" y="532158"/>
            <a:ext cx="8652294" cy="1143000"/>
          </a:xfrm>
        </p:spPr>
        <p:txBody>
          <a:bodyPr/>
          <a:lstStyle/>
          <a:p>
            <a:r>
              <a:rPr lang="en-US" dirty="0"/>
              <a:t>Irrevocable offer</a:t>
            </a:r>
          </a:p>
        </p:txBody>
      </p:sp>
      <p:sp>
        <p:nvSpPr>
          <p:cNvPr id="3" name="Content Placeholder 2"/>
          <p:cNvSpPr>
            <a:spLocks noGrp="1"/>
          </p:cNvSpPr>
          <p:nvPr>
            <p:ph idx="1"/>
          </p:nvPr>
        </p:nvSpPr>
        <p:spPr/>
        <p:txBody>
          <a:bodyPr/>
          <a:lstStyle/>
          <a:p>
            <a:r>
              <a:rPr lang="en-US" b="1" dirty="0"/>
              <a:t>One party makes an offer, stating it cannot be revoked</a:t>
            </a:r>
          </a:p>
          <a:p>
            <a:pPr lvl="1"/>
            <a:r>
              <a:rPr lang="en-US" dirty="0"/>
              <a:t>Company A sells bananas to company B</a:t>
            </a:r>
          </a:p>
          <a:p>
            <a:pPr lvl="1"/>
            <a:r>
              <a:rPr lang="en-US" dirty="0"/>
              <a:t>On August 15</a:t>
            </a:r>
            <a:r>
              <a:rPr lang="en-US" baseline="30000" dirty="0"/>
              <a:t>th</a:t>
            </a:r>
            <a:r>
              <a:rPr lang="en-US" dirty="0"/>
              <a:t>, A sends an offer to B saying that they will deliver 500 tons of A-grade bananas by December 1</a:t>
            </a:r>
            <a:r>
              <a:rPr lang="en-US" baseline="30000" dirty="0"/>
              <a:t>st</a:t>
            </a:r>
            <a:r>
              <a:rPr lang="en-US" dirty="0"/>
              <a:t>, and that the offer cannot be revoked before October 15</a:t>
            </a:r>
            <a:r>
              <a:rPr lang="en-US" baseline="30000" dirty="0"/>
              <a:t>th</a:t>
            </a:r>
            <a:endParaRPr lang="en-US" dirty="0"/>
          </a:p>
          <a:p>
            <a:r>
              <a:rPr lang="en-US" b="1" dirty="0"/>
              <a:t>That party subsequently wishes to revoke their offer</a:t>
            </a:r>
          </a:p>
          <a:p>
            <a:pPr lvl="1"/>
            <a:r>
              <a:rPr lang="en-US" dirty="0"/>
              <a:t>On September 1</a:t>
            </a:r>
            <a:r>
              <a:rPr lang="en-US" baseline="30000" dirty="0"/>
              <a:t>st</a:t>
            </a:r>
            <a:r>
              <a:rPr lang="en-US" dirty="0"/>
              <a:t>, A enters into a contract with company C, a milkshake factory, hoping to deliver them bananas they buy from B</a:t>
            </a:r>
          </a:p>
          <a:p>
            <a:pPr lvl="1"/>
            <a:r>
              <a:rPr lang="en-US" dirty="0"/>
              <a:t>On September 25</a:t>
            </a:r>
            <a:r>
              <a:rPr lang="en-US" baseline="30000" dirty="0"/>
              <a:t>th</a:t>
            </a:r>
            <a:r>
              <a:rPr lang="en-US" dirty="0"/>
              <a:t>, B revokes their offer, having found it insufficiently profitable</a:t>
            </a:r>
          </a:p>
        </p:txBody>
      </p:sp>
      <p:sp>
        <p:nvSpPr>
          <p:cNvPr id="4" name="Rectangle 3">
            <a:extLst>
              <a:ext uri="{FF2B5EF4-FFF2-40B4-BE49-F238E27FC236}">
                <a16:creationId xmlns:a16="http://schemas.microsoft.com/office/drawing/2014/main" id="{964478B2-C58E-466A-8D9C-348C0DB58A46}"/>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EDD1DC0F-E19B-439B-A54D-0798C6018E02}"/>
              </a:ext>
            </a:extLst>
          </p:cNvPr>
          <p:cNvSpPr/>
          <p:nvPr/>
        </p:nvSpPr>
        <p:spPr>
          <a:xfrm rot="16200000">
            <a:off x="4785414" y="5547413"/>
            <a:ext cx="589173"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9FABC86A-142B-4F8A-AE3F-5A5FCFCFF342}"/>
              </a:ext>
            </a:extLst>
          </p:cNvPr>
          <p:cNvSpPr/>
          <p:nvPr/>
        </p:nvSpPr>
        <p:spPr>
          <a:xfrm rot="16200000">
            <a:off x="6680724" y="5410723"/>
            <a:ext cx="862554"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FE9E6F9E-C4D3-4507-891F-989CBA386244}"/>
              </a:ext>
            </a:extLst>
          </p:cNvPr>
          <p:cNvSpPr/>
          <p:nvPr/>
        </p:nvSpPr>
        <p:spPr>
          <a:xfrm rot="16200000">
            <a:off x="8594272" y="5292271"/>
            <a:ext cx="1099457"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E60139AE-346C-4901-A8A7-80AF41508EFD}"/>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F66D9520-F1F9-40CD-AA77-5BD13E76E587}"/>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6BE862E8-4A26-42DA-936B-AF35A0F303AA}"/>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9C7792B1-8640-452A-8EFD-9D336EBBFA5B}"/>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B47843EB-3D8C-48AB-9D4A-3D68C5918D94}"/>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735A79A8-0271-4B51-9CB4-B29A4901A44E}"/>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19FFDBBC-4A56-46C8-B4FC-F7410F8E92F7}"/>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5BDFCF79-712B-4D8A-BD1B-58326A32258C}"/>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ED22725D-3CDF-4B6E-AFCF-3A614C436B2F}"/>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C11FAEFF-AEC1-468C-A740-8ED28D5324ED}"/>
              </a:ext>
            </a:extLst>
          </p:cNvPr>
          <p:cNvCxnSpPr/>
          <p:nvPr/>
        </p:nvCxnSpPr>
        <p:spPr>
          <a:xfrm>
            <a:off x="669303" y="5812915"/>
            <a:ext cx="4402317"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DB80829-B08E-4094-8E39-7FEA8457CD04}"/>
              </a:ext>
            </a:extLst>
          </p:cNvPr>
          <p:cNvCxnSpPr>
            <a:cxnSpLocks/>
          </p:cNvCxnSpPr>
          <p:nvPr/>
        </p:nvCxnSpPr>
        <p:spPr>
          <a:xfrm>
            <a:off x="5071620" y="5812915"/>
            <a:ext cx="9763" cy="455911"/>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CBD24279-C149-4862-826F-A0435FE0B97D}"/>
              </a:ext>
            </a:extLst>
          </p:cNvPr>
          <p:cNvCxnSpPr>
            <a:cxnSpLocks/>
          </p:cNvCxnSpPr>
          <p:nvPr/>
        </p:nvCxnSpPr>
        <p:spPr>
          <a:xfrm>
            <a:off x="669303" y="838986"/>
            <a:ext cx="0" cy="4973929"/>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3698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childTnLst>
                          </p:cTn>
                        </p:par>
                        <p:par>
                          <p:cTn id="25" fill="hold">
                            <p:stCondLst>
                              <p:cond delay="500"/>
                            </p:stCondLst>
                            <p:childTnLst>
                              <p:par>
                                <p:cTn id="26" presetID="10" presetClass="entr" presetSubtype="0" fill="hold" nodeType="after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childTnLst>
                          </p:cTn>
                        </p:par>
                        <p:par>
                          <p:cTn id="29" fill="hold">
                            <p:stCondLst>
                              <p:cond delay="1000"/>
                            </p:stCondLst>
                            <p:childTnLst>
                              <p:par>
                                <p:cTn id="30" presetID="2" presetClass="entr" presetSubtype="4" fill="hold" grpId="0" nodeType="afterEffect">
                                  <p:stCondLst>
                                    <p:cond delay="0"/>
                                  </p:stCondLst>
                                  <p:childTnLst>
                                    <p:set>
                                      <p:cBhvr>
                                        <p:cTn id="31" dur="1" fill="hold">
                                          <p:stCondLst>
                                            <p:cond delay="0"/>
                                          </p:stCondLst>
                                        </p:cTn>
                                        <p:tgtEl>
                                          <p:spTgt spid="9"/>
                                        </p:tgtEl>
                                        <p:attrNameLst>
                                          <p:attrName>style.visibility</p:attrName>
                                        </p:attrNameLst>
                                      </p:cBhvr>
                                      <p:to>
                                        <p:strVal val="visible"/>
                                      </p:to>
                                    </p:set>
                                    <p:anim calcmode="lin" valueType="num">
                                      <p:cBhvr additive="base">
                                        <p:cTn id="32" dur="500" fill="hold"/>
                                        <p:tgtEl>
                                          <p:spTgt spid="9"/>
                                        </p:tgtEl>
                                        <p:attrNameLst>
                                          <p:attrName>ppt_x</p:attrName>
                                        </p:attrNameLst>
                                      </p:cBhvr>
                                      <p:tavLst>
                                        <p:tav tm="0">
                                          <p:val>
                                            <p:strVal val="#ppt_x"/>
                                          </p:val>
                                        </p:tav>
                                        <p:tav tm="100000">
                                          <p:val>
                                            <p:strVal val="#ppt_x"/>
                                          </p:val>
                                        </p:tav>
                                      </p:tavLst>
                                    </p:anim>
                                    <p:anim calcmode="lin" valueType="num">
                                      <p:cBhvr additive="base">
                                        <p:cTn id="33" dur="500" fill="hold"/>
                                        <p:tgtEl>
                                          <p:spTgt spid="9"/>
                                        </p:tgtEl>
                                        <p:attrNameLst>
                                          <p:attrName>ppt_y</p:attrName>
                                        </p:attrNameLst>
                                      </p:cBhvr>
                                      <p:tavLst>
                                        <p:tav tm="0">
                                          <p:val>
                                            <p:strVal val="1+#ppt_h/2"/>
                                          </p:val>
                                        </p:tav>
                                        <p:tav tm="100000">
                                          <p:val>
                                            <p:strVal val="#ppt_y"/>
                                          </p:val>
                                        </p:tav>
                                      </p:tavLst>
                                    </p:anim>
                                  </p:childTnLst>
                                </p:cTn>
                              </p:par>
                            </p:childTnLst>
                          </p:cTn>
                        </p:par>
                        <p:par>
                          <p:cTn id="34" fill="hold">
                            <p:stCondLst>
                              <p:cond delay="1500"/>
                            </p:stCondLst>
                            <p:childTnLst>
                              <p:par>
                                <p:cTn id="35" presetID="2" presetClass="entr" presetSubtype="4" fill="hold" grpId="0" nodeType="after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ppt_x"/>
                                          </p:val>
                                        </p:tav>
                                        <p:tav tm="100000">
                                          <p:val>
                                            <p:strVal val="#ppt_x"/>
                                          </p:val>
                                        </p:tav>
                                      </p:tavLst>
                                    </p:anim>
                                    <p:anim calcmode="lin" valueType="num">
                                      <p:cBhvr additive="base">
                                        <p:cTn id="38" dur="500" fill="hold"/>
                                        <p:tgtEl>
                                          <p:spTgt spid="4"/>
                                        </p:tgtEl>
                                        <p:attrNameLst>
                                          <p:attrName>ppt_y</p:attrName>
                                        </p:attrNameLst>
                                      </p:cBhvr>
                                      <p:tavLst>
                                        <p:tav tm="0">
                                          <p:val>
                                            <p:strVal val="1+#ppt_h/2"/>
                                          </p:val>
                                        </p:tav>
                                        <p:tav tm="100000">
                                          <p:val>
                                            <p:strVal val="#ppt_y"/>
                                          </p:val>
                                        </p:tav>
                                      </p:tavLst>
                                    </p:anim>
                                  </p:childTnLst>
                                </p:cTn>
                              </p:par>
                            </p:childTnLst>
                          </p:cTn>
                        </p:par>
                        <p:par>
                          <p:cTn id="39" fill="hold">
                            <p:stCondLst>
                              <p:cond delay="2000"/>
                            </p:stCondLst>
                            <p:childTnLst>
                              <p:par>
                                <p:cTn id="40" presetID="2" presetClass="entr" presetSubtype="4" fill="hold" grpId="0" nodeType="afterEffect">
                                  <p:stCondLst>
                                    <p:cond delay="0"/>
                                  </p:stCondLst>
                                  <p:childTnLst>
                                    <p:set>
                                      <p:cBhvr>
                                        <p:cTn id="41" dur="1" fill="hold">
                                          <p:stCondLst>
                                            <p:cond delay="0"/>
                                          </p:stCondLst>
                                        </p:cTn>
                                        <p:tgtEl>
                                          <p:spTgt spid="5"/>
                                        </p:tgtEl>
                                        <p:attrNameLst>
                                          <p:attrName>style.visibility</p:attrName>
                                        </p:attrNameLst>
                                      </p:cBhvr>
                                      <p:to>
                                        <p:strVal val="visible"/>
                                      </p:to>
                                    </p:set>
                                    <p:anim calcmode="lin" valueType="num">
                                      <p:cBhvr additive="base">
                                        <p:cTn id="42" dur="500" fill="hold"/>
                                        <p:tgtEl>
                                          <p:spTgt spid="5"/>
                                        </p:tgtEl>
                                        <p:attrNameLst>
                                          <p:attrName>ppt_x</p:attrName>
                                        </p:attrNameLst>
                                      </p:cBhvr>
                                      <p:tavLst>
                                        <p:tav tm="0">
                                          <p:val>
                                            <p:strVal val="#ppt_x"/>
                                          </p:val>
                                        </p:tav>
                                        <p:tav tm="100000">
                                          <p:val>
                                            <p:strVal val="#ppt_x"/>
                                          </p:val>
                                        </p:tav>
                                      </p:tavLst>
                                    </p:anim>
                                    <p:anim calcmode="lin" valueType="num">
                                      <p:cBhvr additive="base">
                                        <p:cTn id="43" dur="500" fill="hold"/>
                                        <p:tgtEl>
                                          <p:spTgt spid="5"/>
                                        </p:tgtEl>
                                        <p:attrNameLst>
                                          <p:attrName>ppt_y</p:attrName>
                                        </p:attrNameLst>
                                      </p:cBhvr>
                                      <p:tavLst>
                                        <p:tav tm="0">
                                          <p:val>
                                            <p:strVal val="1+#ppt_h/2"/>
                                          </p:val>
                                        </p:tav>
                                        <p:tav tm="100000">
                                          <p:val>
                                            <p:strVal val="#ppt_y"/>
                                          </p:val>
                                        </p:tav>
                                      </p:tavLst>
                                    </p:anim>
                                  </p:childTnLst>
                                </p:cTn>
                              </p:par>
                            </p:childTnLst>
                          </p:cTn>
                        </p:par>
                        <p:par>
                          <p:cTn id="44" fill="hold">
                            <p:stCondLst>
                              <p:cond delay="2500"/>
                            </p:stCondLst>
                            <p:childTnLst>
                              <p:par>
                                <p:cTn id="45" presetID="2" presetClass="entr" presetSubtype="4" fill="hold" grpId="0" nodeType="afterEffect">
                                  <p:stCondLst>
                                    <p:cond delay="0"/>
                                  </p:stCondLst>
                                  <p:childTnLst>
                                    <p:set>
                                      <p:cBhvr>
                                        <p:cTn id="46" dur="1" fill="hold">
                                          <p:stCondLst>
                                            <p:cond delay="0"/>
                                          </p:stCondLst>
                                        </p:cTn>
                                        <p:tgtEl>
                                          <p:spTgt spid="6"/>
                                        </p:tgtEl>
                                        <p:attrNameLst>
                                          <p:attrName>style.visibility</p:attrName>
                                        </p:attrNameLst>
                                      </p:cBhvr>
                                      <p:to>
                                        <p:strVal val="visible"/>
                                      </p:to>
                                    </p:set>
                                    <p:anim calcmode="lin" valueType="num">
                                      <p:cBhvr additive="base">
                                        <p:cTn id="47" dur="500" fill="hold"/>
                                        <p:tgtEl>
                                          <p:spTgt spid="6"/>
                                        </p:tgtEl>
                                        <p:attrNameLst>
                                          <p:attrName>ppt_x</p:attrName>
                                        </p:attrNameLst>
                                      </p:cBhvr>
                                      <p:tavLst>
                                        <p:tav tm="0">
                                          <p:val>
                                            <p:strVal val="#ppt_x"/>
                                          </p:val>
                                        </p:tav>
                                        <p:tav tm="100000">
                                          <p:val>
                                            <p:strVal val="#ppt_x"/>
                                          </p:val>
                                        </p:tav>
                                      </p:tavLst>
                                    </p:anim>
                                    <p:anim calcmode="lin" valueType="num">
                                      <p:cBhvr additive="base">
                                        <p:cTn id="48" dur="500" fill="hold"/>
                                        <p:tgtEl>
                                          <p:spTgt spid="6"/>
                                        </p:tgtEl>
                                        <p:attrNameLst>
                                          <p:attrName>ppt_y</p:attrName>
                                        </p:attrNameLst>
                                      </p:cBhvr>
                                      <p:tavLst>
                                        <p:tav tm="0">
                                          <p:val>
                                            <p:strVal val="1+#ppt_h/2"/>
                                          </p:val>
                                        </p:tav>
                                        <p:tav tm="100000">
                                          <p:val>
                                            <p:strVal val="#ppt_y"/>
                                          </p:val>
                                        </p:tav>
                                      </p:tavLst>
                                    </p:anim>
                                  </p:childTnLst>
                                </p:cTn>
                              </p:par>
                            </p:childTnLst>
                          </p:cTn>
                        </p:par>
                        <p:par>
                          <p:cTn id="49" fill="hold">
                            <p:stCondLst>
                              <p:cond delay="3000"/>
                            </p:stCondLst>
                            <p:childTnLst>
                              <p:par>
                                <p:cTn id="50" presetID="2" presetClass="entr" presetSubtype="4" fill="hold" grpId="0" nodeType="afterEffect">
                                  <p:stCondLst>
                                    <p:cond delay="0"/>
                                  </p:stCondLst>
                                  <p:childTnLst>
                                    <p:set>
                                      <p:cBhvr>
                                        <p:cTn id="51" dur="1" fill="hold">
                                          <p:stCondLst>
                                            <p:cond delay="0"/>
                                          </p:stCondLst>
                                        </p:cTn>
                                        <p:tgtEl>
                                          <p:spTgt spid="7"/>
                                        </p:tgtEl>
                                        <p:attrNameLst>
                                          <p:attrName>style.visibility</p:attrName>
                                        </p:attrNameLst>
                                      </p:cBhvr>
                                      <p:to>
                                        <p:strVal val="visible"/>
                                      </p:to>
                                    </p:set>
                                    <p:anim calcmode="lin" valueType="num">
                                      <p:cBhvr additive="base">
                                        <p:cTn id="52" dur="500" fill="hold"/>
                                        <p:tgtEl>
                                          <p:spTgt spid="7"/>
                                        </p:tgtEl>
                                        <p:attrNameLst>
                                          <p:attrName>ppt_x</p:attrName>
                                        </p:attrNameLst>
                                      </p:cBhvr>
                                      <p:tavLst>
                                        <p:tav tm="0">
                                          <p:val>
                                            <p:strVal val="#ppt_x"/>
                                          </p:val>
                                        </p:tav>
                                        <p:tav tm="100000">
                                          <p:val>
                                            <p:strVal val="#ppt_x"/>
                                          </p:val>
                                        </p:tav>
                                      </p:tavLst>
                                    </p:anim>
                                    <p:anim calcmode="lin" valueType="num">
                                      <p:cBhvr additive="base">
                                        <p:cTn id="53" dur="500" fill="hold"/>
                                        <p:tgtEl>
                                          <p:spTgt spid="7"/>
                                        </p:tgtEl>
                                        <p:attrNameLst>
                                          <p:attrName>ppt_y</p:attrName>
                                        </p:attrNameLst>
                                      </p:cBhvr>
                                      <p:tavLst>
                                        <p:tav tm="0">
                                          <p:val>
                                            <p:strVal val="1+#ppt_h/2"/>
                                          </p:val>
                                        </p:tav>
                                        <p:tav tm="100000">
                                          <p:val>
                                            <p:strVal val="#ppt_y"/>
                                          </p:val>
                                        </p:tav>
                                      </p:tavLst>
                                    </p:anim>
                                  </p:childTnLst>
                                </p:cTn>
                              </p:par>
                            </p:childTnLst>
                          </p:cTn>
                        </p:par>
                        <p:par>
                          <p:cTn id="54" fill="hold">
                            <p:stCondLst>
                              <p:cond delay="3500"/>
                            </p:stCondLst>
                            <p:childTnLst>
                              <p:par>
                                <p:cTn id="55" presetID="2" presetClass="entr" presetSubtype="4" fill="hold" grpId="0" nodeType="afterEffect">
                                  <p:stCondLst>
                                    <p:cond delay="0"/>
                                  </p:stCondLst>
                                  <p:childTnLst>
                                    <p:set>
                                      <p:cBhvr>
                                        <p:cTn id="56" dur="1" fill="hold">
                                          <p:stCondLst>
                                            <p:cond delay="0"/>
                                          </p:stCondLst>
                                        </p:cTn>
                                        <p:tgtEl>
                                          <p:spTgt spid="8"/>
                                        </p:tgtEl>
                                        <p:attrNameLst>
                                          <p:attrName>style.visibility</p:attrName>
                                        </p:attrNameLst>
                                      </p:cBhvr>
                                      <p:to>
                                        <p:strVal val="visible"/>
                                      </p:to>
                                    </p:set>
                                    <p:anim calcmode="lin" valueType="num">
                                      <p:cBhvr additive="base">
                                        <p:cTn id="57" dur="500" fill="hold"/>
                                        <p:tgtEl>
                                          <p:spTgt spid="8"/>
                                        </p:tgtEl>
                                        <p:attrNameLst>
                                          <p:attrName>ppt_x</p:attrName>
                                        </p:attrNameLst>
                                      </p:cBhvr>
                                      <p:tavLst>
                                        <p:tav tm="0">
                                          <p:val>
                                            <p:strVal val="#ppt_x"/>
                                          </p:val>
                                        </p:tav>
                                        <p:tav tm="100000">
                                          <p:val>
                                            <p:strVal val="#ppt_x"/>
                                          </p:val>
                                        </p:tav>
                                      </p:tavLst>
                                    </p:anim>
                                    <p:anim calcmode="lin" valueType="num">
                                      <p:cBhvr additive="base">
                                        <p:cTn id="58" dur="500" fill="hold"/>
                                        <p:tgtEl>
                                          <p:spTgt spid="8"/>
                                        </p:tgtEl>
                                        <p:attrNameLst>
                                          <p:attrName>ppt_y</p:attrName>
                                        </p:attrNameLst>
                                      </p:cBhvr>
                                      <p:tavLst>
                                        <p:tav tm="0">
                                          <p:val>
                                            <p:strVal val="1+#ppt_h/2"/>
                                          </p:val>
                                        </p:tav>
                                        <p:tav tm="100000">
                                          <p:val>
                                            <p:strVal val="#ppt_y"/>
                                          </p:val>
                                        </p:tav>
                                      </p:tavLst>
                                    </p:anim>
                                  </p:childTnLst>
                                </p:cTn>
                              </p:par>
                            </p:childTnLst>
                          </p:cTn>
                        </p:par>
                        <p:par>
                          <p:cTn id="59" fill="hold">
                            <p:stCondLst>
                              <p:cond delay="4000"/>
                            </p:stCondLst>
                            <p:childTnLst>
                              <p:par>
                                <p:cTn id="60" presetID="22" presetClass="entr" presetSubtype="4" fill="hold" nodeType="afterEffect">
                                  <p:stCondLst>
                                    <p:cond delay="0"/>
                                  </p:stCondLst>
                                  <p:childTnLst>
                                    <p:set>
                                      <p:cBhvr>
                                        <p:cTn id="61" dur="1" fill="hold">
                                          <p:stCondLst>
                                            <p:cond delay="0"/>
                                          </p:stCondLst>
                                        </p:cTn>
                                        <p:tgtEl>
                                          <p:spTgt spid="18"/>
                                        </p:tgtEl>
                                        <p:attrNameLst>
                                          <p:attrName>style.visibility</p:attrName>
                                        </p:attrNameLst>
                                      </p:cBhvr>
                                      <p:to>
                                        <p:strVal val="visible"/>
                                      </p:to>
                                    </p:set>
                                    <p:animEffect transition="in" filter="wipe(down)">
                                      <p:cBhvr>
                                        <p:cTn id="62" dur="500"/>
                                        <p:tgtEl>
                                          <p:spTgt spid="18"/>
                                        </p:tgtEl>
                                      </p:cBhvr>
                                    </p:animEffect>
                                  </p:childTnLst>
                                </p:cTn>
                              </p:par>
                            </p:childTnLst>
                          </p:cTn>
                        </p:par>
                        <p:par>
                          <p:cTn id="63" fill="hold">
                            <p:stCondLst>
                              <p:cond delay="4500"/>
                            </p:stCondLst>
                            <p:childTnLst>
                              <p:par>
                                <p:cTn id="64" presetID="22" presetClass="entr" presetSubtype="2" fill="hold" nodeType="afterEffect">
                                  <p:stCondLst>
                                    <p:cond delay="0"/>
                                  </p:stCondLst>
                                  <p:childTnLst>
                                    <p:set>
                                      <p:cBhvr>
                                        <p:cTn id="65" dur="1" fill="hold">
                                          <p:stCondLst>
                                            <p:cond delay="0"/>
                                          </p:stCondLst>
                                        </p:cTn>
                                        <p:tgtEl>
                                          <p:spTgt spid="17"/>
                                        </p:tgtEl>
                                        <p:attrNameLst>
                                          <p:attrName>style.visibility</p:attrName>
                                        </p:attrNameLst>
                                      </p:cBhvr>
                                      <p:to>
                                        <p:strVal val="visible"/>
                                      </p:to>
                                    </p:set>
                                    <p:animEffect transition="in" filter="wipe(right)">
                                      <p:cBhvr>
                                        <p:cTn id="66" dur="500"/>
                                        <p:tgtEl>
                                          <p:spTgt spid="17"/>
                                        </p:tgtEl>
                                      </p:cBhvr>
                                    </p:animEffect>
                                  </p:childTnLst>
                                </p:cTn>
                              </p:par>
                            </p:childTnLst>
                          </p:cTn>
                        </p:par>
                        <p:par>
                          <p:cTn id="67" fill="hold">
                            <p:stCondLst>
                              <p:cond delay="5000"/>
                            </p:stCondLst>
                            <p:childTnLst>
                              <p:par>
                                <p:cTn id="68" presetID="22" presetClass="entr" presetSubtype="4" fill="hold"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wipe(down)">
                                      <p:cBhvr>
                                        <p:cTn id="70"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5" grpId="0" animBg="1"/>
      <p:bldP spid="6" grpId="0" animBg="1"/>
      <p:bldP spid="7" grpId="0" animBg="1"/>
      <p:bldP spid="8" grpId="0" animBg="1"/>
      <p:bldP spid="9"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96938" y="838200"/>
            <a:ext cx="8652294" cy="1143000"/>
          </a:xfrm>
        </p:spPr>
        <p:txBody>
          <a:bodyPr/>
          <a:lstStyle/>
          <a:p>
            <a:r>
              <a:rPr lang="en-US" dirty="0"/>
              <a:t>Irrevocable offer</a:t>
            </a:r>
          </a:p>
        </p:txBody>
      </p:sp>
      <p:sp>
        <p:nvSpPr>
          <p:cNvPr id="3" name="Content Placeholder 2"/>
          <p:cNvSpPr>
            <a:spLocks noGrp="1"/>
          </p:cNvSpPr>
          <p:nvPr>
            <p:ph idx="1"/>
          </p:nvPr>
        </p:nvSpPr>
        <p:spPr>
          <a:xfrm>
            <a:off x="2541722" y="2212706"/>
            <a:ext cx="7696200" cy="4114800"/>
          </a:xfrm>
        </p:spPr>
        <p:txBody>
          <a:bodyPr>
            <a:normAutofit/>
          </a:bodyPr>
          <a:lstStyle/>
          <a:p>
            <a:r>
              <a:rPr lang="en-US" sz="2000" dirty="0"/>
              <a:t>Norwegian law</a:t>
            </a:r>
          </a:p>
          <a:p>
            <a:pPr lvl="1"/>
            <a:r>
              <a:rPr lang="en-US" sz="1600" dirty="0"/>
              <a:t>Offer is binding until the specified date</a:t>
            </a:r>
          </a:p>
          <a:p>
            <a:r>
              <a:rPr lang="en-US" sz="2000" dirty="0"/>
              <a:t>German law</a:t>
            </a:r>
          </a:p>
          <a:p>
            <a:pPr lvl="1"/>
            <a:r>
              <a:rPr lang="en-US" sz="1600" dirty="0"/>
              <a:t>Offer is binding until the specified date</a:t>
            </a:r>
          </a:p>
          <a:p>
            <a:r>
              <a:rPr lang="en-US" sz="2000" dirty="0"/>
              <a:t>Italian law</a:t>
            </a:r>
          </a:p>
          <a:p>
            <a:pPr lvl="1"/>
            <a:r>
              <a:rPr lang="en-US" sz="1600" dirty="0"/>
              <a:t>Offer is binding until the specified date</a:t>
            </a:r>
          </a:p>
          <a:p>
            <a:r>
              <a:rPr lang="en-US" sz="2000" dirty="0"/>
              <a:t>English law</a:t>
            </a:r>
          </a:p>
          <a:p>
            <a:pPr lvl="1"/>
            <a:r>
              <a:rPr lang="en-US" sz="1600" dirty="0"/>
              <a:t>Offer is not binding until accepted (lack of consideration)</a:t>
            </a:r>
          </a:p>
          <a:p>
            <a:pPr lvl="1"/>
            <a:endParaRPr lang="sr-Latn-ME" sz="1600" dirty="0"/>
          </a:p>
        </p:txBody>
      </p:sp>
      <p:sp>
        <p:nvSpPr>
          <p:cNvPr id="4" name="Rectangle 3">
            <a:extLst>
              <a:ext uri="{FF2B5EF4-FFF2-40B4-BE49-F238E27FC236}">
                <a16:creationId xmlns:a16="http://schemas.microsoft.com/office/drawing/2014/main" id="{3428594B-820F-4247-B861-48DC071A90C0}"/>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92D333F2-3DE0-4D18-8523-805FF3894DB4}"/>
              </a:ext>
            </a:extLst>
          </p:cNvPr>
          <p:cNvSpPr/>
          <p:nvPr/>
        </p:nvSpPr>
        <p:spPr>
          <a:xfrm rot="16200000">
            <a:off x="4785414" y="5547413"/>
            <a:ext cx="589173"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8B1DC72C-F860-499E-A9CD-F8EBEBF1CA0E}"/>
              </a:ext>
            </a:extLst>
          </p:cNvPr>
          <p:cNvSpPr/>
          <p:nvPr/>
        </p:nvSpPr>
        <p:spPr>
          <a:xfrm rot="16200000">
            <a:off x="6680724" y="5410723"/>
            <a:ext cx="862554"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5237977D-AEF8-464B-921C-F2464A582E4E}"/>
              </a:ext>
            </a:extLst>
          </p:cNvPr>
          <p:cNvSpPr/>
          <p:nvPr/>
        </p:nvSpPr>
        <p:spPr>
          <a:xfrm rot="16200000">
            <a:off x="8594272" y="5292271"/>
            <a:ext cx="1099457"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43B01EFA-41A7-4116-9C01-13F97660C595}"/>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98C2C4FF-0CD1-488F-AB85-7BD195955EBA}"/>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C7D1A417-C08B-4EB1-92A9-C03310C59E55}"/>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139639D2-CBD9-40B8-A066-4CC1DA495DBB}"/>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B490161E-D37E-43F7-BBB7-9633BDF2A441}"/>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AB01C993-30A8-420D-81F0-E981B5DDF4B8}"/>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7C7D2E5E-559B-4F23-9A63-061BD3F11A11}"/>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83AB09BA-E0C4-4284-9421-AC7D22B7412F}"/>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7452922A-4E3E-4D76-8C84-7E0CC40AFCAC}"/>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F1717334-9CB9-42CC-8CA8-CB08AB367CE7}"/>
              </a:ext>
            </a:extLst>
          </p:cNvPr>
          <p:cNvCxnSpPr/>
          <p:nvPr/>
        </p:nvCxnSpPr>
        <p:spPr>
          <a:xfrm>
            <a:off x="669303" y="5812915"/>
            <a:ext cx="4402317"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7962A90-BB1B-4F3A-B2D2-E99F24B7DB27}"/>
              </a:ext>
            </a:extLst>
          </p:cNvPr>
          <p:cNvCxnSpPr>
            <a:cxnSpLocks/>
          </p:cNvCxnSpPr>
          <p:nvPr/>
        </p:nvCxnSpPr>
        <p:spPr>
          <a:xfrm>
            <a:off x="5071620" y="5812915"/>
            <a:ext cx="9763" cy="455911"/>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6D9F3A6-79A8-4646-9FEB-3800FA5BF5ED}"/>
              </a:ext>
            </a:extLst>
          </p:cNvPr>
          <p:cNvCxnSpPr>
            <a:cxnSpLocks/>
          </p:cNvCxnSpPr>
          <p:nvPr/>
        </p:nvCxnSpPr>
        <p:spPr>
          <a:xfrm>
            <a:off x="669303" y="838986"/>
            <a:ext cx="0" cy="4973929"/>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84610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additive="base">
                                        <p:cTn id="16" dur="500" fill="hold"/>
                                        <p:tgtEl>
                                          <p:spTgt spid="4"/>
                                        </p:tgtEl>
                                        <p:attrNameLst>
                                          <p:attrName>ppt_x</p:attrName>
                                        </p:attrNameLst>
                                      </p:cBhvr>
                                      <p:tavLst>
                                        <p:tav tm="0">
                                          <p:val>
                                            <p:strVal val="#ppt_x"/>
                                          </p:val>
                                        </p:tav>
                                        <p:tav tm="100000">
                                          <p:val>
                                            <p:strVal val="#ppt_x"/>
                                          </p:val>
                                        </p:tav>
                                      </p:tavLst>
                                    </p:anim>
                                    <p:anim calcmode="lin" valueType="num">
                                      <p:cBhvr additive="base">
                                        <p:cTn id="17" dur="500" fill="hold"/>
                                        <p:tgtEl>
                                          <p:spTgt spid="4"/>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additive="base">
                                        <p:cTn id="26" dur="500" fill="hold"/>
                                        <p:tgtEl>
                                          <p:spTgt spid="6"/>
                                        </p:tgtEl>
                                        <p:attrNameLst>
                                          <p:attrName>ppt_x</p:attrName>
                                        </p:attrNameLst>
                                      </p:cBhvr>
                                      <p:tavLst>
                                        <p:tav tm="0">
                                          <p:val>
                                            <p:strVal val="#ppt_x"/>
                                          </p:val>
                                        </p:tav>
                                        <p:tav tm="100000">
                                          <p:val>
                                            <p:strVal val="#ppt_x"/>
                                          </p:val>
                                        </p:tav>
                                      </p:tavLst>
                                    </p:anim>
                                    <p:anim calcmode="lin" valueType="num">
                                      <p:cBhvr additive="base">
                                        <p:cTn id="27" dur="500" fill="hold"/>
                                        <p:tgtEl>
                                          <p:spTgt spid="6"/>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ppt_x"/>
                                          </p:val>
                                        </p:tav>
                                        <p:tav tm="100000">
                                          <p:val>
                                            <p:strVal val="#ppt_x"/>
                                          </p:val>
                                        </p:tav>
                                      </p:tavLst>
                                    </p:anim>
                                    <p:anim calcmode="lin" valueType="num">
                                      <p:cBhvr additive="base">
                                        <p:cTn id="32" dur="500" fill="hold"/>
                                        <p:tgtEl>
                                          <p:spTgt spid="7"/>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ntr" presetSubtype="4" fill="hold" grpId="0" nodeType="after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additive="base">
                                        <p:cTn id="36" dur="500" fill="hold"/>
                                        <p:tgtEl>
                                          <p:spTgt spid="8"/>
                                        </p:tgtEl>
                                        <p:attrNameLst>
                                          <p:attrName>ppt_x</p:attrName>
                                        </p:attrNameLst>
                                      </p:cBhvr>
                                      <p:tavLst>
                                        <p:tav tm="0">
                                          <p:val>
                                            <p:strVal val="#ppt_x"/>
                                          </p:val>
                                        </p:tav>
                                        <p:tav tm="100000">
                                          <p:val>
                                            <p:strVal val="#ppt_x"/>
                                          </p:val>
                                        </p:tav>
                                      </p:tavLst>
                                    </p:anim>
                                    <p:anim calcmode="lin" valueType="num">
                                      <p:cBhvr additive="base">
                                        <p:cTn id="37" dur="500" fill="hold"/>
                                        <p:tgtEl>
                                          <p:spTgt spid="8"/>
                                        </p:tgtEl>
                                        <p:attrNameLst>
                                          <p:attrName>ppt_y</p:attrName>
                                        </p:attrNameLst>
                                      </p:cBhvr>
                                      <p:tavLst>
                                        <p:tav tm="0">
                                          <p:val>
                                            <p:strVal val="1+#ppt_h/2"/>
                                          </p:val>
                                        </p:tav>
                                        <p:tav tm="100000">
                                          <p:val>
                                            <p:strVal val="#ppt_y"/>
                                          </p:val>
                                        </p:tav>
                                      </p:tavLst>
                                    </p:anim>
                                  </p:childTnLst>
                                </p:cTn>
                              </p:par>
                            </p:childTnLst>
                          </p:cTn>
                        </p:par>
                        <p:par>
                          <p:cTn id="38" fill="hold">
                            <p:stCondLst>
                              <p:cond delay="3500"/>
                            </p:stCondLst>
                            <p:childTnLst>
                              <p:par>
                                <p:cTn id="39" presetID="22" presetClass="entr" presetSubtype="4" fill="hold" nodeType="after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wipe(down)">
                                      <p:cBhvr>
                                        <p:cTn id="41" dur="500"/>
                                        <p:tgtEl>
                                          <p:spTgt spid="18"/>
                                        </p:tgtEl>
                                      </p:cBhvr>
                                    </p:animEffect>
                                  </p:childTnLst>
                                </p:cTn>
                              </p:par>
                            </p:childTnLst>
                          </p:cTn>
                        </p:par>
                        <p:par>
                          <p:cTn id="42" fill="hold">
                            <p:stCondLst>
                              <p:cond delay="4000"/>
                            </p:stCondLst>
                            <p:childTnLst>
                              <p:par>
                                <p:cTn id="43" presetID="22" presetClass="entr" presetSubtype="2" fill="hold" nodeType="after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wipe(right)">
                                      <p:cBhvr>
                                        <p:cTn id="45" dur="500"/>
                                        <p:tgtEl>
                                          <p:spTgt spid="17"/>
                                        </p:tgtEl>
                                      </p:cBhvr>
                                    </p:animEffect>
                                  </p:childTnLst>
                                </p:cTn>
                              </p:par>
                            </p:childTnLst>
                          </p:cTn>
                        </p:par>
                        <p:par>
                          <p:cTn id="46" fill="hold">
                            <p:stCondLst>
                              <p:cond delay="4500"/>
                            </p:stCondLst>
                            <p:childTnLst>
                              <p:par>
                                <p:cTn id="47" presetID="22" presetClass="entr" presetSubtype="4" fill="hold" nodeType="after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wipe(down)">
                                      <p:cBhvr>
                                        <p:cTn id="4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7705" y="158441"/>
            <a:ext cx="8652294" cy="1143000"/>
          </a:xfrm>
        </p:spPr>
        <p:txBody>
          <a:bodyPr/>
          <a:lstStyle/>
          <a:p>
            <a:r>
              <a:rPr lang="en-US" dirty="0"/>
              <a:t>Modified acceptance</a:t>
            </a:r>
          </a:p>
        </p:txBody>
      </p:sp>
      <p:sp>
        <p:nvSpPr>
          <p:cNvPr id="3" name="Content Placeholder 2"/>
          <p:cNvSpPr>
            <a:spLocks noGrp="1"/>
          </p:cNvSpPr>
          <p:nvPr>
            <p:ph idx="1"/>
          </p:nvPr>
        </p:nvSpPr>
        <p:spPr>
          <a:xfrm>
            <a:off x="1199251" y="1428449"/>
            <a:ext cx="10515600" cy="4351338"/>
          </a:xfrm>
        </p:spPr>
        <p:txBody>
          <a:bodyPr/>
          <a:lstStyle/>
          <a:p>
            <a:r>
              <a:rPr lang="en-US" b="1" dirty="0"/>
              <a:t>One party makes an offer</a:t>
            </a:r>
          </a:p>
          <a:p>
            <a:pPr lvl="1"/>
            <a:r>
              <a:rPr lang="en-US" dirty="0"/>
              <a:t>Company A sells bananas to company B</a:t>
            </a:r>
          </a:p>
          <a:p>
            <a:pPr lvl="1"/>
            <a:r>
              <a:rPr lang="en-US" dirty="0"/>
              <a:t>They offer to sell 500 tons, 50.000 USD per ton, and ship them to B’s plant</a:t>
            </a:r>
          </a:p>
          <a:p>
            <a:r>
              <a:rPr lang="en-US" b="1" dirty="0"/>
              <a:t>Other party accepts the offer in a way which does not fully conform to the offer</a:t>
            </a:r>
          </a:p>
          <a:p>
            <a:pPr lvl="1"/>
            <a:r>
              <a:rPr lang="en-US" dirty="0"/>
              <a:t>B accepts the offer and demands that the goods be shipped through a Norwegian company</a:t>
            </a:r>
          </a:p>
          <a:p>
            <a:r>
              <a:rPr lang="en-US" b="1" dirty="0"/>
              <a:t>First party subsequently decides to cancel the contract</a:t>
            </a:r>
          </a:p>
          <a:p>
            <a:pPr lvl="1"/>
            <a:r>
              <a:rPr lang="nb-NO" dirty="0"/>
              <a:t>A finds a buyer offering a higher price and wishes to deem the contract not formed</a:t>
            </a:r>
            <a:endParaRPr lang="en-US" dirty="0"/>
          </a:p>
          <a:p>
            <a:pPr lvl="1"/>
            <a:endParaRPr lang="en-US" dirty="0"/>
          </a:p>
        </p:txBody>
      </p:sp>
      <p:sp>
        <p:nvSpPr>
          <p:cNvPr id="4" name="Rectangle 3">
            <a:extLst>
              <a:ext uri="{FF2B5EF4-FFF2-40B4-BE49-F238E27FC236}">
                <a16:creationId xmlns:a16="http://schemas.microsoft.com/office/drawing/2014/main" id="{A45C828D-6E62-4AE7-8064-D2B9A5D5CFB1}"/>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B07E392E-2D9E-415D-8471-F1037BD37B8E}"/>
              </a:ext>
            </a:extLst>
          </p:cNvPr>
          <p:cNvSpPr/>
          <p:nvPr/>
        </p:nvSpPr>
        <p:spPr>
          <a:xfrm rot="16200000">
            <a:off x="4785414" y="5547413"/>
            <a:ext cx="589173"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4FAC6740-AFB2-4BFD-8C1A-2D4BEFB3ADDA}"/>
              </a:ext>
            </a:extLst>
          </p:cNvPr>
          <p:cNvSpPr/>
          <p:nvPr/>
        </p:nvSpPr>
        <p:spPr>
          <a:xfrm rot="16200000">
            <a:off x="6680724" y="5410723"/>
            <a:ext cx="862554"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9FA03303-12F0-4606-8C4A-D096B7549206}"/>
              </a:ext>
            </a:extLst>
          </p:cNvPr>
          <p:cNvSpPr/>
          <p:nvPr/>
        </p:nvSpPr>
        <p:spPr>
          <a:xfrm rot="16200000">
            <a:off x="8594272" y="5292271"/>
            <a:ext cx="1099457"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EADEED08-25CB-473A-A02D-CC6A2543A70B}"/>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C6A996AD-1598-429E-A2FF-F6BD8AEADFC7}"/>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B99931F0-7379-433A-B628-79E0B0074057}"/>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8E3D12F4-F0CA-4EF0-AA6B-091513FE531F}"/>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F40AE921-2C33-4842-A1D5-6ED7D8B59A00}"/>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18EDFF0A-6462-4259-B3A6-FC5E8C64D885}"/>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A491D0F2-9AF8-4912-8527-E033CA97FC6D}"/>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433EA959-8BD2-4F5D-ADDA-53AFA1047AC8}"/>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70118862-E977-4D89-9F13-C548BDC7A863}"/>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52320AD5-1948-429A-A55F-275870A4852C}"/>
              </a:ext>
            </a:extLst>
          </p:cNvPr>
          <p:cNvCxnSpPr/>
          <p:nvPr/>
        </p:nvCxnSpPr>
        <p:spPr>
          <a:xfrm>
            <a:off x="669303" y="5812915"/>
            <a:ext cx="4402317"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799CFCB-20DD-40BA-9265-E9DF6D41292D}"/>
              </a:ext>
            </a:extLst>
          </p:cNvPr>
          <p:cNvCxnSpPr>
            <a:cxnSpLocks/>
          </p:cNvCxnSpPr>
          <p:nvPr/>
        </p:nvCxnSpPr>
        <p:spPr>
          <a:xfrm>
            <a:off x="5071620" y="5812915"/>
            <a:ext cx="9763" cy="455911"/>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FB4EA9BE-BF28-4E2E-81F8-E1AFFC71F0CD}"/>
              </a:ext>
            </a:extLst>
          </p:cNvPr>
          <p:cNvCxnSpPr>
            <a:cxnSpLocks/>
          </p:cNvCxnSpPr>
          <p:nvPr/>
        </p:nvCxnSpPr>
        <p:spPr>
          <a:xfrm>
            <a:off x="669303" y="838986"/>
            <a:ext cx="0" cy="4973929"/>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0546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fade">
                                      <p:cBhvr>
                                        <p:cTn id="29" dur="500"/>
                                        <p:tgtEl>
                                          <p:spTgt spid="3">
                                            <p:txEl>
                                              <p:pRg st="6" end="6"/>
                                            </p:txEl>
                                          </p:spTgt>
                                        </p:tgtEl>
                                      </p:cBhvr>
                                    </p:animEffect>
                                  </p:childTnLst>
                                </p:cTn>
                              </p:par>
                            </p:childTnLst>
                          </p:cTn>
                        </p:par>
                        <p:par>
                          <p:cTn id="30" fill="hold">
                            <p:stCondLst>
                              <p:cond delay="500"/>
                            </p:stCondLst>
                            <p:childTnLst>
                              <p:par>
                                <p:cTn id="31" presetID="10" presetClass="entr" presetSubtype="0" fill="hold" nodeType="after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500"/>
                                        <p:tgtEl>
                                          <p:spTgt spid="10"/>
                                        </p:tgtEl>
                                      </p:cBhvr>
                                    </p:animEffect>
                                  </p:childTnLst>
                                </p:cTn>
                              </p:par>
                            </p:childTnLst>
                          </p:cTn>
                        </p:par>
                        <p:par>
                          <p:cTn id="34" fill="hold">
                            <p:stCondLst>
                              <p:cond delay="1000"/>
                            </p:stCondLst>
                            <p:childTnLst>
                              <p:par>
                                <p:cTn id="35" presetID="2" presetClass="entr" presetSubtype="4" fill="hold" grpId="0" nodeType="after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additive="base">
                                        <p:cTn id="37" dur="500" fill="hold"/>
                                        <p:tgtEl>
                                          <p:spTgt spid="9"/>
                                        </p:tgtEl>
                                        <p:attrNameLst>
                                          <p:attrName>ppt_x</p:attrName>
                                        </p:attrNameLst>
                                      </p:cBhvr>
                                      <p:tavLst>
                                        <p:tav tm="0">
                                          <p:val>
                                            <p:strVal val="#ppt_x"/>
                                          </p:val>
                                        </p:tav>
                                        <p:tav tm="100000">
                                          <p:val>
                                            <p:strVal val="#ppt_x"/>
                                          </p:val>
                                        </p:tav>
                                      </p:tavLst>
                                    </p:anim>
                                    <p:anim calcmode="lin" valueType="num">
                                      <p:cBhvr additive="base">
                                        <p:cTn id="38" dur="500" fill="hold"/>
                                        <p:tgtEl>
                                          <p:spTgt spid="9"/>
                                        </p:tgtEl>
                                        <p:attrNameLst>
                                          <p:attrName>ppt_y</p:attrName>
                                        </p:attrNameLst>
                                      </p:cBhvr>
                                      <p:tavLst>
                                        <p:tav tm="0">
                                          <p:val>
                                            <p:strVal val="1+#ppt_h/2"/>
                                          </p:val>
                                        </p:tav>
                                        <p:tav tm="100000">
                                          <p:val>
                                            <p:strVal val="#ppt_y"/>
                                          </p:val>
                                        </p:tav>
                                      </p:tavLst>
                                    </p:anim>
                                  </p:childTnLst>
                                </p:cTn>
                              </p:par>
                            </p:childTnLst>
                          </p:cTn>
                        </p:par>
                        <p:par>
                          <p:cTn id="39" fill="hold">
                            <p:stCondLst>
                              <p:cond delay="1500"/>
                            </p:stCondLst>
                            <p:childTnLst>
                              <p:par>
                                <p:cTn id="40" presetID="2" presetClass="entr" presetSubtype="4" fill="hold" grpId="0" nodeType="afterEffect">
                                  <p:stCondLst>
                                    <p:cond delay="0"/>
                                  </p:stCondLst>
                                  <p:childTnLst>
                                    <p:set>
                                      <p:cBhvr>
                                        <p:cTn id="41" dur="1" fill="hold">
                                          <p:stCondLst>
                                            <p:cond delay="0"/>
                                          </p:stCondLst>
                                        </p:cTn>
                                        <p:tgtEl>
                                          <p:spTgt spid="4"/>
                                        </p:tgtEl>
                                        <p:attrNameLst>
                                          <p:attrName>style.visibility</p:attrName>
                                        </p:attrNameLst>
                                      </p:cBhvr>
                                      <p:to>
                                        <p:strVal val="visible"/>
                                      </p:to>
                                    </p:set>
                                    <p:anim calcmode="lin" valueType="num">
                                      <p:cBhvr additive="base">
                                        <p:cTn id="42" dur="500" fill="hold"/>
                                        <p:tgtEl>
                                          <p:spTgt spid="4"/>
                                        </p:tgtEl>
                                        <p:attrNameLst>
                                          <p:attrName>ppt_x</p:attrName>
                                        </p:attrNameLst>
                                      </p:cBhvr>
                                      <p:tavLst>
                                        <p:tav tm="0">
                                          <p:val>
                                            <p:strVal val="#ppt_x"/>
                                          </p:val>
                                        </p:tav>
                                        <p:tav tm="100000">
                                          <p:val>
                                            <p:strVal val="#ppt_x"/>
                                          </p:val>
                                        </p:tav>
                                      </p:tavLst>
                                    </p:anim>
                                    <p:anim calcmode="lin" valueType="num">
                                      <p:cBhvr additive="base">
                                        <p:cTn id="43" dur="500" fill="hold"/>
                                        <p:tgtEl>
                                          <p:spTgt spid="4"/>
                                        </p:tgtEl>
                                        <p:attrNameLst>
                                          <p:attrName>ppt_y</p:attrName>
                                        </p:attrNameLst>
                                      </p:cBhvr>
                                      <p:tavLst>
                                        <p:tav tm="0">
                                          <p:val>
                                            <p:strVal val="1+#ppt_h/2"/>
                                          </p:val>
                                        </p:tav>
                                        <p:tav tm="100000">
                                          <p:val>
                                            <p:strVal val="#ppt_y"/>
                                          </p:val>
                                        </p:tav>
                                      </p:tavLst>
                                    </p:anim>
                                  </p:childTnLst>
                                </p:cTn>
                              </p:par>
                            </p:childTnLst>
                          </p:cTn>
                        </p:par>
                        <p:par>
                          <p:cTn id="44" fill="hold">
                            <p:stCondLst>
                              <p:cond delay="2000"/>
                            </p:stCondLst>
                            <p:childTnLst>
                              <p:par>
                                <p:cTn id="45" presetID="2" presetClass="entr" presetSubtype="4" fill="hold" grpId="0" nodeType="afterEffect">
                                  <p:stCondLst>
                                    <p:cond delay="0"/>
                                  </p:stCondLst>
                                  <p:childTnLst>
                                    <p:set>
                                      <p:cBhvr>
                                        <p:cTn id="46" dur="1" fill="hold">
                                          <p:stCondLst>
                                            <p:cond delay="0"/>
                                          </p:stCondLst>
                                        </p:cTn>
                                        <p:tgtEl>
                                          <p:spTgt spid="5"/>
                                        </p:tgtEl>
                                        <p:attrNameLst>
                                          <p:attrName>style.visibility</p:attrName>
                                        </p:attrNameLst>
                                      </p:cBhvr>
                                      <p:to>
                                        <p:strVal val="visible"/>
                                      </p:to>
                                    </p:set>
                                    <p:anim calcmode="lin" valueType="num">
                                      <p:cBhvr additive="base">
                                        <p:cTn id="47" dur="500" fill="hold"/>
                                        <p:tgtEl>
                                          <p:spTgt spid="5"/>
                                        </p:tgtEl>
                                        <p:attrNameLst>
                                          <p:attrName>ppt_x</p:attrName>
                                        </p:attrNameLst>
                                      </p:cBhvr>
                                      <p:tavLst>
                                        <p:tav tm="0">
                                          <p:val>
                                            <p:strVal val="#ppt_x"/>
                                          </p:val>
                                        </p:tav>
                                        <p:tav tm="100000">
                                          <p:val>
                                            <p:strVal val="#ppt_x"/>
                                          </p:val>
                                        </p:tav>
                                      </p:tavLst>
                                    </p:anim>
                                    <p:anim calcmode="lin" valueType="num">
                                      <p:cBhvr additive="base">
                                        <p:cTn id="48" dur="500" fill="hold"/>
                                        <p:tgtEl>
                                          <p:spTgt spid="5"/>
                                        </p:tgtEl>
                                        <p:attrNameLst>
                                          <p:attrName>ppt_y</p:attrName>
                                        </p:attrNameLst>
                                      </p:cBhvr>
                                      <p:tavLst>
                                        <p:tav tm="0">
                                          <p:val>
                                            <p:strVal val="1+#ppt_h/2"/>
                                          </p:val>
                                        </p:tav>
                                        <p:tav tm="100000">
                                          <p:val>
                                            <p:strVal val="#ppt_y"/>
                                          </p:val>
                                        </p:tav>
                                      </p:tavLst>
                                    </p:anim>
                                  </p:childTnLst>
                                </p:cTn>
                              </p:par>
                            </p:childTnLst>
                          </p:cTn>
                        </p:par>
                        <p:par>
                          <p:cTn id="49" fill="hold">
                            <p:stCondLst>
                              <p:cond delay="2500"/>
                            </p:stCondLst>
                            <p:childTnLst>
                              <p:par>
                                <p:cTn id="50" presetID="2" presetClass="entr" presetSubtype="4" fill="hold" grpId="0" nodeType="afterEffect">
                                  <p:stCondLst>
                                    <p:cond delay="0"/>
                                  </p:stCondLst>
                                  <p:childTnLst>
                                    <p:set>
                                      <p:cBhvr>
                                        <p:cTn id="51" dur="1" fill="hold">
                                          <p:stCondLst>
                                            <p:cond delay="0"/>
                                          </p:stCondLst>
                                        </p:cTn>
                                        <p:tgtEl>
                                          <p:spTgt spid="6"/>
                                        </p:tgtEl>
                                        <p:attrNameLst>
                                          <p:attrName>style.visibility</p:attrName>
                                        </p:attrNameLst>
                                      </p:cBhvr>
                                      <p:to>
                                        <p:strVal val="visible"/>
                                      </p:to>
                                    </p:set>
                                    <p:anim calcmode="lin" valueType="num">
                                      <p:cBhvr additive="base">
                                        <p:cTn id="52" dur="500" fill="hold"/>
                                        <p:tgtEl>
                                          <p:spTgt spid="6"/>
                                        </p:tgtEl>
                                        <p:attrNameLst>
                                          <p:attrName>ppt_x</p:attrName>
                                        </p:attrNameLst>
                                      </p:cBhvr>
                                      <p:tavLst>
                                        <p:tav tm="0">
                                          <p:val>
                                            <p:strVal val="#ppt_x"/>
                                          </p:val>
                                        </p:tav>
                                        <p:tav tm="100000">
                                          <p:val>
                                            <p:strVal val="#ppt_x"/>
                                          </p:val>
                                        </p:tav>
                                      </p:tavLst>
                                    </p:anim>
                                    <p:anim calcmode="lin" valueType="num">
                                      <p:cBhvr additive="base">
                                        <p:cTn id="53" dur="500" fill="hold"/>
                                        <p:tgtEl>
                                          <p:spTgt spid="6"/>
                                        </p:tgtEl>
                                        <p:attrNameLst>
                                          <p:attrName>ppt_y</p:attrName>
                                        </p:attrNameLst>
                                      </p:cBhvr>
                                      <p:tavLst>
                                        <p:tav tm="0">
                                          <p:val>
                                            <p:strVal val="1+#ppt_h/2"/>
                                          </p:val>
                                        </p:tav>
                                        <p:tav tm="100000">
                                          <p:val>
                                            <p:strVal val="#ppt_y"/>
                                          </p:val>
                                        </p:tav>
                                      </p:tavLst>
                                    </p:anim>
                                  </p:childTnLst>
                                </p:cTn>
                              </p:par>
                            </p:childTnLst>
                          </p:cTn>
                        </p:par>
                        <p:par>
                          <p:cTn id="54" fill="hold">
                            <p:stCondLst>
                              <p:cond delay="3000"/>
                            </p:stCondLst>
                            <p:childTnLst>
                              <p:par>
                                <p:cTn id="55" presetID="2" presetClass="entr" presetSubtype="4" fill="hold" grpId="0" nodeType="afterEffect">
                                  <p:stCondLst>
                                    <p:cond delay="0"/>
                                  </p:stCondLst>
                                  <p:childTnLst>
                                    <p:set>
                                      <p:cBhvr>
                                        <p:cTn id="56" dur="1" fill="hold">
                                          <p:stCondLst>
                                            <p:cond delay="0"/>
                                          </p:stCondLst>
                                        </p:cTn>
                                        <p:tgtEl>
                                          <p:spTgt spid="7"/>
                                        </p:tgtEl>
                                        <p:attrNameLst>
                                          <p:attrName>style.visibility</p:attrName>
                                        </p:attrNameLst>
                                      </p:cBhvr>
                                      <p:to>
                                        <p:strVal val="visible"/>
                                      </p:to>
                                    </p:set>
                                    <p:anim calcmode="lin" valueType="num">
                                      <p:cBhvr additive="base">
                                        <p:cTn id="57" dur="500" fill="hold"/>
                                        <p:tgtEl>
                                          <p:spTgt spid="7"/>
                                        </p:tgtEl>
                                        <p:attrNameLst>
                                          <p:attrName>ppt_x</p:attrName>
                                        </p:attrNameLst>
                                      </p:cBhvr>
                                      <p:tavLst>
                                        <p:tav tm="0">
                                          <p:val>
                                            <p:strVal val="#ppt_x"/>
                                          </p:val>
                                        </p:tav>
                                        <p:tav tm="100000">
                                          <p:val>
                                            <p:strVal val="#ppt_x"/>
                                          </p:val>
                                        </p:tav>
                                      </p:tavLst>
                                    </p:anim>
                                    <p:anim calcmode="lin" valueType="num">
                                      <p:cBhvr additive="base">
                                        <p:cTn id="58" dur="500" fill="hold"/>
                                        <p:tgtEl>
                                          <p:spTgt spid="7"/>
                                        </p:tgtEl>
                                        <p:attrNameLst>
                                          <p:attrName>ppt_y</p:attrName>
                                        </p:attrNameLst>
                                      </p:cBhvr>
                                      <p:tavLst>
                                        <p:tav tm="0">
                                          <p:val>
                                            <p:strVal val="1+#ppt_h/2"/>
                                          </p:val>
                                        </p:tav>
                                        <p:tav tm="100000">
                                          <p:val>
                                            <p:strVal val="#ppt_y"/>
                                          </p:val>
                                        </p:tav>
                                      </p:tavLst>
                                    </p:anim>
                                  </p:childTnLst>
                                </p:cTn>
                              </p:par>
                            </p:childTnLst>
                          </p:cTn>
                        </p:par>
                        <p:par>
                          <p:cTn id="59" fill="hold">
                            <p:stCondLst>
                              <p:cond delay="3500"/>
                            </p:stCondLst>
                            <p:childTnLst>
                              <p:par>
                                <p:cTn id="60" presetID="2" presetClass="entr" presetSubtype="4" fill="hold" grpId="0" nodeType="afterEffect">
                                  <p:stCondLst>
                                    <p:cond delay="0"/>
                                  </p:stCondLst>
                                  <p:childTnLst>
                                    <p:set>
                                      <p:cBhvr>
                                        <p:cTn id="61" dur="1" fill="hold">
                                          <p:stCondLst>
                                            <p:cond delay="0"/>
                                          </p:stCondLst>
                                        </p:cTn>
                                        <p:tgtEl>
                                          <p:spTgt spid="8"/>
                                        </p:tgtEl>
                                        <p:attrNameLst>
                                          <p:attrName>style.visibility</p:attrName>
                                        </p:attrNameLst>
                                      </p:cBhvr>
                                      <p:to>
                                        <p:strVal val="visible"/>
                                      </p:to>
                                    </p:set>
                                    <p:anim calcmode="lin" valueType="num">
                                      <p:cBhvr additive="base">
                                        <p:cTn id="62" dur="500" fill="hold"/>
                                        <p:tgtEl>
                                          <p:spTgt spid="8"/>
                                        </p:tgtEl>
                                        <p:attrNameLst>
                                          <p:attrName>ppt_x</p:attrName>
                                        </p:attrNameLst>
                                      </p:cBhvr>
                                      <p:tavLst>
                                        <p:tav tm="0">
                                          <p:val>
                                            <p:strVal val="#ppt_x"/>
                                          </p:val>
                                        </p:tav>
                                        <p:tav tm="100000">
                                          <p:val>
                                            <p:strVal val="#ppt_x"/>
                                          </p:val>
                                        </p:tav>
                                      </p:tavLst>
                                    </p:anim>
                                    <p:anim calcmode="lin" valueType="num">
                                      <p:cBhvr additive="base">
                                        <p:cTn id="63" dur="500" fill="hold"/>
                                        <p:tgtEl>
                                          <p:spTgt spid="8"/>
                                        </p:tgtEl>
                                        <p:attrNameLst>
                                          <p:attrName>ppt_y</p:attrName>
                                        </p:attrNameLst>
                                      </p:cBhvr>
                                      <p:tavLst>
                                        <p:tav tm="0">
                                          <p:val>
                                            <p:strVal val="1+#ppt_h/2"/>
                                          </p:val>
                                        </p:tav>
                                        <p:tav tm="100000">
                                          <p:val>
                                            <p:strVal val="#ppt_y"/>
                                          </p:val>
                                        </p:tav>
                                      </p:tavLst>
                                    </p:anim>
                                  </p:childTnLst>
                                </p:cTn>
                              </p:par>
                            </p:childTnLst>
                          </p:cTn>
                        </p:par>
                        <p:par>
                          <p:cTn id="64" fill="hold">
                            <p:stCondLst>
                              <p:cond delay="4000"/>
                            </p:stCondLst>
                            <p:childTnLst>
                              <p:par>
                                <p:cTn id="65" presetID="22" presetClass="entr" presetSubtype="4" fill="hold" nodeType="afterEffect">
                                  <p:stCondLst>
                                    <p:cond delay="0"/>
                                  </p:stCondLst>
                                  <p:childTnLst>
                                    <p:set>
                                      <p:cBhvr>
                                        <p:cTn id="66" dur="1" fill="hold">
                                          <p:stCondLst>
                                            <p:cond delay="0"/>
                                          </p:stCondLst>
                                        </p:cTn>
                                        <p:tgtEl>
                                          <p:spTgt spid="18"/>
                                        </p:tgtEl>
                                        <p:attrNameLst>
                                          <p:attrName>style.visibility</p:attrName>
                                        </p:attrNameLst>
                                      </p:cBhvr>
                                      <p:to>
                                        <p:strVal val="visible"/>
                                      </p:to>
                                    </p:set>
                                    <p:animEffect transition="in" filter="wipe(down)">
                                      <p:cBhvr>
                                        <p:cTn id="67" dur="500"/>
                                        <p:tgtEl>
                                          <p:spTgt spid="18"/>
                                        </p:tgtEl>
                                      </p:cBhvr>
                                    </p:animEffect>
                                  </p:childTnLst>
                                </p:cTn>
                              </p:par>
                            </p:childTnLst>
                          </p:cTn>
                        </p:par>
                        <p:par>
                          <p:cTn id="68" fill="hold">
                            <p:stCondLst>
                              <p:cond delay="4500"/>
                            </p:stCondLst>
                            <p:childTnLst>
                              <p:par>
                                <p:cTn id="69" presetID="22" presetClass="entr" presetSubtype="2" fill="hold" nodeType="afterEffect">
                                  <p:stCondLst>
                                    <p:cond delay="0"/>
                                  </p:stCondLst>
                                  <p:childTnLst>
                                    <p:set>
                                      <p:cBhvr>
                                        <p:cTn id="70" dur="1" fill="hold">
                                          <p:stCondLst>
                                            <p:cond delay="0"/>
                                          </p:stCondLst>
                                        </p:cTn>
                                        <p:tgtEl>
                                          <p:spTgt spid="17"/>
                                        </p:tgtEl>
                                        <p:attrNameLst>
                                          <p:attrName>style.visibility</p:attrName>
                                        </p:attrNameLst>
                                      </p:cBhvr>
                                      <p:to>
                                        <p:strVal val="visible"/>
                                      </p:to>
                                    </p:set>
                                    <p:animEffect transition="in" filter="wipe(right)">
                                      <p:cBhvr>
                                        <p:cTn id="71" dur="500"/>
                                        <p:tgtEl>
                                          <p:spTgt spid="17"/>
                                        </p:tgtEl>
                                      </p:cBhvr>
                                    </p:animEffect>
                                  </p:childTnLst>
                                </p:cTn>
                              </p:par>
                            </p:childTnLst>
                          </p:cTn>
                        </p:par>
                        <p:par>
                          <p:cTn id="72" fill="hold">
                            <p:stCondLst>
                              <p:cond delay="5000"/>
                            </p:stCondLst>
                            <p:childTnLst>
                              <p:par>
                                <p:cTn id="73" presetID="22" presetClass="entr" presetSubtype="4" fill="hold" nodeType="afterEffect">
                                  <p:stCondLst>
                                    <p:cond delay="0"/>
                                  </p:stCondLst>
                                  <p:childTnLst>
                                    <p:set>
                                      <p:cBhvr>
                                        <p:cTn id="74" dur="1" fill="hold">
                                          <p:stCondLst>
                                            <p:cond delay="0"/>
                                          </p:stCondLst>
                                        </p:cTn>
                                        <p:tgtEl>
                                          <p:spTgt spid="19"/>
                                        </p:tgtEl>
                                        <p:attrNameLst>
                                          <p:attrName>style.visibility</p:attrName>
                                        </p:attrNameLst>
                                      </p:cBhvr>
                                      <p:to>
                                        <p:strVal val="visible"/>
                                      </p:to>
                                    </p:set>
                                    <p:animEffect transition="in" filter="wipe(down)">
                                      <p:cBhvr>
                                        <p:cTn id="75"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5" grpId="0" animBg="1"/>
      <p:bldP spid="6" grpId="0" animBg="1"/>
      <p:bldP spid="7" grpId="0" animBg="1"/>
      <p:bldP spid="8" grpId="0" animBg="1"/>
      <p:bldP spid="9"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96938" y="838200"/>
            <a:ext cx="8652294" cy="1143000"/>
          </a:xfrm>
        </p:spPr>
        <p:txBody>
          <a:bodyPr/>
          <a:lstStyle/>
          <a:p>
            <a:r>
              <a:rPr lang="en-US" dirty="0"/>
              <a:t>Modified acceptance</a:t>
            </a:r>
          </a:p>
        </p:txBody>
      </p:sp>
      <p:sp>
        <p:nvSpPr>
          <p:cNvPr id="3" name="Content Placeholder 2"/>
          <p:cNvSpPr>
            <a:spLocks noGrp="1"/>
          </p:cNvSpPr>
          <p:nvPr>
            <p:ph idx="1"/>
          </p:nvPr>
        </p:nvSpPr>
        <p:spPr>
          <a:xfrm>
            <a:off x="2363492" y="2472303"/>
            <a:ext cx="7696200" cy="4114800"/>
          </a:xfrm>
        </p:spPr>
        <p:txBody>
          <a:bodyPr>
            <a:normAutofit/>
          </a:bodyPr>
          <a:lstStyle/>
          <a:p>
            <a:r>
              <a:rPr lang="en-US" sz="2000" dirty="0"/>
              <a:t>Norwegian law</a:t>
            </a:r>
          </a:p>
          <a:p>
            <a:pPr lvl="1"/>
            <a:r>
              <a:rPr lang="en-US" sz="1600" dirty="0"/>
              <a:t>No contract has come into existence (some reservations)</a:t>
            </a:r>
          </a:p>
          <a:p>
            <a:r>
              <a:rPr lang="en-US" sz="2000" dirty="0"/>
              <a:t>German law</a:t>
            </a:r>
          </a:p>
          <a:p>
            <a:pPr lvl="1"/>
            <a:r>
              <a:rPr lang="en-US" sz="1600" dirty="0"/>
              <a:t>Contract is concluded</a:t>
            </a:r>
          </a:p>
          <a:p>
            <a:r>
              <a:rPr lang="en-US" sz="2000" dirty="0"/>
              <a:t>Italian law</a:t>
            </a:r>
          </a:p>
          <a:p>
            <a:pPr lvl="1"/>
            <a:r>
              <a:rPr lang="en-US" sz="1600" dirty="0"/>
              <a:t>No contract has come into existence</a:t>
            </a:r>
          </a:p>
          <a:p>
            <a:r>
              <a:rPr lang="en-US" sz="2000" dirty="0"/>
              <a:t>English law</a:t>
            </a:r>
          </a:p>
          <a:p>
            <a:pPr lvl="1"/>
            <a:r>
              <a:rPr lang="en-US" sz="1600" dirty="0"/>
              <a:t>No contract has come into existence</a:t>
            </a:r>
          </a:p>
        </p:txBody>
      </p:sp>
      <p:sp>
        <p:nvSpPr>
          <p:cNvPr id="4" name="Rectangle 3">
            <a:extLst>
              <a:ext uri="{FF2B5EF4-FFF2-40B4-BE49-F238E27FC236}">
                <a16:creationId xmlns:a16="http://schemas.microsoft.com/office/drawing/2014/main" id="{762EBE5F-C385-4D3C-ADCF-5494D70CB62A}"/>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98CBD9CD-EF12-441A-8BB3-AA3A20A269F6}"/>
              </a:ext>
            </a:extLst>
          </p:cNvPr>
          <p:cNvSpPr/>
          <p:nvPr/>
        </p:nvSpPr>
        <p:spPr>
          <a:xfrm rot="16200000">
            <a:off x="4785414" y="5547413"/>
            <a:ext cx="589173"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E073C436-37FC-42B0-9796-C61C2F690A20}"/>
              </a:ext>
            </a:extLst>
          </p:cNvPr>
          <p:cNvSpPr/>
          <p:nvPr/>
        </p:nvSpPr>
        <p:spPr>
          <a:xfrm rot="16200000">
            <a:off x="6680724" y="5410723"/>
            <a:ext cx="862554"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D26D6C4C-30D3-4FFB-AF9A-95B98FA491E4}"/>
              </a:ext>
            </a:extLst>
          </p:cNvPr>
          <p:cNvSpPr/>
          <p:nvPr/>
        </p:nvSpPr>
        <p:spPr>
          <a:xfrm rot="16200000">
            <a:off x="8594272" y="5292271"/>
            <a:ext cx="1099457"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B806CF54-593A-4C3B-8F61-BBC7AE3CC961}"/>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4C6C8F81-4FF8-4F6F-BF20-A9C0644CB6DF}"/>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45381B3C-605C-491F-A2A6-2033F62C87F8}"/>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83D2F079-0C06-438B-98CF-CB784FABB2BD}"/>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82DA8063-B22A-48AF-9D5B-66829AB4DB74}"/>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DEDB4862-B272-4392-AA5D-615EE2E3C549}"/>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9CD995E7-0462-44A3-9461-0FDB63A027CD}"/>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38F4D774-96A3-487E-ADF6-B3F5B9138441}"/>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D548BAC6-4F32-4395-9F31-0EE2733A942E}"/>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59E0047F-EAD5-42F7-9054-0BED85F54C22}"/>
              </a:ext>
            </a:extLst>
          </p:cNvPr>
          <p:cNvCxnSpPr/>
          <p:nvPr/>
        </p:nvCxnSpPr>
        <p:spPr>
          <a:xfrm>
            <a:off x="669303" y="5812915"/>
            <a:ext cx="4402317"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09058001-E61A-448F-92DB-22B5DAF459F3}"/>
              </a:ext>
            </a:extLst>
          </p:cNvPr>
          <p:cNvCxnSpPr>
            <a:cxnSpLocks/>
          </p:cNvCxnSpPr>
          <p:nvPr/>
        </p:nvCxnSpPr>
        <p:spPr>
          <a:xfrm>
            <a:off x="5071620" y="5812915"/>
            <a:ext cx="9763" cy="455911"/>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B19B0BA-1345-4C05-B7B6-1D71BFD677E3}"/>
              </a:ext>
            </a:extLst>
          </p:cNvPr>
          <p:cNvCxnSpPr>
            <a:cxnSpLocks/>
          </p:cNvCxnSpPr>
          <p:nvPr/>
        </p:nvCxnSpPr>
        <p:spPr>
          <a:xfrm>
            <a:off x="669303" y="838986"/>
            <a:ext cx="0" cy="4973929"/>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0345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additive="base">
                                        <p:cTn id="16" dur="500" fill="hold"/>
                                        <p:tgtEl>
                                          <p:spTgt spid="4"/>
                                        </p:tgtEl>
                                        <p:attrNameLst>
                                          <p:attrName>ppt_x</p:attrName>
                                        </p:attrNameLst>
                                      </p:cBhvr>
                                      <p:tavLst>
                                        <p:tav tm="0">
                                          <p:val>
                                            <p:strVal val="#ppt_x"/>
                                          </p:val>
                                        </p:tav>
                                        <p:tav tm="100000">
                                          <p:val>
                                            <p:strVal val="#ppt_x"/>
                                          </p:val>
                                        </p:tav>
                                      </p:tavLst>
                                    </p:anim>
                                    <p:anim calcmode="lin" valueType="num">
                                      <p:cBhvr additive="base">
                                        <p:cTn id="17" dur="500" fill="hold"/>
                                        <p:tgtEl>
                                          <p:spTgt spid="4"/>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additive="base">
                                        <p:cTn id="26" dur="500" fill="hold"/>
                                        <p:tgtEl>
                                          <p:spTgt spid="6"/>
                                        </p:tgtEl>
                                        <p:attrNameLst>
                                          <p:attrName>ppt_x</p:attrName>
                                        </p:attrNameLst>
                                      </p:cBhvr>
                                      <p:tavLst>
                                        <p:tav tm="0">
                                          <p:val>
                                            <p:strVal val="#ppt_x"/>
                                          </p:val>
                                        </p:tav>
                                        <p:tav tm="100000">
                                          <p:val>
                                            <p:strVal val="#ppt_x"/>
                                          </p:val>
                                        </p:tav>
                                      </p:tavLst>
                                    </p:anim>
                                    <p:anim calcmode="lin" valueType="num">
                                      <p:cBhvr additive="base">
                                        <p:cTn id="27" dur="500" fill="hold"/>
                                        <p:tgtEl>
                                          <p:spTgt spid="6"/>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ppt_x"/>
                                          </p:val>
                                        </p:tav>
                                        <p:tav tm="100000">
                                          <p:val>
                                            <p:strVal val="#ppt_x"/>
                                          </p:val>
                                        </p:tav>
                                      </p:tavLst>
                                    </p:anim>
                                    <p:anim calcmode="lin" valueType="num">
                                      <p:cBhvr additive="base">
                                        <p:cTn id="32" dur="500" fill="hold"/>
                                        <p:tgtEl>
                                          <p:spTgt spid="7"/>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ntr" presetSubtype="4" fill="hold" grpId="0" nodeType="after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additive="base">
                                        <p:cTn id="36" dur="500" fill="hold"/>
                                        <p:tgtEl>
                                          <p:spTgt spid="8"/>
                                        </p:tgtEl>
                                        <p:attrNameLst>
                                          <p:attrName>ppt_x</p:attrName>
                                        </p:attrNameLst>
                                      </p:cBhvr>
                                      <p:tavLst>
                                        <p:tav tm="0">
                                          <p:val>
                                            <p:strVal val="#ppt_x"/>
                                          </p:val>
                                        </p:tav>
                                        <p:tav tm="100000">
                                          <p:val>
                                            <p:strVal val="#ppt_x"/>
                                          </p:val>
                                        </p:tav>
                                      </p:tavLst>
                                    </p:anim>
                                    <p:anim calcmode="lin" valueType="num">
                                      <p:cBhvr additive="base">
                                        <p:cTn id="37" dur="500" fill="hold"/>
                                        <p:tgtEl>
                                          <p:spTgt spid="8"/>
                                        </p:tgtEl>
                                        <p:attrNameLst>
                                          <p:attrName>ppt_y</p:attrName>
                                        </p:attrNameLst>
                                      </p:cBhvr>
                                      <p:tavLst>
                                        <p:tav tm="0">
                                          <p:val>
                                            <p:strVal val="1+#ppt_h/2"/>
                                          </p:val>
                                        </p:tav>
                                        <p:tav tm="100000">
                                          <p:val>
                                            <p:strVal val="#ppt_y"/>
                                          </p:val>
                                        </p:tav>
                                      </p:tavLst>
                                    </p:anim>
                                  </p:childTnLst>
                                </p:cTn>
                              </p:par>
                            </p:childTnLst>
                          </p:cTn>
                        </p:par>
                        <p:par>
                          <p:cTn id="38" fill="hold">
                            <p:stCondLst>
                              <p:cond delay="3500"/>
                            </p:stCondLst>
                            <p:childTnLst>
                              <p:par>
                                <p:cTn id="39" presetID="22" presetClass="entr" presetSubtype="4" fill="hold" nodeType="after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wipe(down)">
                                      <p:cBhvr>
                                        <p:cTn id="41" dur="500"/>
                                        <p:tgtEl>
                                          <p:spTgt spid="18"/>
                                        </p:tgtEl>
                                      </p:cBhvr>
                                    </p:animEffect>
                                  </p:childTnLst>
                                </p:cTn>
                              </p:par>
                            </p:childTnLst>
                          </p:cTn>
                        </p:par>
                        <p:par>
                          <p:cTn id="42" fill="hold">
                            <p:stCondLst>
                              <p:cond delay="4000"/>
                            </p:stCondLst>
                            <p:childTnLst>
                              <p:par>
                                <p:cTn id="43" presetID="22" presetClass="entr" presetSubtype="2" fill="hold" nodeType="after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wipe(right)">
                                      <p:cBhvr>
                                        <p:cTn id="45" dur="500"/>
                                        <p:tgtEl>
                                          <p:spTgt spid="17"/>
                                        </p:tgtEl>
                                      </p:cBhvr>
                                    </p:animEffect>
                                  </p:childTnLst>
                                </p:cTn>
                              </p:par>
                            </p:childTnLst>
                          </p:cTn>
                        </p:par>
                        <p:par>
                          <p:cTn id="46" fill="hold">
                            <p:stCondLst>
                              <p:cond delay="4500"/>
                            </p:stCondLst>
                            <p:childTnLst>
                              <p:par>
                                <p:cTn id="47" presetID="22" presetClass="entr" presetSubtype="4" fill="hold" nodeType="after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wipe(down)">
                                      <p:cBhvr>
                                        <p:cTn id="4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358" y="477864"/>
            <a:ext cx="8652294" cy="1143000"/>
          </a:xfrm>
        </p:spPr>
        <p:txBody>
          <a:bodyPr/>
          <a:lstStyle/>
          <a:p>
            <a:r>
              <a:rPr lang="en-US" dirty="0"/>
              <a:t>Battle of forms</a:t>
            </a:r>
          </a:p>
        </p:txBody>
      </p:sp>
      <p:sp>
        <p:nvSpPr>
          <p:cNvPr id="3" name="Content Placeholder 2"/>
          <p:cNvSpPr>
            <a:spLocks noGrp="1"/>
          </p:cNvSpPr>
          <p:nvPr>
            <p:ph idx="1"/>
          </p:nvPr>
        </p:nvSpPr>
        <p:spPr>
          <a:xfrm>
            <a:off x="1245030" y="2267327"/>
            <a:ext cx="10515600" cy="3315937"/>
          </a:xfrm>
        </p:spPr>
        <p:txBody>
          <a:bodyPr/>
          <a:lstStyle/>
          <a:p>
            <a:r>
              <a:rPr lang="en-US" b="1" dirty="0"/>
              <a:t>Parties agree on general terms of the contract</a:t>
            </a:r>
          </a:p>
          <a:p>
            <a:pPr lvl="1"/>
            <a:r>
              <a:rPr lang="en-US" dirty="0"/>
              <a:t>Company A sells bananas to company B</a:t>
            </a:r>
          </a:p>
          <a:p>
            <a:r>
              <a:rPr lang="en-US" b="1" dirty="0"/>
              <a:t>One party sends an offer on its pre-printed general terms, the other party sends an acceptance on its own pre-printed terms</a:t>
            </a:r>
          </a:p>
          <a:p>
            <a:pPr lvl="1"/>
            <a:r>
              <a:rPr lang="en-US" dirty="0"/>
              <a:t>Many companies use general terms of business – “boilerplate” contracts</a:t>
            </a:r>
          </a:p>
          <a:p>
            <a:r>
              <a:rPr lang="en-US" b="1" dirty="0"/>
              <a:t>These terms are contradicting</a:t>
            </a:r>
          </a:p>
          <a:p>
            <a:pPr lvl="1"/>
            <a:r>
              <a:rPr lang="en-US" dirty="0"/>
              <a:t>For example, terms on liability, insurance, etc.</a:t>
            </a:r>
          </a:p>
          <a:p>
            <a:pPr lvl="1"/>
            <a:endParaRPr lang="en-US" dirty="0"/>
          </a:p>
        </p:txBody>
      </p:sp>
      <p:sp>
        <p:nvSpPr>
          <p:cNvPr id="4" name="Rectangle 3">
            <a:extLst>
              <a:ext uri="{FF2B5EF4-FFF2-40B4-BE49-F238E27FC236}">
                <a16:creationId xmlns:a16="http://schemas.microsoft.com/office/drawing/2014/main" id="{2A85758F-65DD-4B7E-9917-A622FFFBEFD4}"/>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53A11F2F-B25B-4CDE-983B-D60F345B94D4}"/>
              </a:ext>
            </a:extLst>
          </p:cNvPr>
          <p:cNvSpPr/>
          <p:nvPr/>
        </p:nvSpPr>
        <p:spPr>
          <a:xfrm rot="16200000">
            <a:off x="4785414" y="5547413"/>
            <a:ext cx="589173"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99D11014-DB79-42B9-9B19-7F310936E8A7}"/>
              </a:ext>
            </a:extLst>
          </p:cNvPr>
          <p:cNvSpPr/>
          <p:nvPr/>
        </p:nvSpPr>
        <p:spPr>
          <a:xfrm rot="16200000">
            <a:off x="6680724" y="5410723"/>
            <a:ext cx="862554"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B3556F65-144E-4371-AFC6-6F5DE560C0F6}"/>
              </a:ext>
            </a:extLst>
          </p:cNvPr>
          <p:cNvSpPr/>
          <p:nvPr/>
        </p:nvSpPr>
        <p:spPr>
          <a:xfrm rot="16200000">
            <a:off x="8594272" y="5292271"/>
            <a:ext cx="1099457"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1828A104-BAB1-4DA3-9C4C-9FA4ECCCBDC4}"/>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84FB344B-EF25-40B3-A60B-C62D56714068}"/>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CEB07B4D-2E90-4123-BA00-ABE61BEF2B97}"/>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967457B3-11D5-4858-9046-CFC6CAE426A6}"/>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0D777D7E-7995-4F42-8AFA-0CFBC872D3C2}"/>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92835BAF-74E5-4EA0-A6D6-103196BC6B6A}"/>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6798ADBB-FD3F-4512-9038-72C7745C5C20}"/>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5F31776B-FB8C-422C-80E0-4652FD1B9244}"/>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F4B95018-99D1-4FAE-80B2-27B9090E68EE}"/>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70B689DD-86E5-4B2D-9E81-9DC3602C18DE}"/>
              </a:ext>
            </a:extLst>
          </p:cNvPr>
          <p:cNvCxnSpPr/>
          <p:nvPr/>
        </p:nvCxnSpPr>
        <p:spPr>
          <a:xfrm>
            <a:off x="669303" y="5812915"/>
            <a:ext cx="4402317"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85C734BB-C143-432F-8DCE-EBB188EF3D03}"/>
              </a:ext>
            </a:extLst>
          </p:cNvPr>
          <p:cNvCxnSpPr>
            <a:cxnSpLocks/>
          </p:cNvCxnSpPr>
          <p:nvPr/>
        </p:nvCxnSpPr>
        <p:spPr>
          <a:xfrm>
            <a:off x="5071620" y="5812915"/>
            <a:ext cx="9763" cy="455911"/>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A47AA85-7532-4E72-A779-CECC8A2C9EB0}"/>
              </a:ext>
            </a:extLst>
          </p:cNvPr>
          <p:cNvCxnSpPr>
            <a:cxnSpLocks/>
          </p:cNvCxnSpPr>
          <p:nvPr/>
        </p:nvCxnSpPr>
        <p:spPr>
          <a:xfrm>
            <a:off x="669303" y="838986"/>
            <a:ext cx="0" cy="4973929"/>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73781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childTnLst>
                          </p:cTn>
                        </p:par>
                        <p:par>
                          <p:cTn id="27" fill="hold">
                            <p:stCondLst>
                              <p:cond delay="500"/>
                            </p:stCondLst>
                            <p:childTnLst>
                              <p:par>
                                <p:cTn id="28" presetID="10" presetClass="entr" presetSubtype="0" fill="hold" nodeType="after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childTnLst>
                          </p:cTn>
                        </p:par>
                        <p:par>
                          <p:cTn id="31" fill="hold">
                            <p:stCondLst>
                              <p:cond delay="1000"/>
                            </p:stCondLst>
                            <p:childTnLst>
                              <p:par>
                                <p:cTn id="32" presetID="2" presetClass="entr" presetSubtype="4" fill="hold" grpId="0" nodeType="afterEffect">
                                  <p:stCondLst>
                                    <p:cond delay="0"/>
                                  </p:stCondLst>
                                  <p:childTnLst>
                                    <p:set>
                                      <p:cBhvr>
                                        <p:cTn id="33" dur="1" fill="hold">
                                          <p:stCondLst>
                                            <p:cond delay="0"/>
                                          </p:stCondLst>
                                        </p:cTn>
                                        <p:tgtEl>
                                          <p:spTgt spid="9"/>
                                        </p:tgtEl>
                                        <p:attrNameLst>
                                          <p:attrName>style.visibility</p:attrName>
                                        </p:attrNameLst>
                                      </p:cBhvr>
                                      <p:to>
                                        <p:strVal val="visible"/>
                                      </p:to>
                                    </p:set>
                                    <p:anim calcmode="lin" valueType="num">
                                      <p:cBhvr additive="base">
                                        <p:cTn id="34" dur="500" fill="hold"/>
                                        <p:tgtEl>
                                          <p:spTgt spid="9"/>
                                        </p:tgtEl>
                                        <p:attrNameLst>
                                          <p:attrName>ppt_x</p:attrName>
                                        </p:attrNameLst>
                                      </p:cBhvr>
                                      <p:tavLst>
                                        <p:tav tm="0">
                                          <p:val>
                                            <p:strVal val="#ppt_x"/>
                                          </p:val>
                                        </p:tav>
                                        <p:tav tm="100000">
                                          <p:val>
                                            <p:strVal val="#ppt_x"/>
                                          </p:val>
                                        </p:tav>
                                      </p:tavLst>
                                    </p:anim>
                                    <p:anim calcmode="lin" valueType="num">
                                      <p:cBhvr additive="base">
                                        <p:cTn id="35" dur="500" fill="hold"/>
                                        <p:tgtEl>
                                          <p:spTgt spid="9"/>
                                        </p:tgtEl>
                                        <p:attrNameLst>
                                          <p:attrName>ppt_y</p:attrName>
                                        </p:attrNameLst>
                                      </p:cBhvr>
                                      <p:tavLst>
                                        <p:tav tm="0">
                                          <p:val>
                                            <p:strVal val="1+#ppt_h/2"/>
                                          </p:val>
                                        </p:tav>
                                        <p:tav tm="100000">
                                          <p:val>
                                            <p:strVal val="#ppt_y"/>
                                          </p:val>
                                        </p:tav>
                                      </p:tavLst>
                                    </p:anim>
                                  </p:childTnLst>
                                </p:cTn>
                              </p:par>
                            </p:childTnLst>
                          </p:cTn>
                        </p:par>
                        <p:par>
                          <p:cTn id="36" fill="hold">
                            <p:stCondLst>
                              <p:cond delay="1500"/>
                            </p:stCondLst>
                            <p:childTnLst>
                              <p:par>
                                <p:cTn id="37" presetID="2" presetClass="entr" presetSubtype="4" fill="hold" grpId="0" nodeType="afterEffect">
                                  <p:stCondLst>
                                    <p:cond delay="0"/>
                                  </p:stCondLst>
                                  <p:childTnLst>
                                    <p:set>
                                      <p:cBhvr>
                                        <p:cTn id="38" dur="1" fill="hold">
                                          <p:stCondLst>
                                            <p:cond delay="0"/>
                                          </p:stCondLst>
                                        </p:cTn>
                                        <p:tgtEl>
                                          <p:spTgt spid="4"/>
                                        </p:tgtEl>
                                        <p:attrNameLst>
                                          <p:attrName>style.visibility</p:attrName>
                                        </p:attrNameLst>
                                      </p:cBhvr>
                                      <p:to>
                                        <p:strVal val="visible"/>
                                      </p:to>
                                    </p:set>
                                    <p:anim calcmode="lin" valueType="num">
                                      <p:cBhvr additive="base">
                                        <p:cTn id="39" dur="500" fill="hold"/>
                                        <p:tgtEl>
                                          <p:spTgt spid="4"/>
                                        </p:tgtEl>
                                        <p:attrNameLst>
                                          <p:attrName>ppt_x</p:attrName>
                                        </p:attrNameLst>
                                      </p:cBhvr>
                                      <p:tavLst>
                                        <p:tav tm="0">
                                          <p:val>
                                            <p:strVal val="#ppt_x"/>
                                          </p:val>
                                        </p:tav>
                                        <p:tav tm="100000">
                                          <p:val>
                                            <p:strVal val="#ppt_x"/>
                                          </p:val>
                                        </p:tav>
                                      </p:tavLst>
                                    </p:anim>
                                    <p:anim calcmode="lin" valueType="num">
                                      <p:cBhvr additive="base">
                                        <p:cTn id="40" dur="500" fill="hold"/>
                                        <p:tgtEl>
                                          <p:spTgt spid="4"/>
                                        </p:tgtEl>
                                        <p:attrNameLst>
                                          <p:attrName>ppt_y</p:attrName>
                                        </p:attrNameLst>
                                      </p:cBhvr>
                                      <p:tavLst>
                                        <p:tav tm="0">
                                          <p:val>
                                            <p:strVal val="1+#ppt_h/2"/>
                                          </p:val>
                                        </p:tav>
                                        <p:tav tm="100000">
                                          <p:val>
                                            <p:strVal val="#ppt_y"/>
                                          </p:val>
                                        </p:tav>
                                      </p:tavLst>
                                    </p:anim>
                                  </p:childTnLst>
                                </p:cTn>
                              </p:par>
                            </p:childTnLst>
                          </p:cTn>
                        </p:par>
                        <p:par>
                          <p:cTn id="41" fill="hold">
                            <p:stCondLst>
                              <p:cond delay="2000"/>
                            </p:stCondLst>
                            <p:childTnLst>
                              <p:par>
                                <p:cTn id="42" presetID="2" presetClass="entr" presetSubtype="4" fill="hold" grpId="0" nodeType="afterEffect">
                                  <p:stCondLst>
                                    <p:cond delay="0"/>
                                  </p:stCondLst>
                                  <p:childTnLst>
                                    <p:set>
                                      <p:cBhvr>
                                        <p:cTn id="43" dur="1" fill="hold">
                                          <p:stCondLst>
                                            <p:cond delay="0"/>
                                          </p:stCondLst>
                                        </p:cTn>
                                        <p:tgtEl>
                                          <p:spTgt spid="5"/>
                                        </p:tgtEl>
                                        <p:attrNameLst>
                                          <p:attrName>style.visibility</p:attrName>
                                        </p:attrNameLst>
                                      </p:cBhvr>
                                      <p:to>
                                        <p:strVal val="visible"/>
                                      </p:to>
                                    </p:set>
                                    <p:anim calcmode="lin" valueType="num">
                                      <p:cBhvr additive="base">
                                        <p:cTn id="44" dur="500" fill="hold"/>
                                        <p:tgtEl>
                                          <p:spTgt spid="5"/>
                                        </p:tgtEl>
                                        <p:attrNameLst>
                                          <p:attrName>ppt_x</p:attrName>
                                        </p:attrNameLst>
                                      </p:cBhvr>
                                      <p:tavLst>
                                        <p:tav tm="0">
                                          <p:val>
                                            <p:strVal val="#ppt_x"/>
                                          </p:val>
                                        </p:tav>
                                        <p:tav tm="100000">
                                          <p:val>
                                            <p:strVal val="#ppt_x"/>
                                          </p:val>
                                        </p:tav>
                                      </p:tavLst>
                                    </p:anim>
                                    <p:anim calcmode="lin" valueType="num">
                                      <p:cBhvr additive="base">
                                        <p:cTn id="45" dur="500" fill="hold"/>
                                        <p:tgtEl>
                                          <p:spTgt spid="5"/>
                                        </p:tgtEl>
                                        <p:attrNameLst>
                                          <p:attrName>ppt_y</p:attrName>
                                        </p:attrNameLst>
                                      </p:cBhvr>
                                      <p:tavLst>
                                        <p:tav tm="0">
                                          <p:val>
                                            <p:strVal val="1+#ppt_h/2"/>
                                          </p:val>
                                        </p:tav>
                                        <p:tav tm="100000">
                                          <p:val>
                                            <p:strVal val="#ppt_y"/>
                                          </p:val>
                                        </p:tav>
                                      </p:tavLst>
                                    </p:anim>
                                  </p:childTnLst>
                                </p:cTn>
                              </p:par>
                            </p:childTnLst>
                          </p:cTn>
                        </p:par>
                        <p:par>
                          <p:cTn id="46" fill="hold">
                            <p:stCondLst>
                              <p:cond delay="2500"/>
                            </p:stCondLst>
                            <p:childTnLst>
                              <p:par>
                                <p:cTn id="47" presetID="2" presetClass="entr" presetSubtype="4" fill="hold" grpId="0" nodeType="afterEffect">
                                  <p:stCondLst>
                                    <p:cond delay="0"/>
                                  </p:stCondLst>
                                  <p:childTnLst>
                                    <p:set>
                                      <p:cBhvr>
                                        <p:cTn id="48" dur="1" fill="hold">
                                          <p:stCondLst>
                                            <p:cond delay="0"/>
                                          </p:stCondLst>
                                        </p:cTn>
                                        <p:tgtEl>
                                          <p:spTgt spid="6"/>
                                        </p:tgtEl>
                                        <p:attrNameLst>
                                          <p:attrName>style.visibility</p:attrName>
                                        </p:attrNameLst>
                                      </p:cBhvr>
                                      <p:to>
                                        <p:strVal val="visible"/>
                                      </p:to>
                                    </p:set>
                                    <p:anim calcmode="lin" valueType="num">
                                      <p:cBhvr additive="base">
                                        <p:cTn id="49" dur="500" fill="hold"/>
                                        <p:tgtEl>
                                          <p:spTgt spid="6"/>
                                        </p:tgtEl>
                                        <p:attrNameLst>
                                          <p:attrName>ppt_x</p:attrName>
                                        </p:attrNameLst>
                                      </p:cBhvr>
                                      <p:tavLst>
                                        <p:tav tm="0">
                                          <p:val>
                                            <p:strVal val="#ppt_x"/>
                                          </p:val>
                                        </p:tav>
                                        <p:tav tm="100000">
                                          <p:val>
                                            <p:strVal val="#ppt_x"/>
                                          </p:val>
                                        </p:tav>
                                      </p:tavLst>
                                    </p:anim>
                                    <p:anim calcmode="lin" valueType="num">
                                      <p:cBhvr additive="base">
                                        <p:cTn id="50" dur="500" fill="hold"/>
                                        <p:tgtEl>
                                          <p:spTgt spid="6"/>
                                        </p:tgtEl>
                                        <p:attrNameLst>
                                          <p:attrName>ppt_y</p:attrName>
                                        </p:attrNameLst>
                                      </p:cBhvr>
                                      <p:tavLst>
                                        <p:tav tm="0">
                                          <p:val>
                                            <p:strVal val="1+#ppt_h/2"/>
                                          </p:val>
                                        </p:tav>
                                        <p:tav tm="100000">
                                          <p:val>
                                            <p:strVal val="#ppt_y"/>
                                          </p:val>
                                        </p:tav>
                                      </p:tavLst>
                                    </p:anim>
                                  </p:childTnLst>
                                </p:cTn>
                              </p:par>
                            </p:childTnLst>
                          </p:cTn>
                        </p:par>
                        <p:par>
                          <p:cTn id="51" fill="hold">
                            <p:stCondLst>
                              <p:cond delay="3000"/>
                            </p:stCondLst>
                            <p:childTnLst>
                              <p:par>
                                <p:cTn id="52" presetID="2" presetClass="entr" presetSubtype="4" fill="hold" grpId="0" nodeType="afterEffect">
                                  <p:stCondLst>
                                    <p:cond delay="0"/>
                                  </p:stCondLst>
                                  <p:childTnLst>
                                    <p:set>
                                      <p:cBhvr>
                                        <p:cTn id="53" dur="1" fill="hold">
                                          <p:stCondLst>
                                            <p:cond delay="0"/>
                                          </p:stCondLst>
                                        </p:cTn>
                                        <p:tgtEl>
                                          <p:spTgt spid="7"/>
                                        </p:tgtEl>
                                        <p:attrNameLst>
                                          <p:attrName>style.visibility</p:attrName>
                                        </p:attrNameLst>
                                      </p:cBhvr>
                                      <p:to>
                                        <p:strVal val="visible"/>
                                      </p:to>
                                    </p:set>
                                    <p:anim calcmode="lin" valueType="num">
                                      <p:cBhvr additive="base">
                                        <p:cTn id="54" dur="500" fill="hold"/>
                                        <p:tgtEl>
                                          <p:spTgt spid="7"/>
                                        </p:tgtEl>
                                        <p:attrNameLst>
                                          <p:attrName>ppt_x</p:attrName>
                                        </p:attrNameLst>
                                      </p:cBhvr>
                                      <p:tavLst>
                                        <p:tav tm="0">
                                          <p:val>
                                            <p:strVal val="#ppt_x"/>
                                          </p:val>
                                        </p:tav>
                                        <p:tav tm="100000">
                                          <p:val>
                                            <p:strVal val="#ppt_x"/>
                                          </p:val>
                                        </p:tav>
                                      </p:tavLst>
                                    </p:anim>
                                    <p:anim calcmode="lin" valueType="num">
                                      <p:cBhvr additive="base">
                                        <p:cTn id="55" dur="500" fill="hold"/>
                                        <p:tgtEl>
                                          <p:spTgt spid="7"/>
                                        </p:tgtEl>
                                        <p:attrNameLst>
                                          <p:attrName>ppt_y</p:attrName>
                                        </p:attrNameLst>
                                      </p:cBhvr>
                                      <p:tavLst>
                                        <p:tav tm="0">
                                          <p:val>
                                            <p:strVal val="1+#ppt_h/2"/>
                                          </p:val>
                                        </p:tav>
                                        <p:tav tm="100000">
                                          <p:val>
                                            <p:strVal val="#ppt_y"/>
                                          </p:val>
                                        </p:tav>
                                      </p:tavLst>
                                    </p:anim>
                                  </p:childTnLst>
                                </p:cTn>
                              </p:par>
                            </p:childTnLst>
                          </p:cTn>
                        </p:par>
                        <p:par>
                          <p:cTn id="56" fill="hold">
                            <p:stCondLst>
                              <p:cond delay="3500"/>
                            </p:stCondLst>
                            <p:childTnLst>
                              <p:par>
                                <p:cTn id="57" presetID="2" presetClass="entr" presetSubtype="4" fill="hold" grpId="0" nodeType="afterEffect">
                                  <p:stCondLst>
                                    <p:cond delay="0"/>
                                  </p:stCondLst>
                                  <p:childTnLst>
                                    <p:set>
                                      <p:cBhvr>
                                        <p:cTn id="58" dur="1" fill="hold">
                                          <p:stCondLst>
                                            <p:cond delay="0"/>
                                          </p:stCondLst>
                                        </p:cTn>
                                        <p:tgtEl>
                                          <p:spTgt spid="8"/>
                                        </p:tgtEl>
                                        <p:attrNameLst>
                                          <p:attrName>style.visibility</p:attrName>
                                        </p:attrNameLst>
                                      </p:cBhvr>
                                      <p:to>
                                        <p:strVal val="visible"/>
                                      </p:to>
                                    </p:set>
                                    <p:anim calcmode="lin" valueType="num">
                                      <p:cBhvr additive="base">
                                        <p:cTn id="59" dur="500" fill="hold"/>
                                        <p:tgtEl>
                                          <p:spTgt spid="8"/>
                                        </p:tgtEl>
                                        <p:attrNameLst>
                                          <p:attrName>ppt_x</p:attrName>
                                        </p:attrNameLst>
                                      </p:cBhvr>
                                      <p:tavLst>
                                        <p:tav tm="0">
                                          <p:val>
                                            <p:strVal val="#ppt_x"/>
                                          </p:val>
                                        </p:tav>
                                        <p:tav tm="100000">
                                          <p:val>
                                            <p:strVal val="#ppt_x"/>
                                          </p:val>
                                        </p:tav>
                                      </p:tavLst>
                                    </p:anim>
                                    <p:anim calcmode="lin" valueType="num">
                                      <p:cBhvr additive="base">
                                        <p:cTn id="60" dur="500" fill="hold"/>
                                        <p:tgtEl>
                                          <p:spTgt spid="8"/>
                                        </p:tgtEl>
                                        <p:attrNameLst>
                                          <p:attrName>ppt_y</p:attrName>
                                        </p:attrNameLst>
                                      </p:cBhvr>
                                      <p:tavLst>
                                        <p:tav tm="0">
                                          <p:val>
                                            <p:strVal val="1+#ppt_h/2"/>
                                          </p:val>
                                        </p:tav>
                                        <p:tav tm="100000">
                                          <p:val>
                                            <p:strVal val="#ppt_y"/>
                                          </p:val>
                                        </p:tav>
                                      </p:tavLst>
                                    </p:anim>
                                  </p:childTnLst>
                                </p:cTn>
                              </p:par>
                            </p:childTnLst>
                          </p:cTn>
                        </p:par>
                        <p:par>
                          <p:cTn id="61" fill="hold">
                            <p:stCondLst>
                              <p:cond delay="4000"/>
                            </p:stCondLst>
                            <p:childTnLst>
                              <p:par>
                                <p:cTn id="62" presetID="22" presetClass="entr" presetSubtype="4" fill="hold" nodeType="after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wipe(down)">
                                      <p:cBhvr>
                                        <p:cTn id="64" dur="500"/>
                                        <p:tgtEl>
                                          <p:spTgt spid="18"/>
                                        </p:tgtEl>
                                      </p:cBhvr>
                                    </p:animEffect>
                                  </p:childTnLst>
                                </p:cTn>
                              </p:par>
                            </p:childTnLst>
                          </p:cTn>
                        </p:par>
                        <p:par>
                          <p:cTn id="65" fill="hold">
                            <p:stCondLst>
                              <p:cond delay="4500"/>
                            </p:stCondLst>
                            <p:childTnLst>
                              <p:par>
                                <p:cTn id="66" presetID="22" presetClass="entr" presetSubtype="2" fill="hold" nodeType="afterEffect">
                                  <p:stCondLst>
                                    <p:cond delay="0"/>
                                  </p:stCondLst>
                                  <p:childTnLst>
                                    <p:set>
                                      <p:cBhvr>
                                        <p:cTn id="67" dur="1" fill="hold">
                                          <p:stCondLst>
                                            <p:cond delay="0"/>
                                          </p:stCondLst>
                                        </p:cTn>
                                        <p:tgtEl>
                                          <p:spTgt spid="17"/>
                                        </p:tgtEl>
                                        <p:attrNameLst>
                                          <p:attrName>style.visibility</p:attrName>
                                        </p:attrNameLst>
                                      </p:cBhvr>
                                      <p:to>
                                        <p:strVal val="visible"/>
                                      </p:to>
                                    </p:set>
                                    <p:animEffect transition="in" filter="wipe(right)">
                                      <p:cBhvr>
                                        <p:cTn id="68" dur="500"/>
                                        <p:tgtEl>
                                          <p:spTgt spid="17"/>
                                        </p:tgtEl>
                                      </p:cBhvr>
                                    </p:animEffect>
                                  </p:childTnLst>
                                </p:cTn>
                              </p:par>
                            </p:childTnLst>
                          </p:cTn>
                        </p:par>
                        <p:par>
                          <p:cTn id="69" fill="hold">
                            <p:stCondLst>
                              <p:cond delay="5000"/>
                            </p:stCondLst>
                            <p:childTnLst>
                              <p:par>
                                <p:cTn id="70" presetID="22" presetClass="entr" presetSubtype="4" fill="hold" nodeType="afterEffect">
                                  <p:stCondLst>
                                    <p:cond delay="0"/>
                                  </p:stCondLst>
                                  <p:childTnLst>
                                    <p:set>
                                      <p:cBhvr>
                                        <p:cTn id="71" dur="1" fill="hold">
                                          <p:stCondLst>
                                            <p:cond delay="0"/>
                                          </p:stCondLst>
                                        </p:cTn>
                                        <p:tgtEl>
                                          <p:spTgt spid="19"/>
                                        </p:tgtEl>
                                        <p:attrNameLst>
                                          <p:attrName>style.visibility</p:attrName>
                                        </p:attrNameLst>
                                      </p:cBhvr>
                                      <p:to>
                                        <p:strVal val="visible"/>
                                      </p:to>
                                    </p:set>
                                    <p:animEffect transition="in" filter="wipe(down)">
                                      <p:cBhvr>
                                        <p:cTn id="7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5" grpId="0" animBg="1"/>
      <p:bldP spid="6" grpId="0" animBg="1"/>
      <p:bldP spid="7" grpId="0" animBg="1"/>
      <p:bldP spid="8" grpId="0" animBg="1"/>
      <p:bldP spid="9"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1026" y="938413"/>
            <a:ext cx="8652294" cy="1143000"/>
          </a:xfrm>
        </p:spPr>
        <p:txBody>
          <a:bodyPr/>
          <a:lstStyle/>
          <a:p>
            <a:r>
              <a:rPr lang="en-US" dirty="0"/>
              <a:t>Battle of the forms</a:t>
            </a:r>
          </a:p>
        </p:txBody>
      </p:sp>
      <p:sp>
        <p:nvSpPr>
          <p:cNvPr id="3" name="Content Placeholder 2"/>
          <p:cNvSpPr>
            <a:spLocks noGrp="1"/>
          </p:cNvSpPr>
          <p:nvPr>
            <p:ph idx="1"/>
          </p:nvPr>
        </p:nvSpPr>
        <p:spPr>
          <a:xfrm>
            <a:off x="1414220" y="2218103"/>
            <a:ext cx="6846376" cy="4114800"/>
          </a:xfrm>
        </p:spPr>
        <p:txBody>
          <a:bodyPr>
            <a:normAutofit/>
          </a:bodyPr>
          <a:lstStyle/>
          <a:p>
            <a:r>
              <a:rPr lang="en-US" sz="2000" dirty="0"/>
              <a:t>Norwegian law</a:t>
            </a:r>
          </a:p>
          <a:p>
            <a:pPr lvl="1"/>
            <a:r>
              <a:rPr lang="en-US" sz="1600" dirty="0"/>
              <a:t>There is no contract, and if there is, it’s based on last terms (there would be a contract if e.g. one party started performing)</a:t>
            </a:r>
          </a:p>
          <a:p>
            <a:r>
              <a:rPr lang="en-US" sz="2000" dirty="0"/>
              <a:t>German law</a:t>
            </a:r>
          </a:p>
          <a:p>
            <a:pPr lvl="1"/>
            <a:r>
              <a:rPr lang="en-US" sz="1600" dirty="0"/>
              <a:t>Valid contract, contradicting terms cannot be applied (“knock out” rule)</a:t>
            </a:r>
          </a:p>
          <a:p>
            <a:r>
              <a:rPr lang="en-US" sz="2000" dirty="0"/>
              <a:t>Italian law</a:t>
            </a:r>
          </a:p>
          <a:p>
            <a:pPr lvl="1"/>
            <a:r>
              <a:rPr lang="en-US" sz="1600" dirty="0"/>
              <a:t>There is no contract, and if there is, it’s based on last terms</a:t>
            </a:r>
          </a:p>
          <a:p>
            <a:r>
              <a:rPr lang="en-US" sz="2000" dirty="0"/>
              <a:t>English law</a:t>
            </a:r>
          </a:p>
          <a:p>
            <a:pPr lvl="1"/>
            <a:r>
              <a:rPr lang="en-US" sz="1600" dirty="0"/>
              <a:t>There is no contract, and if there is, it’s based on last terms</a:t>
            </a:r>
          </a:p>
          <a:p>
            <a:pPr marL="457200" lvl="1" indent="0">
              <a:buNone/>
            </a:pPr>
            <a:endParaRPr lang="sr-Latn-ME" sz="1600" dirty="0"/>
          </a:p>
        </p:txBody>
      </p:sp>
      <p:sp>
        <p:nvSpPr>
          <p:cNvPr id="4" name="Rectangle 3">
            <a:extLst>
              <a:ext uri="{FF2B5EF4-FFF2-40B4-BE49-F238E27FC236}">
                <a16:creationId xmlns:a16="http://schemas.microsoft.com/office/drawing/2014/main" id="{0FA09B0E-8BC7-4D74-84CD-97C7DF2C628A}"/>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AB4BC468-DA54-4EEA-BA8C-11D6ABFFEA4B}"/>
              </a:ext>
            </a:extLst>
          </p:cNvPr>
          <p:cNvSpPr/>
          <p:nvPr/>
        </p:nvSpPr>
        <p:spPr>
          <a:xfrm rot="16200000">
            <a:off x="4785414" y="5547413"/>
            <a:ext cx="589173"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52059C29-42D7-41FF-9B02-AB5FA7FEF673}"/>
              </a:ext>
            </a:extLst>
          </p:cNvPr>
          <p:cNvSpPr/>
          <p:nvPr/>
        </p:nvSpPr>
        <p:spPr>
          <a:xfrm rot="16200000">
            <a:off x="6680724" y="5410723"/>
            <a:ext cx="862554"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F12A5FA8-4A11-4DC6-907A-E0DD3C019E0E}"/>
              </a:ext>
            </a:extLst>
          </p:cNvPr>
          <p:cNvSpPr/>
          <p:nvPr/>
        </p:nvSpPr>
        <p:spPr>
          <a:xfrm rot="16200000">
            <a:off x="8594272" y="5292271"/>
            <a:ext cx="1099457"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A77BBB6E-FC89-4D6E-8838-0435332F8693}"/>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B8649BC0-DFA4-4EDB-A52C-FBABBA0A038F}"/>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794039FA-2682-49A8-B9F2-BE2DF3F4A9AD}"/>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ABE4BE1C-62B5-4B96-A3A2-66C8740CA1AB}"/>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7F4B3DA2-E51F-4C86-B75F-AF6FE218E603}"/>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2846F65C-90A0-4DDA-B205-6A78217680CC}"/>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BD2CCD42-D9EC-4B06-AADA-179D741D9765}"/>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D0A1047A-A245-4148-83CD-1133326908AA}"/>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948691EA-8060-4C5B-A61D-4AA480367FAC}"/>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F5FBA02A-524F-4D55-A52A-7E21795679BA}"/>
              </a:ext>
            </a:extLst>
          </p:cNvPr>
          <p:cNvCxnSpPr/>
          <p:nvPr/>
        </p:nvCxnSpPr>
        <p:spPr>
          <a:xfrm>
            <a:off x="669303" y="5812915"/>
            <a:ext cx="4402317"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42A93A1-662D-46F8-A0A1-E1C6D760D1FB}"/>
              </a:ext>
            </a:extLst>
          </p:cNvPr>
          <p:cNvCxnSpPr>
            <a:cxnSpLocks/>
          </p:cNvCxnSpPr>
          <p:nvPr/>
        </p:nvCxnSpPr>
        <p:spPr>
          <a:xfrm>
            <a:off x="5071620" y="5812915"/>
            <a:ext cx="9763" cy="455911"/>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612E83D3-DA16-4978-BD3C-B56798BE94D2}"/>
              </a:ext>
            </a:extLst>
          </p:cNvPr>
          <p:cNvCxnSpPr>
            <a:cxnSpLocks/>
          </p:cNvCxnSpPr>
          <p:nvPr/>
        </p:nvCxnSpPr>
        <p:spPr>
          <a:xfrm>
            <a:off x="669303" y="838986"/>
            <a:ext cx="0" cy="4973929"/>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1712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additive="base">
                                        <p:cTn id="16" dur="500" fill="hold"/>
                                        <p:tgtEl>
                                          <p:spTgt spid="4"/>
                                        </p:tgtEl>
                                        <p:attrNameLst>
                                          <p:attrName>ppt_x</p:attrName>
                                        </p:attrNameLst>
                                      </p:cBhvr>
                                      <p:tavLst>
                                        <p:tav tm="0">
                                          <p:val>
                                            <p:strVal val="#ppt_x"/>
                                          </p:val>
                                        </p:tav>
                                        <p:tav tm="100000">
                                          <p:val>
                                            <p:strVal val="#ppt_x"/>
                                          </p:val>
                                        </p:tav>
                                      </p:tavLst>
                                    </p:anim>
                                    <p:anim calcmode="lin" valueType="num">
                                      <p:cBhvr additive="base">
                                        <p:cTn id="17" dur="500" fill="hold"/>
                                        <p:tgtEl>
                                          <p:spTgt spid="4"/>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additive="base">
                                        <p:cTn id="26" dur="500" fill="hold"/>
                                        <p:tgtEl>
                                          <p:spTgt spid="6"/>
                                        </p:tgtEl>
                                        <p:attrNameLst>
                                          <p:attrName>ppt_x</p:attrName>
                                        </p:attrNameLst>
                                      </p:cBhvr>
                                      <p:tavLst>
                                        <p:tav tm="0">
                                          <p:val>
                                            <p:strVal val="#ppt_x"/>
                                          </p:val>
                                        </p:tav>
                                        <p:tav tm="100000">
                                          <p:val>
                                            <p:strVal val="#ppt_x"/>
                                          </p:val>
                                        </p:tav>
                                      </p:tavLst>
                                    </p:anim>
                                    <p:anim calcmode="lin" valueType="num">
                                      <p:cBhvr additive="base">
                                        <p:cTn id="27" dur="500" fill="hold"/>
                                        <p:tgtEl>
                                          <p:spTgt spid="6"/>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ppt_x"/>
                                          </p:val>
                                        </p:tav>
                                        <p:tav tm="100000">
                                          <p:val>
                                            <p:strVal val="#ppt_x"/>
                                          </p:val>
                                        </p:tav>
                                      </p:tavLst>
                                    </p:anim>
                                    <p:anim calcmode="lin" valueType="num">
                                      <p:cBhvr additive="base">
                                        <p:cTn id="32" dur="500" fill="hold"/>
                                        <p:tgtEl>
                                          <p:spTgt spid="7"/>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ntr" presetSubtype="4" fill="hold" grpId="0" nodeType="after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additive="base">
                                        <p:cTn id="36" dur="500" fill="hold"/>
                                        <p:tgtEl>
                                          <p:spTgt spid="8"/>
                                        </p:tgtEl>
                                        <p:attrNameLst>
                                          <p:attrName>ppt_x</p:attrName>
                                        </p:attrNameLst>
                                      </p:cBhvr>
                                      <p:tavLst>
                                        <p:tav tm="0">
                                          <p:val>
                                            <p:strVal val="#ppt_x"/>
                                          </p:val>
                                        </p:tav>
                                        <p:tav tm="100000">
                                          <p:val>
                                            <p:strVal val="#ppt_x"/>
                                          </p:val>
                                        </p:tav>
                                      </p:tavLst>
                                    </p:anim>
                                    <p:anim calcmode="lin" valueType="num">
                                      <p:cBhvr additive="base">
                                        <p:cTn id="37" dur="500" fill="hold"/>
                                        <p:tgtEl>
                                          <p:spTgt spid="8"/>
                                        </p:tgtEl>
                                        <p:attrNameLst>
                                          <p:attrName>ppt_y</p:attrName>
                                        </p:attrNameLst>
                                      </p:cBhvr>
                                      <p:tavLst>
                                        <p:tav tm="0">
                                          <p:val>
                                            <p:strVal val="1+#ppt_h/2"/>
                                          </p:val>
                                        </p:tav>
                                        <p:tav tm="100000">
                                          <p:val>
                                            <p:strVal val="#ppt_y"/>
                                          </p:val>
                                        </p:tav>
                                      </p:tavLst>
                                    </p:anim>
                                  </p:childTnLst>
                                </p:cTn>
                              </p:par>
                            </p:childTnLst>
                          </p:cTn>
                        </p:par>
                        <p:par>
                          <p:cTn id="38" fill="hold">
                            <p:stCondLst>
                              <p:cond delay="3500"/>
                            </p:stCondLst>
                            <p:childTnLst>
                              <p:par>
                                <p:cTn id="39" presetID="22" presetClass="entr" presetSubtype="4" fill="hold" nodeType="after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wipe(down)">
                                      <p:cBhvr>
                                        <p:cTn id="41" dur="500"/>
                                        <p:tgtEl>
                                          <p:spTgt spid="18"/>
                                        </p:tgtEl>
                                      </p:cBhvr>
                                    </p:animEffect>
                                  </p:childTnLst>
                                </p:cTn>
                              </p:par>
                            </p:childTnLst>
                          </p:cTn>
                        </p:par>
                        <p:par>
                          <p:cTn id="42" fill="hold">
                            <p:stCondLst>
                              <p:cond delay="4000"/>
                            </p:stCondLst>
                            <p:childTnLst>
                              <p:par>
                                <p:cTn id="43" presetID="22" presetClass="entr" presetSubtype="2" fill="hold" nodeType="after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wipe(right)">
                                      <p:cBhvr>
                                        <p:cTn id="45" dur="500"/>
                                        <p:tgtEl>
                                          <p:spTgt spid="17"/>
                                        </p:tgtEl>
                                      </p:cBhvr>
                                    </p:animEffect>
                                  </p:childTnLst>
                                </p:cTn>
                              </p:par>
                            </p:childTnLst>
                          </p:cTn>
                        </p:par>
                        <p:par>
                          <p:cTn id="46" fill="hold">
                            <p:stCondLst>
                              <p:cond delay="4500"/>
                            </p:stCondLst>
                            <p:childTnLst>
                              <p:par>
                                <p:cTn id="47" presetID="22" presetClass="entr" presetSubtype="4" fill="hold" nodeType="after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wipe(down)">
                                      <p:cBhvr>
                                        <p:cTn id="4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57737" y="448727"/>
            <a:ext cx="8652294" cy="1143000"/>
          </a:xfrm>
        </p:spPr>
        <p:txBody>
          <a:bodyPr/>
          <a:lstStyle/>
          <a:p>
            <a:r>
              <a:rPr lang="en-US" dirty="0"/>
              <a:t>Break-off of negotiations</a:t>
            </a:r>
          </a:p>
        </p:txBody>
      </p:sp>
      <p:sp>
        <p:nvSpPr>
          <p:cNvPr id="3" name="Content Placeholder 2"/>
          <p:cNvSpPr>
            <a:spLocks noGrp="1"/>
          </p:cNvSpPr>
          <p:nvPr>
            <p:ph idx="1"/>
          </p:nvPr>
        </p:nvSpPr>
        <p:spPr>
          <a:xfrm>
            <a:off x="1152157" y="1688618"/>
            <a:ext cx="10515600" cy="4351338"/>
          </a:xfrm>
        </p:spPr>
        <p:txBody>
          <a:bodyPr/>
          <a:lstStyle/>
          <a:p>
            <a:r>
              <a:rPr lang="en-US" b="1" dirty="0"/>
              <a:t>Parties start negotiating the contract</a:t>
            </a:r>
          </a:p>
          <a:p>
            <a:pPr lvl="1"/>
            <a:r>
              <a:rPr lang="en-US" dirty="0"/>
              <a:t>Company A sells bananas to company B</a:t>
            </a:r>
          </a:p>
          <a:p>
            <a:r>
              <a:rPr lang="en-US" b="1" dirty="0"/>
              <a:t>Contract is nearly finalized</a:t>
            </a:r>
          </a:p>
          <a:p>
            <a:pPr lvl="1"/>
            <a:r>
              <a:rPr lang="en-US" dirty="0"/>
              <a:t>A and B nearly reach the deal, and present the agreement to their legal departments for a final check-up</a:t>
            </a:r>
          </a:p>
          <a:p>
            <a:r>
              <a:rPr lang="en-US" b="1" dirty="0"/>
              <a:t>One party wishes to break-off negotiations</a:t>
            </a:r>
          </a:p>
          <a:p>
            <a:pPr lvl="1"/>
            <a:r>
              <a:rPr lang="en-US" dirty="0"/>
              <a:t>B found a cheaper price and wishes to stop negotiating</a:t>
            </a:r>
          </a:p>
          <a:p>
            <a:pPr lvl="1"/>
            <a:endParaRPr lang="en-US" dirty="0"/>
          </a:p>
        </p:txBody>
      </p:sp>
      <p:sp>
        <p:nvSpPr>
          <p:cNvPr id="4" name="Rectangle 3">
            <a:extLst>
              <a:ext uri="{FF2B5EF4-FFF2-40B4-BE49-F238E27FC236}">
                <a16:creationId xmlns:a16="http://schemas.microsoft.com/office/drawing/2014/main" id="{A5887AF0-9D4D-4552-AF40-12D8A938DC62}"/>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18566CC4-E936-46C0-BAA2-8A892688C6AC}"/>
              </a:ext>
            </a:extLst>
          </p:cNvPr>
          <p:cNvSpPr/>
          <p:nvPr/>
        </p:nvSpPr>
        <p:spPr>
          <a:xfrm rot="16200000">
            <a:off x="4785414" y="5547413"/>
            <a:ext cx="589173"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B9206181-BE13-4368-87E5-BE81BBB21606}"/>
              </a:ext>
            </a:extLst>
          </p:cNvPr>
          <p:cNvSpPr/>
          <p:nvPr/>
        </p:nvSpPr>
        <p:spPr>
          <a:xfrm rot="16200000">
            <a:off x="6680724" y="5410723"/>
            <a:ext cx="862554"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C61AE4BE-B001-4F3B-8597-6520E4A30B1E}"/>
              </a:ext>
            </a:extLst>
          </p:cNvPr>
          <p:cNvSpPr/>
          <p:nvPr/>
        </p:nvSpPr>
        <p:spPr>
          <a:xfrm rot="16200000">
            <a:off x="8594272" y="5292271"/>
            <a:ext cx="1099457"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C77ED018-52D8-49F4-A948-88DFFADC316C}"/>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374CD945-1D95-4DF1-B452-1814EA343668}"/>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DA0F99DA-4212-43A7-9E4E-9D545F2B1EE1}"/>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6AB59894-3BEB-4822-A772-0C5B345E352C}"/>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BA1100D5-F117-4358-B3A2-7B4C5908991B}"/>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33FC6D46-F147-4FF5-AF22-D3200415EFFD}"/>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D6CE8E52-EB4B-49E8-888D-1112708C0ADE}"/>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033610B5-8A76-44FC-BB9A-FACF447FF9E2}"/>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2656618D-A07F-44CB-9895-1979E5783910}"/>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28F05DC7-F79E-4D4A-92BB-F7B5AD15DB52}"/>
              </a:ext>
            </a:extLst>
          </p:cNvPr>
          <p:cNvCxnSpPr/>
          <p:nvPr/>
        </p:nvCxnSpPr>
        <p:spPr>
          <a:xfrm>
            <a:off x="669303" y="5812915"/>
            <a:ext cx="4402317"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B7A352E-6ADA-4D69-81CC-CDB62B00AFDA}"/>
              </a:ext>
            </a:extLst>
          </p:cNvPr>
          <p:cNvCxnSpPr>
            <a:cxnSpLocks/>
          </p:cNvCxnSpPr>
          <p:nvPr/>
        </p:nvCxnSpPr>
        <p:spPr>
          <a:xfrm>
            <a:off x="5071620" y="5812915"/>
            <a:ext cx="9763" cy="455911"/>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7C71ADA-81AF-408C-9C53-88275FB25B5F}"/>
              </a:ext>
            </a:extLst>
          </p:cNvPr>
          <p:cNvCxnSpPr>
            <a:cxnSpLocks/>
          </p:cNvCxnSpPr>
          <p:nvPr/>
        </p:nvCxnSpPr>
        <p:spPr>
          <a:xfrm>
            <a:off x="669303" y="838986"/>
            <a:ext cx="0" cy="4973929"/>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3933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additive="base">
                                        <p:cTn id="16" dur="500" fill="hold"/>
                                        <p:tgtEl>
                                          <p:spTgt spid="4"/>
                                        </p:tgtEl>
                                        <p:attrNameLst>
                                          <p:attrName>ppt_x</p:attrName>
                                        </p:attrNameLst>
                                      </p:cBhvr>
                                      <p:tavLst>
                                        <p:tav tm="0">
                                          <p:val>
                                            <p:strVal val="#ppt_x"/>
                                          </p:val>
                                        </p:tav>
                                        <p:tav tm="100000">
                                          <p:val>
                                            <p:strVal val="#ppt_x"/>
                                          </p:val>
                                        </p:tav>
                                      </p:tavLst>
                                    </p:anim>
                                    <p:anim calcmode="lin" valueType="num">
                                      <p:cBhvr additive="base">
                                        <p:cTn id="17" dur="500" fill="hold"/>
                                        <p:tgtEl>
                                          <p:spTgt spid="4"/>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additive="base">
                                        <p:cTn id="26" dur="500" fill="hold"/>
                                        <p:tgtEl>
                                          <p:spTgt spid="6"/>
                                        </p:tgtEl>
                                        <p:attrNameLst>
                                          <p:attrName>ppt_x</p:attrName>
                                        </p:attrNameLst>
                                      </p:cBhvr>
                                      <p:tavLst>
                                        <p:tav tm="0">
                                          <p:val>
                                            <p:strVal val="#ppt_x"/>
                                          </p:val>
                                        </p:tav>
                                        <p:tav tm="100000">
                                          <p:val>
                                            <p:strVal val="#ppt_x"/>
                                          </p:val>
                                        </p:tav>
                                      </p:tavLst>
                                    </p:anim>
                                    <p:anim calcmode="lin" valueType="num">
                                      <p:cBhvr additive="base">
                                        <p:cTn id="27" dur="500" fill="hold"/>
                                        <p:tgtEl>
                                          <p:spTgt spid="6"/>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ppt_x"/>
                                          </p:val>
                                        </p:tav>
                                        <p:tav tm="100000">
                                          <p:val>
                                            <p:strVal val="#ppt_x"/>
                                          </p:val>
                                        </p:tav>
                                      </p:tavLst>
                                    </p:anim>
                                    <p:anim calcmode="lin" valueType="num">
                                      <p:cBhvr additive="base">
                                        <p:cTn id="32" dur="500" fill="hold"/>
                                        <p:tgtEl>
                                          <p:spTgt spid="7"/>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ntr" presetSubtype="4" fill="hold" grpId="0" nodeType="after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additive="base">
                                        <p:cTn id="36" dur="500" fill="hold"/>
                                        <p:tgtEl>
                                          <p:spTgt spid="8"/>
                                        </p:tgtEl>
                                        <p:attrNameLst>
                                          <p:attrName>ppt_x</p:attrName>
                                        </p:attrNameLst>
                                      </p:cBhvr>
                                      <p:tavLst>
                                        <p:tav tm="0">
                                          <p:val>
                                            <p:strVal val="#ppt_x"/>
                                          </p:val>
                                        </p:tav>
                                        <p:tav tm="100000">
                                          <p:val>
                                            <p:strVal val="#ppt_x"/>
                                          </p:val>
                                        </p:tav>
                                      </p:tavLst>
                                    </p:anim>
                                    <p:anim calcmode="lin" valueType="num">
                                      <p:cBhvr additive="base">
                                        <p:cTn id="37" dur="500" fill="hold"/>
                                        <p:tgtEl>
                                          <p:spTgt spid="8"/>
                                        </p:tgtEl>
                                        <p:attrNameLst>
                                          <p:attrName>ppt_y</p:attrName>
                                        </p:attrNameLst>
                                      </p:cBhvr>
                                      <p:tavLst>
                                        <p:tav tm="0">
                                          <p:val>
                                            <p:strVal val="1+#ppt_h/2"/>
                                          </p:val>
                                        </p:tav>
                                        <p:tav tm="100000">
                                          <p:val>
                                            <p:strVal val="#ppt_y"/>
                                          </p:val>
                                        </p:tav>
                                      </p:tavLst>
                                    </p:anim>
                                  </p:childTnLst>
                                </p:cTn>
                              </p:par>
                            </p:childTnLst>
                          </p:cTn>
                        </p:par>
                        <p:par>
                          <p:cTn id="38" fill="hold">
                            <p:stCondLst>
                              <p:cond delay="3500"/>
                            </p:stCondLst>
                            <p:childTnLst>
                              <p:par>
                                <p:cTn id="39" presetID="22" presetClass="entr" presetSubtype="4" fill="hold" nodeType="after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wipe(down)">
                                      <p:cBhvr>
                                        <p:cTn id="41" dur="500"/>
                                        <p:tgtEl>
                                          <p:spTgt spid="18"/>
                                        </p:tgtEl>
                                      </p:cBhvr>
                                    </p:animEffect>
                                  </p:childTnLst>
                                </p:cTn>
                              </p:par>
                            </p:childTnLst>
                          </p:cTn>
                        </p:par>
                        <p:par>
                          <p:cTn id="42" fill="hold">
                            <p:stCondLst>
                              <p:cond delay="4000"/>
                            </p:stCondLst>
                            <p:childTnLst>
                              <p:par>
                                <p:cTn id="43" presetID="22" presetClass="entr" presetSubtype="2" fill="hold" nodeType="after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wipe(right)">
                                      <p:cBhvr>
                                        <p:cTn id="45" dur="500"/>
                                        <p:tgtEl>
                                          <p:spTgt spid="17"/>
                                        </p:tgtEl>
                                      </p:cBhvr>
                                    </p:animEffect>
                                  </p:childTnLst>
                                </p:cTn>
                              </p:par>
                            </p:childTnLst>
                          </p:cTn>
                        </p:par>
                        <p:par>
                          <p:cTn id="46" fill="hold">
                            <p:stCondLst>
                              <p:cond delay="4500"/>
                            </p:stCondLst>
                            <p:childTnLst>
                              <p:par>
                                <p:cTn id="47" presetID="22" presetClass="entr" presetSubtype="4" fill="hold" nodeType="after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wipe(down)">
                                      <p:cBhvr>
                                        <p:cTn id="4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7705" y="727495"/>
            <a:ext cx="8652294" cy="1143000"/>
          </a:xfrm>
        </p:spPr>
        <p:txBody>
          <a:bodyPr/>
          <a:lstStyle/>
          <a:p>
            <a:r>
              <a:rPr lang="en-US" dirty="0"/>
              <a:t>Break-off of negotiations</a:t>
            </a:r>
          </a:p>
        </p:txBody>
      </p:sp>
      <p:sp>
        <p:nvSpPr>
          <p:cNvPr id="3" name="Content Placeholder 2"/>
          <p:cNvSpPr>
            <a:spLocks noGrp="1"/>
          </p:cNvSpPr>
          <p:nvPr>
            <p:ph idx="1"/>
          </p:nvPr>
        </p:nvSpPr>
        <p:spPr>
          <a:xfrm>
            <a:off x="1583094" y="2017336"/>
            <a:ext cx="7696200" cy="4114800"/>
          </a:xfrm>
        </p:spPr>
        <p:txBody>
          <a:bodyPr>
            <a:normAutofit/>
          </a:bodyPr>
          <a:lstStyle/>
          <a:p>
            <a:r>
              <a:rPr lang="en-US" sz="2000" dirty="0"/>
              <a:t>Norwegian law</a:t>
            </a:r>
          </a:p>
          <a:p>
            <a:pPr lvl="1"/>
            <a:r>
              <a:rPr lang="en-US" sz="1600" dirty="0"/>
              <a:t>Damages claim</a:t>
            </a:r>
          </a:p>
          <a:p>
            <a:r>
              <a:rPr lang="en-US" sz="2000" dirty="0"/>
              <a:t>German law</a:t>
            </a:r>
          </a:p>
          <a:p>
            <a:pPr lvl="1"/>
            <a:r>
              <a:rPr lang="en-US" sz="1600" dirty="0"/>
              <a:t>Damages claim</a:t>
            </a:r>
          </a:p>
          <a:p>
            <a:r>
              <a:rPr lang="en-US" sz="2000" dirty="0"/>
              <a:t>Italian law</a:t>
            </a:r>
          </a:p>
          <a:p>
            <a:pPr lvl="1"/>
            <a:r>
              <a:rPr lang="en-US" sz="1600" dirty="0"/>
              <a:t>Damages claim</a:t>
            </a:r>
          </a:p>
          <a:p>
            <a:r>
              <a:rPr lang="en-US" sz="2000" dirty="0"/>
              <a:t>English law</a:t>
            </a:r>
          </a:p>
          <a:p>
            <a:pPr lvl="1"/>
            <a:r>
              <a:rPr lang="en-US" sz="1600" dirty="0"/>
              <a:t>No valid claim for damages</a:t>
            </a:r>
          </a:p>
        </p:txBody>
      </p:sp>
      <p:sp>
        <p:nvSpPr>
          <p:cNvPr id="4" name="Rectangle 3">
            <a:extLst>
              <a:ext uri="{FF2B5EF4-FFF2-40B4-BE49-F238E27FC236}">
                <a16:creationId xmlns:a16="http://schemas.microsoft.com/office/drawing/2014/main" id="{C6B3E640-A228-40DE-866E-B7B2A6C4ACBA}"/>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9D25B0F3-1FEE-46EE-8278-1D87BB3B7DE7}"/>
              </a:ext>
            </a:extLst>
          </p:cNvPr>
          <p:cNvSpPr/>
          <p:nvPr/>
        </p:nvSpPr>
        <p:spPr>
          <a:xfrm rot="16200000">
            <a:off x="4785414" y="5547413"/>
            <a:ext cx="589173"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6C8BA62A-DB9D-4160-8C4E-929B21D5D59E}"/>
              </a:ext>
            </a:extLst>
          </p:cNvPr>
          <p:cNvSpPr/>
          <p:nvPr/>
        </p:nvSpPr>
        <p:spPr>
          <a:xfrm rot="16200000">
            <a:off x="6680724" y="5410723"/>
            <a:ext cx="862554"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C9953A8F-40E7-492F-8B12-5F7A0AAD1AB2}"/>
              </a:ext>
            </a:extLst>
          </p:cNvPr>
          <p:cNvSpPr/>
          <p:nvPr/>
        </p:nvSpPr>
        <p:spPr>
          <a:xfrm rot="16200000">
            <a:off x="8594272" y="5292271"/>
            <a:ext cx="1099457"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80EB5346-D18B-4C44-9398-3A71EA1EB0C2}"/>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D6463968-E9DE-4930-9872-3EB8765EBFF6}"/>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0875BBAD-60CD-453F-9EE6-0801B388141E}"/>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D083AEE4-588F-4450-8FA5-CE0272BFCDDD}"/>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B4DBC993-241A-4156-93DB-149012AB4E90}"/>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3DBF0DC0-272F-400B-BF7C-3D4B7CB23D89}"/>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D9E8A712-A9AA-4787-A746-0F60FEFD9B32}"/>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3B853F99-2BE8-4B09-B469-8A59FC61D0C0}"/>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EA89F08B-E990-41C7-A8B8-11CD8629AAF9}"/>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6EE26CBB-D12C-48AF-928E-B49F540DF458}"/>
              </a:ext>
            </a:extLst>
          </p:cNvPr>
          <p:cNvCxnSpPr/>
          <p:nvPr/>
        </p:nvCxnSpPr>
        <p:spPr>
          <a:xfrm>
            <a:off x="669303" y="5812915"/>
            <a:ext cx="4402317"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C9BA3FD-041F-41A4-8715-D3C25F73B828}"/>
              </a:ext>
            </a:extLst>
          </p:cNvPr>
          <p:cNvCxnSpPr>
            <a:cxnSpLocks/>
          </p:cNvCxnSpPr>
          <p:nvPr/>
        </p:nvCxnSpPr>
        <p:spPr>
          <a:xfrm>
            <a:off x="5071620" y="5812915"/>
            <a:ext cx="9763" cy="455911"/>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37F93B4-0B0B-4585-8683-0D845246DC20}"/>
              </a:ext>
            </a:extLst>
          </p:cNvPr>
          <p:cNvCxnSpPr>
            <a:cxnSpLocks/>
          </p:cNvCxnSpPr>
          <p:nvPr/>
        </p:nvCxnSpPr>
        <p:spPr>
          <a:xfrm>
            <a:off x="669303" y="838986"/>
            <a:ext cx="0" cy="4973929"/>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66909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additive="base">
                                        <p:cTn id="16" dur="500" fill="hold"/>
                                        <p:tgtEl>
                                          <p:spTgt spid="4"/>
                                        </p:tgtEl>
                                        <p:attrNameLst>
                                          <p:attrName>ppt_x</p:attrName>
                                        </p:attrNameLst>
                                      </p:cBhvr>
                                      <p:tavLst>
                                        <p:tav tm="0">
                                          <p:val>
                                            <p:strVal val="#ppt_x"/>
                                          </p:val>
                                        </p:tav>
                                        <p:tav tm="100000">
                                          <p:val>
                                            <p:strVal val="#ppt_x"/>
                                          </p:val>
                                        </p:tav>
                                      </p:tavLst>
                                    </p:anim>
                                    <p:anim calcmode="lin" valueType="num">
                                      <p:cBhvr additive="base">
                                        <p:cTn id="17" dur="500" fill="hold"/>
                                        <p:tgtEl>
                                          <p:spTgt spid="4"/>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additive="base">
                                        <p:cTn id="26" dur="500" fill="hold"/>
                                        <p:tgtEl>
                                          <p:spTgt spid="6"/>
                                        </p:tgtEl>
                                        <p:attrNameLst>
                                          <p:attrName>ppt_x</p:attrName>
                                        </p:attrNameLst>
                                      </p:cBhvr>
                                      <p:tavLst>
                                        <p:tav tm="0">
                                          <p:val>
                                            <p:strVal val="#ppt_x"/>
                                          </p:val>
                                        </p:tav>
                                        <p:tav tm="100000">
                                          <p:val>
                                            <p:strVal val="#ppt_x"/>
                                          </p:val>
                                        </p:tav>
                                      </p:tavLst>
                                    </p:anim>
                                    <p:anim calcmode="lin" valueType="num">
                                      <p:cBhvr additive="base">
                                        <p:cTn id="27" dur="500" fill="hold"/>
                                        <p:tgtEl>
                                          <p:spTgt spid="6"/>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ppt_x"/>
                                          </p:val>
                                        </p:tav>
                                        <p:tav tm="100000">
                                          <p:val>
                                            <p:strVal val="#ppt_x"/>
                                          </p:val>
                                        </p:tav>
                                      </p:tavLst>
                                    </p:anim>
                                    <p:anim calcmode="lin" valueType="num">
                                      <p:cBhvr additive="base">
                                        <p:cTn id="32" dur="500" fill="hold"/>
                                        <p:tgtEl>
                                          <p:spTgt spid="7"/>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ntr" presetSubtype="4" fill="hold" grpId="0" nodeType="after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additive="base">
                                        <p:cTn id="36" dur="500" fill="hold"/>
                                        <p:tgtEl>
                                          <p:spTgt spid="8"/>
                                        </p:tgtEl>
                                        <p:attrNameLst>
                                          <p:attrName>ppt_x</p:attrName>
                                        </p:attrNameLst>
                                      </p:cBhvr>
                                      <p:tavLst>
                                        <p:tav tm="0">
                                          <p:val>
                                            <p:strVal val="#ppt_x"/>
                                          </p:val>
                                        </p:tav>
                                        <p:tav tm="100000">
                                          <p:val>
                                            <p:strVal val="#ppt_x"/>
                                          </p:val>
                                        </p:tav>
                                      </p:tavLst>
                                    </p:anim>
                                    <p:anim calcmode="lin" valueType="num">
                                      <p:cBhvr additive="base">
                                        <p:cTn id="37" dur="500" fill="hold"/>
                                        <p:tgtEl>
                                          <p:spTgt spid="8"/>
                                        </p:tgtEl>
                                        <p:attrNameLst>
                                          <p:attrName>ppt_y</p:attrName>
                                        </p:attrNameLst>
                                      </p:cBhvr>
                                      <p:tavLst>
                                        <p:tav tm="0">
                                          <p:val>
                                            <p:strVal val="1+#ppt_h/2"/>
                                          </p:val>
                                        </p:tav>
                                        <p:tav tm="100000">
                                          <p:val>
                                            <p:strVal val="#ppt_y"/>
                                          </p:val>
                                        </p:tav>
                                      </p:tavLst>
                                    </p:anim>
                                  </p:childTnLst>
                                </p:cTn>
                              </p:par>
                            </p:childTnLst>
                          </p:cTn>
                        </p:par>
                        <p:par>
                          <p:cTn id="38" fill="hold">
                            <p:stCondLst>
                              <p:cond delay="3500"/>
                            </p:stCondLst>
                            <p:childTnLst>
                              <p:par>
                                <p:cTn id="39" presetID="22" presetClass="entr" presetSubtype="4" fill="hold" nodeType="after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wipe(down)">
                                      <p:cBhvr>
                                        <p:cTn id="41" dur="500"/>
                                        <p:tgtEl>
                                          <p:spTgt spid="18"/>
                                        </p:tgtEl>
                                      </p:cBhvr>
                                    </p:animEffect>
                                  </p:childTnLst>
                                </p:cTn>
                              </p:par>
                            </p:childTnLst>
                          </p:cTn>
                        </p:par>
                        <p:par>
                          <p:cTn id="42" fill="hold">
                            <p:stCondLst>
                              <p:cond delay="4000"/>
                            </p:stCondLst>
                            <p:childTnLst>
                              <p:par>
                                <p:cTn id="43" presetID="22" presetClass="entr" presetSubtype="2" fill="hold" nodeType="after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wipe(right)">
                                      <p:cBhvr>
                                        <p:cTn id="45" dur="500"/>
                                        <p:tgtEl>
                                          <p:spTgt spid="17"/>
                                        </p:tgtEl>
                                      </p:cBhvr>
                                    </p:animEffect>
                                  </p:childTnLst>
                                </p:cTn>
                              </p:par>
                            </p:childTnLst>
                          </p:cTn>
                        </p:par>
                        <p:par>
                          <p:cTn id="46" fill="hold">
                            <p:stCondLst>
                              <p:cond delay="4500"/>
                            </p:stCondLst>
                            <p:childTnLst>
                              <p:par>
                                <p:cTn id="47" presetID="22" presetClass="entr" presetSubtype="4" fill="hold" nodeType="after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wipe(down)">
                                      <p:cBhvr>
                                        <p:cTn id="4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Box 23"/>
          <p:cNvSpPr txBox="1"/>
          <p:nvPr/>
        </p:nvSpPr>
        <p:spPr>
          <a:xfrm>
            <a:off x="2775558" y="2556509"/>
            <a:ext cx="7324441" cy="769441"/>
          </a:xfrm>
          <a:prstGeom prst="rect">
            <a:avLst/>
          </a:prstGeom>
          <a:noFill/>
        </p:spPr>
        <p:txBody>
          <a:bodyPr wrap="none" rtlCol="0">
            <a:spAutoFit/>
          </a:bodyPr>
          <a:lstStyle/>
          <a:p>
            <a:r>
              <a:rPr lang="en-US" sz="4400" dirty="0">
                <a:solidFill>
                  <a:schemeClr val="bg1">
                    <a:lumMod val="50000"/>
                  </a:schemeClr>
                </a:solidFill>
                <a:latin typeface="+mj-lt"/>
                <a:ea typeface="Open Sans" panose="020B0606030504020204" pitchFamily="34" charset="0"/>
                <a:cs typeface="Open Sans" panose="020B0606030504020204" pitchFamily="34" charset="0"/>
              </a:rPr>
              <a:t>Reasonableness and good faith</a:t>
            </a:r>
          </a:p>
        </p:txBody>
      </p:sp>
      <p:sp>
        <p:nvSpPr>
          <p:cNvPr id="3" name="Rectangle 2"/>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5" name="Rectangle 44"/>
          <p:cNvSpPr/>
          <p:nvPr/>
        </p:nvSpPr>
        <p:spPr>
          <a:xfrm rot="16200000">
            <a:off x="4785414" y="5547413"/>
            <a:ext cx="589173"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6" name="Rectangle 45"/>
          <p:cNvSpPr/>
          <p:nvPr/>
        </p:nvSpPr>
        <p:spPr>
          <a:xfrm rot="16200000">
            <a:off x="6680724" y="5410723"/>
            <a:ext cx="862554"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7" name="Rectangle 46"/>
          <p:cNvSpPr/>
          <p:nvPr/>
        </p:nvSpPr>
        <p:spPr>
          <a:xfrm rot="16200000">
            <a:off x="8594272" y="5292271"/>
            <a:ext cx="1099457"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8" name="Rectangle 47"/>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9" name="Rectangle 48"/>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6" name="Group 5"/>
          <p:cNvGrpSpPr/>
          <p:nvPr/>
        </p:nvGrpSpPr>
        <p:grpSpPr>
          <a:xfrm>
            <a:off x="2" y="6736617"/>
            <a:ext cx="12191999" cy="134339"/>
            <a:chOff x="2" y="2110197"/>
            <a:chExt cx="12191999" cy="134339"/>
          </a:xfrm>
        </p:grpSpPr>
        <p:sp>
          <p:nvSpPr>
            <p:cNvPr id="51" name="Rectangle 50"/>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2" name="Rectangle 51"/>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3" name="Rectangle 52"/>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4" name="Rectangle 53"/>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5" name="Rectangle 54"/>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6" name="Rectangle 55"/>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76" name="Straight Connector 75"/>
          <p:cNvCxnSpPr/>
          <p:nvPr/>
        </p:nvCxnSpPr>
        <p:spPr>
          <a:xfrm>
            <a:off x="669303" y="5812915"/>
            <a:ext cx="4402317"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a:cxnSpLocks/>
          </p:cNvCxnSpPr>
          <p:nvPr/>
        </p:nvCxnSpPr>
        <p:spPr>
          <a:xfrm>
            <a:off x="5071620" y="5812915"/>
            <a:ext cx="9763" cy="455911"/>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a:cxnSpLocks/>
          </p:cNvCxnSpPr>
          <p:nvPr/>
        </p:nvCxnSpPr>
        <p:spPr>
          <a:xfrm>
            <a:off x="669303" y="838986"/>
            <a:ext cx="0" cy="4973929"/>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54807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49"/>
                                        </p:tgtEl>
                                        <p:attrNameLst>
                                          <p:attrName>style.visibility</p:attrName>
                                        </p:attrNameLst>
                                      </p:cBhvr>
                                      <p:to>
                                        <p:strVal val="visible"/>
                                      </p:to>
                                    </p:set>
                                    <p:anim calcmode="lin" valueType="num">
                                      <p:cBhvr additive="base">
                                        <p:cTn id="11" dur="500" fill="hold"/>
                                        <p:tgtEl>
                                          <p:spTgt spid="49"/>
                                        </p:tgtEl>
                                        <p:attrNameLst>
                                          <p:attrName>ppt_x</p:attrName>
                                        </p:attrNameLst>
                                      </p:cBhvr>
                                      <p:tavLst>
                                        <p:tav tm="0">
                                          <p:val>
                                            <p:strVal val="#ppt_x"/>
                                          </p:val>
                                        </p:tav>
                                        <p:tav tm="100000">
                                          <p:val>
                                            <p:strVal val="#ppt_x"/>
                                          </p:val>
                                        </p:tav>
                                      </p:tavLst>
                                    </p:anim>
                                    <p:anim calcmode="lin" valueType="num">
                                      <p:cBhvr additive="base">
                                        <p:cTn id="12" dur="500" fill="hold"/>
                                        <p:tgtEl>
                                          <p:spTgt spid="49"/>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3"/>
                                        </p:tgtEl>
                                        <p:attrNameLst>
                                          <p:attrName>style.visibility</p:attrName>
                                        </p:attrNameLst>
                                      </p:cBhvr>
                                      <p:to>
                                        <p:strVal val="visible"/>
                                      </p:to>
                                    </p:set>
                                    <p:anim calcmode="lin" valueType="num">
                                      <p:cBhvr additive="base">
                                        <p:cTn id="16" dur="500" fill="hold"/>
                                        <p:tgtEl>
                                          <p:spTgt spid="3"/>
                                        </p:tgtEl>
                                        <p:attrNameLst>
                                          <p:attrName>ppt_x</p:attrName>
                                        </p:attrNameLst>
                                      </p:cBhvr>
                                      <p:tavLst>
                                        <p:tav tm="0">
                                          <p:val>
                                            <p:strVal val="#ppt_x"/>
                                          </p:val>
                                        </p:tav>
                                        <p:tav tm="100000">
                                          <p:val>
                                            <p:strVal val="#ppt_x"/>
                                          </p:val>
                                        </p:tav>
                                      </p:tavLst>
                                    </p:anim>
                                    <p:anim calcmode="lin" valueType="num">
                                      <p:cBhvr additive="base">
                                        <p:cTn id="17" dur="500" fill="hold"/>
                                        <p:tgtEl>
                                          <p:spTgt spid="3"/>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45"/>
                                        </p:tgtEl>
                                        <p:attrNameLst>
                                          <p:attrName>style.visibility</p:attrName>
                                        </p:attrNameLst>
                                      </p:cBhvr>
                                      <p:to>
                                        <p:strVal val="visible"/>
                                      </p:to>
                                    </p:set>
                                    <p:anim calcmode="lin" valueType="num">
                                      <p:cBhvr additive="base">
                                        <p:cTn id="21" dur="500" fill="hold"/>
                                        <p:tgtEl>
                                          <p:spTgt spid="45"/>
                                        </p:tgtEl>
                                        <p:attrNameLst>
                                          <p:attrName>ppt_x</p:attrName>
                                        </p:attrNameLst>
                                      </p:cBhvr>
                                      <p:tavLst>
                                        <p:tav tm="0">
                                          <p:val>
                                            <p:strVal val="#ppt_x"/>
                                          </p:val>
                                        </p:tav>
                                        <p:tav tm="100000">
                                          <p:val>
                                            <p:strVal val="#ppt_x"/>
                                          </p:val>
                                        </p:tav>
                                      </p:tavLst>
                                    </p:anim>
                                    <p:anim calcmode="lin" valueType="num">
                                      <p:cBhvr additive="base">
                                        <p:cTn id="22" dur="500" fill="hold"/>
                                        <p:tgtEl>
                                          <p:spTgt spid="45"/>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46"/>
                                        </p:tgtEl>
                                        <p:attrNameLst>
                                          <p:attrName>style.visibility</p:attrName>
                                        </p:attrNameLst>
                                      </p:cBhvr>
                                      <p:to>
                                        <p:strVal val="visible"/>
                                      </p:to>
                                    </p:set>
                                    <p:anim calcmode="lin" valueType="num">
                                      <p:cBhvr additive="base">
                                        <p:cTn id="26" dur="500" fill="hold"/>
                                        <p:tgtEl>
                                          <p:spTgt spid="46"/>
                                        </p:tgtEl>
                                        <p:attrNameLst>
                                          <p:attrName>ppt_x</p:attrName>
                                        </p:attrNameLst>
                                      </p:cBhvr>
                                      <p:tavLst>
                                        <p:tav tm="0">
                                          <p:val>
                                            <p:strVal val="#ppt_x"/>
                                          </p:val>
                                        </p:tav>
                                        <p:tav tm="100000">
                                          <p:val>
                                            <p:strVal val="#ppt_x"/>
                                          </p:val>
                                        </p:tav>
                                      </p:tavLst>
                                    </p:anim>
                                    <p:anim calcmode="lin" valueType="num">
                                      <p:cBhvr additive="base">
                                        <p:cTn id="27" dur="500" fill="hold"/>
                                        <p:tgtEl>
                                          <p:spTgt spid="46"/>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47"/>
                                        </p:tgtEl>
                                        <p:attrNameLst>
                                          <p:attrName>style.visibility</p:attrName>
                                        </p:attrNameLst>
                                      </p:cBhvr>
                                      <p:to>
                                        <p:strVal val="visible"/>
                                      </p:to>
                                    </p:set>
                                    <p:anim calcmode="lin" valueType="num">
                                      <p:cBhvr additive="base">
                                        <p:cTn id="31" dur="500" fill="hold"/>
                                        <p:tgtEl>
                                          <p:spTgt spid="47"/>
                                        </p:tgtEl>
                                        <p:attrNameLst>
                                          <p:attrName>ppt_x</p:attrName>
                                        </p:attrNameLst>
                                      </p:cBhvr>
                                      <p:tavLst>
                                        <p:tav tm="0">
                                          <p:val>
                                            <p:strVal val="#ppt_x"/>
                                          </p:val>
                                        </p:tav>
                                        <p:tav tm="100000">
                                          <p:val>
                                            <p:strVal val="#ppt_x"/>
                                          </p:val>
                                        </p:tav>
                                      </p:tavLst>
                                    </p:anim>
                                    <p:anim calcmode="lin" valueType="num">
                                      <p:cBhvr additive="base">
                                        <p:cTn id="32" dur="500" fill="hold"/>
                                        <p:tgtEl>
                                          <p:spTgt spid="47"/>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ntr" presetSubtype="4" fill="hold" grpId="0" nodeType="afterEffect">
                                  <p:stCondLst>
                                    <p:cond delay="0"/>
                                  </p:stCondLst>
                                  <p:childTnLst>
                                    <p:set>
                                      <p:cBhvr>
                                        <p:cTn id="35" dur="1" fill="hold">
                                          <p:stCondLst>
                                            <p:cond delay="0"/>
                                          </p:stCondLst>
                                        </p:cTn>
                                        <p:tgtEl>
                                          <p:spTgt spid="48"/>
                                        </p:tgtEl>
                                        <p:attrNameLst>
                                          <p:attrName>style.visibility</p:attrName>
                                        </p:attrNameLst>
                                      </p:cBhvr>
                                      <p:to>
                                        <p:strVal val="visible"/>
                                      </p:to>
                                    </p:set>
                                    <p:anim calcmode="lin" valueType="num">
                                      <p:cBhvr additive="base">
                                        <p:cTn id="36" dur="500" fill="hold"/>
                                        <p:tgtEl>
                                          <p:spTgt spid="48"/>
                                        </p:tgtEl>
                                        <p:attrNameLst>
                                          <p:attrName>ppt_x</p:attrName>
                                        </p:attrNameLst>
                                      </p:cBhvr>
                                      <p:tavLst>
                                        <p:tav tm="0">
                                          <p:val>
                                            <p:strVal val="#ppt_x"/>
                                          </p:val>
                                        </p:tav>
                                        <p:tav tm="100000">
                                          <p:val>
                                            <p:strVal val="#ppt_x"/>
                                          </p:val>
                                        </p:tav>
                                      </p:tavLst>
                                    </p:anim>
                                    <p:anim calcmode="lin" valueType="num">
                                      <p:cBhvr additive="base">
                                        <p:cTn id="37" dur="500" fill="hold"/>
                                        <p:tgtEl>
                                          <p:spTgt spid="48"/>
                                        </p:tgtEl>
                                        <p:attrNameLst>
                                          <p:attrName>ppt_y</p:attrName>
                                        </p:attrNameLst>
                                      </p:cBhvr>
                                      <p:tavLst>
                                        <p:tav tm="0">
                                          <p:val>
                                            <p:strVal val="1+#ppt_h/2"/>
                                          </p:val>
                                        </p:tav>
                                        <p:tav tm="100000">
                                          <p:val>
                                            <p:strVal val="#ppt_y"/>
                                          </p:val>
                                        </p:tav>
                                      </p:tavLst>
                                    </p:anim>
                                  </p:childTnLst>
                                </p:cTn>
                              </p:par>
                            </p:childTnLst>
                          </p:cTn>
                        </p:par>
                        <p:par>
                          <p:cTn id="38" fill="hold">
                            <p:stCondLst>
                              <p:cond delay="3500"/>
                            </p:stCondLst>
                            <p:childTnLst>
                              <p:par>
                                <p:cTn id="39" presetID="22" presetClass="entr" presetSubtype="4" fill="hold" nodeType="afterEffect">
                                  <p:stCondLst>
                                    <p:cond delay="0"/>
                                  </p:stCondLst>
                                  <p:childTnLst>
                                    <p:set>
                                      <p:cBhvr>
                                        <p:cTn id="40" dur="1" fill="hold">
                                          <p:stCondLst>
                                            <p:cond delay="0"/>
                                          </p:stCondLst>
                                        </p:cTn>
                                        <p:tgtEl>
                                          <p:spTgt spid="78"/>
                                        </p:tgtEl>
                                        <p:attrNameLst>
                                          <p:attrName>style.visibility</p:attrName>
                                        </p:attrNameLst>
                                      </p:cBhvr>
                                      <p:to>
                                        <p:strVal val="visible"/>
                                      </p:to>
                                    </p:set>
                                    <p:animEffect transition="in" filter="wipe(down)">
                                      <p:cBhvr>
                                        <p:cTn id="41" dur="500"/>
                                        <p:tgtEl>
                                          <p:spTgt spid="78"/>
                                        </p:tgtEl>
                                      </p:cBhvr>
                                    </p:animEffect>
                                  </p:childTnLst>
                                </p:cTn>
                              </p:par>
                            </p:childTnLst>
                          </p:cTn>
                        </p:par>
                        <p:par>
                          <p:cTn id="42" fill="hold">
                            <p:stCondLst>
                              <p:cond delay="4000"/>
                            </p:stCondLst>
                            <p:childTnLst>
                              <p:par>
                                <p:cTn id="43" presetID="22" presetClass="entr" presetSubtype="2" fill="hold" nodeType="afterEffect">
                                  <p:stCondLst>
                                    <p:cond delay="0"/>
                                  </p:stCondLst>
                                  <p:childTnLst>
                                    <p:set>
                                      <p:cBhvr>
                                        <p:cTn id="44" dur="1" fill="hold">
                                          <p:stCondLst>
                                            <p:cond delay="0"/>
                                          </p:stCondLst>
                                        </p:cTn>
                                        <p:tgtEl>
                                          <p:spTgt spid="76"/>
                                        </p:tgtEl>
                                        <p:attrNameLst>
                                          <p:attrName>style.visibility</p:attrName>
                                        </p:attrNameLst>
                                      </p:cBhvr>
                                      <p:to>
                                        <p:strVal val="visible"/>
                                      </p:to>
                                    </p:set>
                                    <p:animEffect transition="in" filter="wipe(right)">
                                      <p:cBhvr>
                                        <p:cTn id="45" dur="500"/>
                                        <p:tgtEl>
                                          <p:spTgt spid="76"/>
                                        </p:tgtEl>
                                      </p:cBhvr>
                                    </p:animEffect>
                                  </p:childTnLst>
                                </p:cTn>
                              </p:par>
                            </p:childTnLst>
                          </p:cTn>
                        </p:par>
                        <p:par>
                          <p:cTn id="46" fill="hold">
                            <p:stCondLst>
                              <p:cond delay="4500"/>
                            </p:stCondLst>
                            <p:childTnLst>
                              <p:par>
                                <p:cTn id="47" presetID="22" presetClass="entr" presetSubtype="4" fill="hold" nodeType="afterEffect">
                                  <p:stCondLst>
                                    <p:cond delay="0"/>
                                  </p:stCondLst>
                                  <p:childTnLst>
                                    <p:set>
                                      <p:cBhvr>
                                        <p:cTn id="48" dur="1" fill="hold">
                                          <p:stCondLst>
                                            <p:cond delay="0"/>
                                          </p:stCondLst>
                                        </p:cTn>
                                        <p:tgtEl>
                                          <p:spTgt spid="81"/>
                                        </p:tgtEl>
                                        <p:attrNameLst>
                                          <p:attrName>style.visibility</p:attrName>
                                        </p:attrNameLst>
                                      </p:cBhvr>
                                      <p:to>
                                        <p:strVal val="visible"/>
                                      </p:to>
                                    </p:set>
                                    <p:animEffect transition="in" filter="wipe(down)">
                                      <p:cBhvr>
                                        <p:cTn id="49" dur="500"/>
                                        <p:tgtEl>
                                          <p:spTgt spid="81"/>
                                        </p:tgtEl>
                                      </p:cBhvr>
                                    </p:animEffect>
                                  </p:childTnLst>
                                </p:cTn>
                              </p:par>
                            </p:childTnLst>
                          </p:cTn>
                        </p:par>
                        <p:par>
                          <p:cTn id="50" fill="hold">
                            <p:stCondLst>
                              <p:cond delay="5000"/>
                            </p:stCondLst>
                            <p:childTnLst>
                              <p:par>
                                <p:cTn id="51" presetID="10" presetClass="entr" presetSubtype="0" fill="hold" grpId="0" nodeType="afterEffect">
                                  <p:stCondLst>
                                    <p:cond delay="0"/>
                                  </p:stCondLst>
                                  <p:childTnLst>
                                    <p:set>
                                      <p:cBhvr>
                                        <p:cTn id="52" dur="1" fill="hold">
                                          <p:stCondLst>
                                            <p:cond delay="0"/>
                                          </p:stCondLst>
                                        </p:cTn>
                                        <p:tgtEl>
                                          <p:spTgt spid="24"/>
                                        </p:tgtEl>
                                        <p:attrNameLst>
                                          <p:attrName>style.visibility</p:attrName>
                                        </p:attrNameLst>
                                      </p:cBhvr>
                                      <p:to>
                                        <p:strVal val="visible"/>
                                      </p:to>
                                    </p:set>
                                    <p:animEffect transition="in" filter="fade">
                                      <p:cBhvr>
                                        <p:cTn id="53"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3" grpId="0" animBg="1"/>
      <p:bldP spid="45" grpId="0" animBg="1"/>
      <p:bldP spid="46" grpId="0" animBg="1"/>
      <p:bldP spid="47" grpId="0" animBg="1"/>
      <p:bldP spid="48" grpId="0" animBg="1"/>
      <p:bldP spid="49"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3408" y="610581"/>
            <a:ext cx="9754942" cy="1143000"/>
          </a:xfrm>
        </p:spPr>
        <p:txBody>
          <a:bodyPr>
            <a:normAutofit fontScale="90000"/>
          </a:bodyPr>
          <a:lstStyle/>
          <a:p>
            <a:r>
              <a:rPr lang="en-US" dirty="0"/>
              <a:t>Concepts of reasonableness and good faith</a:t>
            </a:r>
          </a:p>
        </p:txBody>
      </p:sp>
      <p:sp>
        <p:nvSpPr>
          <p:cNvPr id="3" name="Content Placeholder 2"/>
          <p:cNvSpPr>
            <a:spLocks noGrp="1"/>
          </p:cNvSpPr>
          <p:nvPr>
            <p:ph idx="1"/>
          </p:nvPr>
        </p:nvSpPr>
        <p:spPr>
          <a:xfrm>
            <a:off x="924538" y="2336320"/>
            <a:ext cx="10515600" cy="4351338"/>
          </a:xfrm>
        </p:spPr>
        <p:txBody>
          <a:bodyPr/>
          <a:lstStyle/>
          <a:p>
            <a:r>
              <a:rPr lang="en-US" b="1" dirty="0"/>
              <a:t>Reasonableness</a:t>
            </a:r>
            <a:r>
              <a:rPr lang="en-US" dirty="0"/>
              <a:t>: how much discretion does the interpreter have to control and correct the content of the contract on the basis of reasonableness?</a:t>
            </a:r>
          </a:p>
          <a:p>
            <a:r>
              <a:rPr lang="en-US" b="1" dirty="0"/>
              <a:t>Good faith</a:t>
            </a:r>
            <a:r>
              <a:rPr lang="en-US" dirty="0"/>
              <a:t>: sets standard for the conduct of the parties (during the pre-contractual phase and the phase of performance of the contract)</a:t>
            </a:r>
          </a:p>
          <a:p>
            <a:pPr marL="0" indent="0">
              <a:buNone/>
            </a:pPr>
            <a:endParaRPr lang="en-US" dirty="0"/>
          </a:p>
        </p:txBody>
      </p:sp>
      <p:sp>
        <p:nvSpPr>
          <p:cNvPr id="4" name="Rectangle 3">
            <a:extLst>
              <a:ext uri="{FF2B5EF4-FFF2-40B4-BE49-F238E27FC236}">
                <a16:creationId xmlns:a16="http://schemas.microsoft.com/office/drawing/2014/main" id="{8353406B-9827-44CB-8FF6-3FADB6C7A708}"/>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23DF1AC0-37CA-44B4-876D-0D53E8E34D21}"/>
              </a:ext>
            </a:extLst>
          </p:cNvPr>
          <p:cNvSpPr/>
          <p:nvPr/>
        </p:nvSpPr>
        <p:spPr>
          <a:xfrm rot="16200000">
            <a:off x="4785414" y="5547413"/>
            <a:ext cx="589173"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3DF569C1-B5E5-4320-A14F-CB158E315FBB}"/>
              </a:ext>
            </a:extLst>
          </p:cNvPr>
          <p:cNvSpPr/>
          <p:nvPr/>
        </p:nvSpPr>
        <p:spPr>
          <a:xfrm rot="16200000">
            <a:off x="6680724" y="5410723"/>
            <a:ext cx="862554"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B3020338-F969-44CC-B4C8-61F7C4CAA763}"/>
              </a:ext>
            </a:extLst>
          </p:cNvPr>
          <p:cNvSpPr/>
          <p:nvPr/>
        </p:nvSpPr>
        <p:spPr>
          <a:xfrm rot="16200000">
            <a:off x="8594272" y="5292271"/>
            <a:ext cx="1099457"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847BFE3C-C8B1-44BF-BC3A-1F571C06457B}"/>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1536F048-D65F-4F78-8D91-46249FC96B32}"/>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8D984A55-C6FE-4C3D-8D07-2150E450D033}"/>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E105540E-B7E2-4F88-A177-067D52A2B8CF}"/>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2CB20679-6DE5-49EF-9B54-DE82D066AB21}"/>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D07D25D8-D79B-4D55-AF26-01A17EC5FCF9}"/>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87BBA3D3-48C9-498F-9C58-5CDFD44DB04B}"/>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48B935DC-A948-42EB-98AF-F77A714868CB}"/>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49D30A1B-5396-4669-BA68-C174ECC99881}"/>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0F9DDC48-6714-41DD-A478-7F4828915FE2}"/>
              </a:ext>
            </a:extLst>
          </p:cNvPr>
          <p:cNvCxnSpPr/>
          <p:nvPr/>
        </p:nvCxnSpPr>
        <p:spPr>
          <a:xfrm>
            <a:off x="669303" y="5812915"/>
            <a:ext cx="4402317"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81A34BC0-F60B-49B7-8953-4A0ECB9BC645}"/>
              </a:ext>
            </a:extLst>
          </p:cNvPr>
          <p:cNvCxnSpPr>
            <a:cxnSpLocks/>
          </p:cNvCxnSpPr>
          <p:nvPr/>
        </p:nvCxnSpPr>
        <p:spPr>
          <a:xfrm>
            <a:off x="5071620" y="5812915"/>
            <a:ext cx="9763" cy="455911"/>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505FE50-2EA6-452C-A9F1-17547EB8A294}"/>
              </a:ext>
            </a:extLst>
          </p:cNvPr>
          <p:cNvCxnSpPr>
            <a:cxnSpLocks/>
          </p:cNvCxnSpPr>
          <p:nvPr/>
        </p:nvCxnSpPr>
        <p:spPr>
          <a:xfrm>
            <a:off x="669303" y="838986"/>
            <a:ext cx="0" cy="4973929"/>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67448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additive="base">
                                        <p:cTn id="16" dur="500" fill="hold"/>
                                        <p:tgtEl>
                                          <p:spTgt spid="4"/>
                                        </p:tgtEl>
                                        <p:attrNameLst>
                                          <p:attrName>ppt_x</p:attrName>
                                        </p:attrNameLst>
                                      </p:cBhvr>
                                      <p:tavLst>
                                        <p:tav tm="0">
                                          <p:val>
                                            <p:strVal val="#ppt_x"/>
                                          </p:val>
                                        </p:tav>
                                        <p:tav tm="100000">
                                          <p:val>
                                            <p:strVal val="#ppt_x"/>
                                          </p:val>
                                        </p:tav>
                                      </p:tavLst>
                                    </p:anim>
                                    <p:anim calcmode="lin" valueType="num">
                                      <p:cBhvr additive="base">
                                        <p:cTn id="17" dur="500" fill="hold"/>
                                        <p:tgtEl>
                                          <p:spTgt spid="4"/>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additive="base">
                                        <p:cTn id="26" dur="500" fill="hold"/>
                                        <p:tgtEl>
                                          <p:spTgt spid="6"/>
                                        </p:tgtEl>
                                        <p:attrNameLst>
                                          <p:attrName>ppt_x</p:attrName>
                                        </p:attrNameLst>
                                      </p:cBhvr>
                                      <p:tavLst>
                                        <p:tav tm="0">
                                          <p:val>
                                            <p:strVal val="#ppt_x"/>
                                          </p:val>
                                        </p:tav>
                                        <p:tav tm="100000">
                                          <p:val>
                                            <p:strVal val="#ppt_x"/>
                                          </p:val>
                                        </p:tav>
                                      </p:tavLst>
                                    </p:anim>
                                    <p:anim calcmode="lin" valueType="num">
                                      <p:cBhvr additive="base">
                                        <p:cTn id="27" dur="500" fill="hold"/>
                                        <p:tgtEl>
                                          <p:spTgt spid="6"/>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ppt_x"/>
                                          </p:val>
                                        </p:tav>
                                        <p:tav tm="100000">
                                          <p:val>
                                            <p:strVal val="#ppt_x"/>
                                          </p:val>
                                        </p:tav>
                                      </p:tavLst>
                                    </p:anim>
                                    <p:anim calcmode="lin" valueType="num">
                                      <p:cBhvr additive="base">
                                        <p:cTn id="32" dur="500" fill="hold"/>
                                        <p:tgtEl>
                                          <p:spTgt spid="7"/>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ntr" presetSubtype="4" fill="hold" grpId="0" nodeType="after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additive="base">
                                        <p:cTn id="36" dur="500" fill="hold"/>
                                        <p:tgtEl>
                                          <p:spTgt spid="8"/>
                                        </p:tgtEl>
                                        <p:attrNameLst>
                                          <p:attrName>ppt_x</p:attrName>
                                        </p:attrNameLst>
                                      </p:cBhvr>
                                      <p:tavLst>
                                        <p:tav tm="0">
                                          <p:val>
                                            <p:strVal val="#ppt_x"/>
                                          </p:val>
                                        </p:tav>
                                        <p:tav tm="100000">
                                          <p:val>
                                            <p:strVal val="#ppt_x"/>
                                          </p:val>
                                        </p:tav>
                                      </p:tavLst>
                                    </p:anim>
                                    <p:anim calcmode="lin" valueType="num">
                                      <p:cBhvr additive="base">
                                        <p:cTn id="37" dur="500" fill="hold"/>
                                        <p:tgtEl>
                                          <p:spTgt spid="8"/>
                                        </p:tgtEl>
                                        <p:attrNameLst>
                                          <p:attrName>ppt_y</p:attrName>
                                        </p:attrNameLst>
                                      </p:cBhvr>
                                      <p:tavLst>
                                        <p:tav tm="0">
                                          <p:val>
                                            <p:strVal val="1+#ppt_h/2"/>
                                          </p:val>
                                        </p:tav>
                                        <p:tav tm="100000">
                                          <p:val>
                                            <p:strVal val="#ppt_y"/>
                                          </p:val>
                                        </p:tav>
                                      </p:tavLst>
                                    </p:anim>
                                  </p:childTnLst>
                                </p:cTn>
                              </p:par>
                            </p:childTnLst>
                          </p:cTn>
                        </p:par>
                        <p:par>
                          <p:cTn id="38" fill="hold">
                            <p:stCondLst>
                              <p:cond delay="3500"/>
                            </p:stCondLst>
                            <p:childTnLst>
                              <p:par>
                                <p:cTn id="39" presetID="22" presetClass="entr" presetSubtype="4" fill="hold" nodeType="after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wipe(down)">
                                      <p:cBhvr>
                                        <p:cTn id="41" dur="500"/>
                                        <p:tgtEl>
                                          <p:spTgt spid="18"/>
                                        </p:tgtEl>
                                      </p:cBhvr>
                                    </p:animEffect>
                                  </p:childTnLst>
                                </p:cTn>
                              </p:par>
                            </p:childTnLst>
                          </p:cTn>
                        </p:par>
                        <p:par>
                          <p:cTn id="42" fill="hold">
                            <p:stCondLst>
                              <p:cond delay="4000"/>
                            </p:stCondLst>
                            <p:childTnLst>
                              <p:par>
                                <p:cTn id="43" presetID="22" presetClass="entr" presetSubtype="2" fill="hold" nodeType="after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wipe(right)">
                                      <p:cBhvr>
                                        <p:cTn id="45" dur="500"/>
                                        <p:tgtEl>
                                          <p:spTgt spid="17"/>
                                        </p:tgtEl>
                                      </p:cBhvr>
                                    </p:animEffect>
                                  </p:childTnLst>
                                </p:cTn>
                              </p:par>
                            </p:childTnLst>
                          </p:cTn>
                        </p:par>
                        <p:par>
                          <p:cTn id="46" fill="hold">
                            <p:stCondLst>
                              <p:cond delay="4500"/>
                            </p:stCondLst>
                            <p:childTnLst>
                              <p:par>
                                <p:cTn id="47" presetID="22" presetClass="entr" presetSubtype="4" fill="hold" nodeType="after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wipe(down)">
                                      <p:cBhvr>
                                        <p:cTn id="4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1116" y="524243"/>
            <a:ext cx="9783814" cy="1143000"/>
          </a:xfrm>
        </p:spPr>
        <p:txBody>
          <a:bodyPr>
            <a:normAutofit fontScale="90000"/>
          </a:bodyPr>
          <a:lstStyle/>
          <a:p>
            <a:r>
              <a:rPr lang="en-US" dirty="0"/>
              <a:t>General versus individually negotiated terms</a:t>
            </a:r>
          </a:p>
        </p:txBody>
      </p:sp>
      <p:sp>
        <p:nvSpPr>
          <p:cNvPr id="3" name="Content Placeholder 2"/>
          <p:cNvSpPr>
            <a:spLocks noGrp="1"/>
          </p:cNvSpPr>
          <p:nvPr>
            <p:ph idx="1"/>
          </p:nvPr>
        </p:nvSpPr>
        <p:spPr>
          <a:xfrm>
            <a:off x="1225658" y="2135038"/>
            <a:ext cx="10515600" cy="4351338"/>
          </a:xfrm>
        </p:spPr>
        <p:txBody>
          <a:bodyPr/>
          <a:lstStyle/>
          <a:p>
            <a:r>
              <a:rPr lang="en-US" dirty="0"/>
              <a:t>Depending on national legislation, different standards may be applied to general terms (“contracts of adhesion”, “boilerplate terms”) that can’t be individually negotiated, and the terms which were negotiated individually</a:t>
            </a:r>
          </a:p>
          <a:p>
            <a:r>
              <a:rPr lang="en-US" dirty="0"/>
              <a:t>For example, under lots of laws standard terms will be interpreted in favor of the party which accepted them, and against the drafter</a:t>
            </a:r>
          </a:p>
        </p:txBody>
      </p:sp>
      <p:sp>
        <p:nvSpPr>
          <p:cNvPr id="4" name="Rectangle 3">
            <a:extLst>
              <a:ext uri="{FF2B5EF4-FFF2-40B4-BE49-F238E27FC236}">
                <a16:creationId xmlns:a16="http://schemas.microsoft.com/office/drawing/2014/main" id="{636EF657-C397-4CF4-955D-4D119E93C2FD}"/>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DE7AC890-1D2B-46E8-84CA-E08DDA6BEB19}"/>
              </a:ext>
            </a:extLst>
          </p:cNvPr>
          <p:cNvSpPr/>
          <p:nvPr/>
        </p:nvSpPr>
        <p:spPr>
          <a:xfrm rot="16200000">
            <a:off x="4785414" y="5547413"/>
            <a:ext cx="589173"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C03BDEB5-DA8A-4A70-A6E9-6E209082AA62}"/>
              </a:ext>
            </a:extLst>
          </p:cNvPr>
          <p:cNvSpPr/>
          <p:nvPr/>
        </p:nvSpPr>
        <p:spPr>
          <a:xfrm rot="16200000">
            <a:off x="6680724" y="5410723"/>
            <a:ext cx="862554"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F9AC3D11-CC36-4754-A90D-6A35B317FE88}"/>
              </a:ext>
            </a:extLst>
          </p:cNvPr>
          <p:cNvSpPr/>
          <p:nvPr/>
        </p:nvSpPr>
        <p:spPr>
          <a:xfrm rot="16200000">
            <a:off x="8594272" y="5292271"/>
            <a:ext cx="1099457"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96AF482C-327A-4789-A164-79BC06AB674D}"/>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C4DBD00F-F1B6-416B-85FE-FF578DA034E8}"/>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EAEAF1AB-5930-4C4B-AF1F-680B6B0CDFCC}"/>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8A23F79C-D8DD-441E-B1A0-2EB014502C99}"/>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037C7B14-D6A3-4080-9682-6E7018B25697}"/>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706B3BED-5100-49E4-8FCB-056E39C1DA9D}"/>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6073BAF6-D70D-4606-A7D0-115FA699F125}"/>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F74DB02F-3082-4D07-87A1-37FE1356AF2C}"/>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37D2DE0D-F402-4DA7-8E0F-0706A1235F62}"/>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DC4F609D-8106-404B-80C9-CA0EC0D4CAEC}"/>
              </a:ext>
            </a:extLst>
          </p:cNvPr>
          <p:cNvCxnSpPr/>
          <p:nvPr/>
        </p:nvCxnSpPr>
        <p:spPr>
          <a:xfrm>
            <a:off x="669303" y="5812915"/>
            <a:ext cx="4402317"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1442B09-A261-4F55-BA6D-96CB8A3DA99B}"/>
              </a:ext>
            </a:extLst>
          </p:cNvPr>
          <p:cNvCxnSpPr>
            <a:cxnSpLocks/>
          </p:cNvCxnSpPr>
          <p:nvPr/>
        </p:nvCxnSpPr>
        <p:spPr>
          <a:xfrm>
            <a:off x="5071620" y="5812915"/>
            <a:ext cx="9763" cy="455911"/>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0DCDBEEF-F013-43DB-9EA2-355DA709A922}"/>
              </a:ext>
            </a:extLst>
          </p:cNvPr>
          <p:cNvCxnSpPr>
            <a:cxnSpLocks/>
          </p:cNvCxnSpPr>
          <p:nvPr/>
        </p:nvCxnSpPr>
        <p:spPr>
          <a:xfrm>
            <a:off x="669303" y="838986"/>
            <a:ext cx="0" cy="4973929"/>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65000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additive="base">
                                        <p:cTn id="16" dur="500" fill="hold"/>
                                        <p:tgtEl>
                                          <p:spTgt spid="4"/>
                                        </p:tgtEl>
                                        <p:attrNameLst>
                                          <p:attrName>ppt_x</p:attrName>
                                        </p:attrNameLst>
                                      </p:cBhvr>
                                      <p:tavLst>
                                        <p:tav tm="0">
                                          <p:val>
                                            <p:strVal val="#ppt_x"/>
                                          </p:val>
                                        </p:tav>
                                        <p:tav tm="100000">
                                          <p:val>
                                            <p:strVal val="#ppt_x"/>
                                          </p:val>
                                        </p:tav>
                                      </p:tavLst>
                                    </p:anim>
                                    <p:anim calcmode="lin" valueType="num">
                                      <p:cBhvr additive="base">
                                        <p:cTn id="17" dur="500" fill="hold"/>
                                        <p:tgtEl>
                                          <p:spTgt spid="4"/>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additive="base">
                                        <p:cTn id="26" dur="500" fill="hold"/>
                                        <p:tgtEl>
                                          <p:spTgt spid="6"/>
                                        </p:tgtEl>
                                        <p:attrNameLst>
                                          <p:attrName>ppt_x</p:attrName>
                                        </p:attrNameLst>
                                      </p:cBhvr>
                                      <p:tavLst>
                                        <p:tav tm="0">
                                          <p:val>
                                            <p:strVal val="#ppt_x"/>
                                          </p:val>
                                        </p:tav>
                                        <p:tav tm="100000">
                                          <p:val>
                                            <p:strVal val="#ppt_x"/>
                                          </p:val>
                                        </p:tav>
                                      </p:tavLst>
                                    </p:anim>
                                    <p:anim calcmode="lin" valueType="num">
                                      <p:cBhvr additive="base">
                                        <p:cTn id="27" dur="500" fill="hold"/>
                                        <p:tgtEl>
                                          <p:spTgt spid="6"/>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ppt_x"/>
                                          </p:val>
                                        </p:tav>
                                        <p:tav tm="100000">
                                          <p:val>
                                            <p:strVal val="#ppt_x"/>
                                          </p:val>
                                        </p:tav>
                                      </p:tavLst>
                                    </p:anim>
                                    <p:anim calcmode="lin" valueType="num">
                                      <p:cBhvr additive="base">
                                        <p:cTn id="32" dur="500" fill="hold"/>
                                        <p:tgtEl>
                                          <p:spTgt spid="7"/>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ntr" presetSubtype="4" fill="hold" grpId="0" nodeType="after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additive="base">
                                        <p:cTn id="36" dur="500" fill="hold"/>
                                        <p:tgtEl>
                                          <p:spTgt spid="8"/>
                                        </p:tgtEl>
                                        <p:attrNameLst>
                                          <p:attrName>ppt_x</p:attrName>
                                        </p:attrNameLst>
                                      </p:cBhvr>
                                      <p:tavLst>
                                        <p:tav tm="0">
                                          <p:val>
                                            <p:strVal val="#ppt_x"/>
                                          </p:val>
                                        </p:tav>
                                        <p:tav tm="100000">
                                          <p:val>
                                            <p:strVal val="#ppt_x"/>
                                          </p:val>
                                        </p:tav>
                                      </p:tavLst>
                                    </p:anim>
                                    <p:anim calcmode="lin" valueType="num">
                                      <p:cBhvr additive="base">
                                        <p:cTn id="37" dur="500" fill="hold"/>
                                        <p:tgtEl>
                                          <p:spTgt spid="8"/>
                                        </p:tgtEl>
                                        <p:attrNameLst>
                                          <p:attrName>ppt_y</p:attrName>
                                        </p:attrNameLst>
                                      </p:cBhvr>
                                      <p:tavLst>
                                        <p:tav tm="0">
                                          <p:val>
                                            <p:strVal val="1+#ppt_h/2"/>
                                          </p:val>
                                        </p:tav>
                                        <p:tav tm="100000">
                                          <p:val>
                                            <p:strVal val="#ppt_y"/>
                                          </p:val>
                                        </p:tav>
                                      </p:tavLst>
                                    </p:anim>
                                  </p:childTnLst>
                                </p:cTn>
                              </p:par>
                            </p:childTnLst>
                          </p:cTn>
                        </p:par>
                        <p:par>
                          <p:cTn id="38" fill="hold">
                            <p:stCondLst>
                              <p:cond delay="3500"/>
                            </p:stCondLst>
                            <p:childTnLst>
                              <p:par>
                                <p:cTn id="39" presetID="22" presetClass="entr" presetSubtype="4" fill="hold" nodeType="after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wipe(down)">
                                      <p:cBhvr>
                                        <p:cTn id="41" dur="500"/>
                                        <p:tgtEl>
                                          <p:spTgt spid="18"/>
                                        </p:tgtEl>
                                      </p:cBhvr>
                                    </p:animEffect>
                                  </p:childTnLst>
                                </p:cTn>
                              </p:par>
                            </p:childTnLst>
                          </p:cTn>
                        </p:par>
                        <p:par>
                          <p:cTn id="42" fill="hold">
                            <p:stCondLst>
                              <p:cond delay="4000"/>
                            </p:stCondLst>
                            <p:childTnLst>
                              <p:par>
                                <p:cTn id="43" presetID="22" presetClass="entr" presetSubtype="2" fill="hold" nodeType="after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wipe(right)">
                                      <p:cBhvr>
                                        <p:cTn id="45" dur="500"/>
                                        <p:tgtEl>
                                          <p:spTgt spid="17"/>
                                        </p:tgtEl>
                                      </p:cBhvr>
                                    </p:animEffect>
                                  </p:childTnLst>
                                </p:cTn>
                              </p:par>
                            </p:childTnLst>
                          </p:cTn>
                        </p:par>
                        <p:par>
                          <p:cTn id="46" fill="hold">
                            <p:stCondLst>
                              <p:cond delay="4500"/>
                            </p:stCondLst>
                            <p:childTnLst>
                              <p:par>
                                <p:cTn id="47" presetID="22" presetClass="entr" presetSubtype="4" fill="hold" nodeType="after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wipe(down)">
                                      <p:cBhvr>
                                        <p:cTn id="4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3672" y="885294"/>
            <a:ext cx="8652294" cy="1143000"/>
          </a:xfrm>
        </p:spPr>
        <p:txBody>
          <a:bodyPr/>
          <a:lstStyle/>
          <a:p>
            <a:r>
              <a:rPr lang="en-US" dirty="0"/>
              <a:t>Cases we’ll study</a:t>
            </a:r>
          </a:p>
        </p:txBody>
      </p:sp>
      <p:sp>
        <p:nvSpPr>
          <p:cNvPr id="3" name="Content Placeholder 2"/>
          <p:cNvSpPr>
            <a:spLocks noGrp="1"/>
          </p:cNvSpPr>
          <p:nvPr>
            <p:ph idx="1"/>
          </p:nvPr>
        </p:nvSpPr>
        <p:spPr>
          <a:xfrm>
            <a:off x="1269891" y="2159204"/>
            <a:ext cx="10515600" cy="4351338"/>
          </a:xfrm>
        </p:spPr>
        <p:txBody>
          <a:bodyPr/>
          <a:lstStyle/>
          <a:p>
            <a:r>
              <a:rPr lang="en-US" dirty="0"/>
              <a:t>Limitations of contractual remedies</a:t>
            </a:r>
          </a:p>
          <a:p>
            <a:r>
              <a:rPr lang="en-US" dirty="0"/>
              <a:t>Termination for immaterial breach</a:t>
            </a:r>
          </a:p>
          <a:p>
            <a:r>
              <a:rPr lang="en-US" dirty="0"/>
              <a:t>Determination of price</a:t>
            </a:r>
          </a:p>
          <a:p>
            <a:r>
              <a:rPr lang="en-US" dirty="0"/>
              <a:t>Withheld information</a:t>
            </a:r>
          </a:p>
          <a:p>
            <a:r>
              <a:rPr lang="en-US" dirty="0"/>
              <a:t>Undue influence</a:t>
            </a:r>
            <a:endParaRPr lang="sr-Latn-ME" dirty="0"/>
          </a:p>
        </p:txBody>
      </p:sp>
      <p:sp>
        <p:nvSpPr>
          <p:cNvPr id="4" name="Rectangle 3">
            <a:extLst>
              <a:ext uri="{FF2B5EF4-FFF2-40B4-BE49-F238E27FC236}">
                <a16:creationId xmlns:a16="http://schemas.microsoft.com/office/drawing/2014/main" id="{A25EC4F9-493A-4BD9-88AB-C5A2FC45833D}"/>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111E7A4B-DBEC-4C2C-B06E-4EF647F892CE}"/>
              </a:ext>
            </a:extLst>
          </p:cNvPr>
          <p:cNvSpPr/>
          <p:nvPr/>
        </p:nvSpPr>
        <p:spPr>
          <a:xfrm rot="16200000">
            <a:off x="4785414" y="5547413"/>
            <a:ext cx="589173"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88402D9B-6B4E-44C8-AFB9-56A4CFC88156}"/>
              </a:ext>
            </a:extLst>
          </p:cNvPr>
          <p:cNvSpPr/>
          <p:nvPr/>
        </p:nvSpPr>
        <p:spPr>
          <a:xfrm rot="16200000">
            <a:off x="6680724" y="5410723"/>
            <a:ext cx="862554"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115FB8DB-6481-4FA6-B333-B56B0A3834DD}"/>
              </a:ext>
            </a:extLst>
          </p:cNvPr>
          <p:cNvSpPr/>
          <p:nvPr/>
        </p:nvSpPr>
        <p:spPr>
          <a:xfrm rot="16200000">
            <a:off x="8594272" y="5292271"/>
            <a:ext cx="1099457"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E6388781-492C-42B7-9068-3C703D62109A}"/>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E2A29C9E-B72A-4B64-8656-6BEE45BD62D8}"/>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187109D2-E95C-47CD-AE23-7EAF90E3E0F4}"/>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7E1DB9BA-A217-4CDC-9017-059161C292E7}"/>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06BAE233-C2E0-449E-AB58-5D815C2F53FA}"/>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20F10093-2DC9-43FF-B637-6027D79A5803}"/>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C773044B-0FBC-4DCA-9E77-5993FEABCCFA}"/>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214D7D89-112B-4766-9C22-729A3217A2C1}"/>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5730AF6C-286B-41C1-935A-EA56AFD8E6E5}"/>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80A1AB65-D54B-4603-8D13-2460D2DBE3BC}"/>
              </a:ext>
            </a:extLst>
          </p:cNvPr>
          <p:cNvCxnSpPr/>
          <p:nvPr/>
        </p:nvCxnSpPr>
        <p:spPr>
          <a:xfrm>
            <a:off x="669303" y="5812915"/>
            <a:ext cx="4402317"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EB39968-15DA-4048-B686-DF69F22DAB93}"/>
              </a:ext>
            </a:extLst>
          </p:cNvPr>
          <p:cNvCxnSpPr>
            <a:cxnSpLocks/>
          </p:cNvCxnSpPr>
          <p:nvPr/>
        </p:nvCxnSpPr>
        <p:spPr>
          <a:xfrm>
            <a:off x="5071620" y="5812915"/>
            <a:ext cx="9763" cy="455911"/>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CDFEEFB-903C-4E48-AE8C-FA5048515A1E}"/>
              </a:ext>
            </a:extLst>
          </p:cNvPr>
          <p:cNvCxnSpPr>
            <a:cxnSpLocks/>
          </p:cNvCxnSpPr>
          <p:nvPr/>
        </p:nvCxnSpPr>
        <p:spPr>
          <a:xfrm>
            <a:off x="669303" y="838986"/>
            <a:ext cx="0" cy="4973929"/>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86245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additive="base">
                                        <p:cTn id="16" dur="500" fill="hold"/>
                                        <p:tgtEl>
                                          <p:spTgt spid="4"/>
                                        </p:tgtEl>
                                        <p:attrNameLst>
                                          <p:attrName>ppt_x</p:attrName>
                                        </p:attrNameLst>
                                      </p:cBhvr>
                                      <p:tavLst>
                                        <p:tav tm="0">
                                          <p:val>
                                            <p:strVal val="#ppt_x"/>
                                          </p:val>
                                        </p:tav>
                                        <p:tav tm="100000">
                                          <p:val>
                                            <p:strVal val="#ppt_x"/>
                                          </p:val>
                                        </p:tav>
                                      </p:tavLst>
                                    </p:anim>
                                    <p:anim calcmode="lin" valueType="num">
                                      <p:cBhvr additive="base">
                                        <p:cTn id="17" dur="500" fill="hold"/>
                                        <p:tgtEl>
                                          <p:spTgt spid="4"/>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additive="base">
                                        <p:cTn id="26" dur="500" fill="hold"/>
                                        <p:tgtEl>
                                          <p:spTgt spid="6"/>
                                        </p:tgtEl>
                                        <p:attrNameLst>
                                          <p:attrName>ppt_x</p:attrName>
                                        </p:attrNameLst>
                                      </p:cBhvr>
                                      <p:tavLst>
                                        <p:tav tm="0">
                                          <p:val>
                                            <p:strVal val="#ppt_x"/>
                                          </p:val>
                                        </p:tav>
                                        <p:tav tm="100000">
                                          <p:val>
                                            <p:strVal val="#ppt_x"/>
                                          </p:val>
                                        </p:tav>
                                      </p:tavLst>
                                    </p:anim>
                                    <p:anim calcmode="lin" valueType="num">
                                      <p:cBhvr additive="base">
                                        <p:cTn id="27" dur="500" fill="hold"/>
                                        <p:tgtEl>
                                          <p:spTgt spid="6"/>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ppt_x"/>
                                          </p:val>
                                        </p:tav>
                                        <p:tav tm="100000">
                                          <p:val>
                                            <p:strVal val="#ppt_x"/>
                                          </p:val>
                                        </p:tav>
                                      </p:tavLst>
                                    </p:anim>
                                    <p:anim calcmode="lin" valueType="num">
                                      <p:cBhvr additive="base">
                                        <p:cTn id="32" dur="500" fill="hold"/>
                                        <p:tgtEl>
                                          <p:spTgt spid="7"/>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ntr" presetSubtype="4" fill="hold" grpId="0" nodeType="after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additive="base">
                                        <p:cTn id="36" dur="500" fill="hold"/>
                                        <p:tgtEl>
                                          <p:spTgt spid="8"/>
                                        </p:tgtEl>
                                        <p:attrNameLst>
                                          <p:attrName>ppt_x</p:attrName>
                                        </p:attrNameLst>
                                      </p:cBhvr>
                                      <p:tavLst>
                                        <p:tav tm="0">
                                          <p:val>
                                            <p:strVal val="#ppt_x"/>
                                          </p:val>
                                        </p:tav>
                                        <p:tav tm="100000">
                                          <p:val>
                                            <p:strVal val="#ppt_x"/>
                                          </p:val>
                                        </p:tav>
                                      </p:tavLst>
                                    </p:anim>
                                    <p:anim calcmode="lin" valueType="num">
                                      <p:cBhvr additive="base">
                                        <p:cTn id="37" dur="500" fill="hold"/>
                                        <p:tgtEl>
                                          <p:spTgt spid="8"/>
                                        </p:tgtEl>
                                        <p:attrNameLst>
                                          <p:attrName>ppt_y</p:attrName>
                                        </p:attrNameLst>
                                      </p:cBhvr>
                                      <p:tavLst>
                                        <p:tav tm="0">
                                          <p:val>
                                            <p:strVal val="1+#ppt_h/2"/>
                                          </p:val>
                                        </p:tav>
                                        <p:tav tm="100000">
                                          <p:val>
                                            <p:strVal val="#ppt_y"/>
                                          </p:val>
                                        </p:tav>
                                      </p:tavLst>
                                    </p:anim>
                                  </p:childTnLst>
                                </p:cTn>
                              </p:par>
                            </p:childTnLst>
                          </p:cTn>
                        </p:par>
                        <p:par>
                          <p:cTn id="38" fill="hold">
                            <p:stCondLst>
                              <p:cond delay="3500"/>
                            </p:stCondLst>
                            <p:childTnLst>
                              <p:par>
                                <p:cTn id="39" presetID="22" presetClass="entr" presetSubtype="4" fill="hold" nodeType="after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wipe(down)">
                                      <p:cBhvr>
                                        <p:cTn id="41" dur="500"/>
                                        <p:tgtEl>
                                          <p:spTgt spid="18"/>
                                        </p:tgtEl>
                                      </p:cBhvr>
                                    </p:animEffect>
                                  </p:childTnLst>
                                </p:cTn>
                              </p:par>
                            </p:childTnLst>
                          </p:cTn>
                        </p:par>
                        <p:par>
                          <p:cTn id="42" fill="hold">
                            <p:stCondLst>
                              <p:cond delay="4000"/>
                            </p:stCondLst>
                            <p:childTnLst>
                              <p:par>
                                <p:cTn id="43" presetID="22" presetClass="entr" presetSubtype="2" fill="hold" nodeType="after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wipe(right)">
                                      <p:cBhvr>
                                        <p:cTn id="45" dur="500"/>
                                        <p:tgtEl>
                                          <p:spTgt spid="17"/>
                                        </p:tgtEl>
                                      </p:cBhvr>
                                    </p:animEffect>
                                  </p:childTnLst>
                                </p:cTn>
                              </p:par>
                            </p:childTnLst>
                          </p:cTn>
                        </p:par>
                        <p:par>
                          <p:cTn id="46" fill="hold">
                            <p:stCondLst>
                              <p:cond delay="4500"/>
                            </p:stCondLst>
                            <p:childTnLst>
                              <p:par>
                                <p:cTn id="47" presetID="22" presetClass="entr" presetSubtype="4" fill="hold" nodeType="after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wipe(down)">
                                      <p:cBhvr>
                                        <p:cTn id="4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Box 23"/>
          <p:cNvSpPr txBox="1"/>
          <p:nvPr/>
        </p:nvSpPr>
        <p:spPr>
          <a:xfrm>
            <a:off x="4608232" y="2556509"/>
            <a:ext cx="3890809" cy="769441"/>
          </a:xfrm>
          <a:prstGeom prst="rect">
            <a:avLst/>
          </a:prstGeom>
          <a:noFill/>
        </p:spPr>
        <p:txBody>
          <a:bodyPr wrap="none" rtlCol="0">
            <a:spAutoFit/>
          </a:bodyPr>
          <a:lstStyle/>
          <a:p>
            <a:r>
              <a:rPr lang="en-US" sz="4400" dirty="0">
                <a:solidFill>
                  <a:schemeClr val="bg1">
                    <a:lumMod val="50000"/>
                  </a:schemeClr>
                </a:solidFill>
                <a:latin typeface="+mj-lt"/>
                <a:ea typeface="Open Sans" panose="020B0606030504020204" pitchFamily="34" charset="0"/>
                <a:cs typeface="Open Sans" panose="020B0606030504020204" pitchFamily="34" charset="0"/>
              </a:rPr>
              <a:t>Reasonableness</a:t>
            </a:r>
          </a:p>
        </p:txBody>
      </p:sp>
      <p:sp>
        <p:nvSpPr>
          <p:cNvPr id="3" name="Rectangle 2"/>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5" name="Rectangle 44"/>
          <p:cNvSpPr/>
          <p:nvPr/>
        </p:nvSpPr>
        <p:spPr>
          <a:xfrm rot="16200000">
            <a:off x="4785414" y="5547413"/>
            <a:ext cx="589173"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6" name="Rectangle 45"/>
          <p:cNvSpPr/>
          <p:nvPr/>
        </p:nvSpPr>
        <p:spPr>
          <a:xfrm rot="16200000">
            <a:off x="6680724" y="5410723"/>
            <a:ext cx="862554"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7" name="Rectangle 46"/>
          <p:cNvSpPr/>
          <p:nvPr/>
        </p:nvSpPr>
        <p:spPr>
          <a:xfrm rot="16200000">
            <a:off x="8594272" y="5292271"/>
            <a:ext cx="1099457"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8" name="Rectangle 47"/>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9" name="Rectangle 48"/>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6" name="Group 5"/>
          <p:cNvGrpSpPr/>
          <p:nvPr/>
        </p:nvGrpSpPr>
        <p:grpSpPr>
          <a:xfrm>
            <a:off x="2" y="6736617"/>
            <a:ext cx="12191999" cy="134339"/>
            <a:chOff x="2" y="2110197"/>
            <a:chExt cx="12191999" cy="134339"/>
          </a:xfrm>
        </p:grpSpPr>
        <p:sp>
          <p:nvSpPr>
            <p:cNvPr id="51" name="Rectangle 50"/>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2" name="Rectangle 51"/>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3" name="Rectangle 52"/>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4" name="Rectangle 53"/>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5" name="Rectangle 54"/>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6" name="Rectangle 55"/>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76" name="Straight Connector 75"/>
          <p:cNvCxnSpPr/>
          <p:nvPr/>
        </p:nvCxnSpPr>
        <p:spPr>
          <a:xfrm>
            <a:off x="669303" y="5812915"/>
            <a:ext cx="4402317"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a:cxnSpLocks/>
          </p:cNvCxnSpPr>
          <p:nvPr/>
        </p:nvCxnSpPr>
        <p:spPr>
          <a:xfrm>
            <a:off x="5071620" y="5812915"/>
            <a:ext cx="9763" cy="455911"/>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a:cxnSpLocks/>
          </p:cNvCxnSpPr>
          <p:nvPr/>
        </p:nvCxnSpPr>
        <p:spPr>
          <a:xfrm>
            <a:off x="669303" y="838986"/>
            <a:ext cx="0" cy="4973929"/>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8119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49"/>
                                        </p:tgtEl>
                                        <p:attrNameLst>
                                          <p:attrName>style.visibility</p:attrName>
                                        </p:attrNameLst>
                                      </p:cBhvr>
                                      <p:to>
                                        <p:strVal val="visible"/>
                                      </p:to>
                                    </p:set>
                                    <p:anim calcmode="lin" valueType="num">
                                      <p:cBhvr additive="base">
                                        <p:cTn id="11" dur="500" fill="hold"/>
                                        <p:tgtEl>
                                          <p:spTgt spid="49"/>
                                        </p:tgtEl>
                                        <p:attrNameLst>
                                          <p:attrName>ppt_x</p:attrName>
                                        </p:attrNameLst>
                                      </p:cBhvr>
                                      <p:tavLst>
                                        <p:tav tm="0">
                                          <p:val>
                                            <p:strVal val="#ppt_x"/>
                                          </p:val>
                                        </p:tav>
                                        <p:tav tm="100000">
                                          <p:val>
                                            <p:strVal val="#ppt_x"/>
                                          </p:val>
                                        </p:tav>
                                      </p:tavLst>
                                    </p:anim>
                                    <p:anim calcmode="lin" valueType="num">
                                      <p:cBhvr additive="base">
                                        <p:cTn id="12" dur="500" fill="hold"/>
                                        <p:tgtEl>
                                          <p:spTgt spid="49"/>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3"/>
                                        </p:tgtEl>
                                        <p:attrNameLst>
                                          <p:attrName>style.visibility</p:attrName>
                                        </p:attrNameLst>
                                      </p:cBhvr>
                                      <p:to>
                                        <p:strVal val="visible"/>
                                      </p:to>
                                    </p:set>
                                    <p:anim calcmode="lin" valueType="num">
                                      <p:cBhvr additive="base">
                                        <p:cTn id="16" dur="500" fill="hold"/>
                                        <p:tgtEl>
                                          <p:spTgt spid="3"/>
                                        </p:tgtEl>
                                        <p:attrNameLst>
                                          <p:attrName>ppt_x</p:attrName>
                                        </p:attrNameLst>
                                      </p:cBhvr>
                                      <p:tavLst>
                                        <p:tav tm="0">
                                          <p:val>
                                            <p:strVal val="#ppt_x"/>
                                          </p:val>
                                        </p:tav>
                                        <p:tav tm="100000">
                                          <p:val>
                                            <p:strVal val="#ppt_x"/>
                                          </p:val>
                                        </p:tav>
                                      </p:tavLst>
                                    </p:anim>
                                    <p:anim calcmode="lin" valueType="num">
                                      <p:cBhvr additive="base">
                                        <p:cTn id="17" dur="500" fill="hold"/>
                                        <p:tgtEl>
                                          <p:spTgt spid="3"/>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45"/>
                                        </p:tgtEl>
                                        <p:attrNameLst>
                                          <p:attrName>style.visibility</p:attrName>
                                        </p:attrNameLst>
                                      </p:cBhvr>
                                      <p:to>
                                        <p:strVal val="visible"/>
                                      </p:to>
                                    </p:set>
                                    <p:anim calcmode="lin" valueType="num">
                                      <p:cBhvr additive="base">
                                        <p:cTn id="21" dur="500" fill="hold"/>
                                        <p:tgtEl>
                                          <p:spTgt spid="45"/>
                                        </p:tgtEl>
                                        <p:attrNameLst>
                                          <p:attrName>ppt_x</p:attrName>
                                        </p:attrNameLst>
                                      </p:cBhvr>
                                      <p:tavLst>
                                        <p:tav tm="0">
                                          <p:val>
                                            <p:strVal val="#ppt_x"/>
                                          </p:val>
                                        </p:tav>
                                        <p:tav tm="100000">
                                          <p:val>
                                            <p:strVal val="#ppt_x"/>
                                          </p:val>
                                        </p:tav>
                                      </p:tavLst>
                                    </p:anim>
                                    <p:anim calcmode="lin" valueType="num">
                                      <p:cBhvr additive="base">
                                        <p:cTn id="22" dur="500" fill="hold"/>
                                        <p:tgtEl>
                                          <p:spTgt spid="45"/>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46"/>
                                        </p:tgtEl>
                                        <p:attrNameLst>
                                          <p:attrName>style.visibility</p:attrName>
                                        </p:attrNameLst>
                                      </p:cBhvr>
                                      <p:to>
                                        <p:strVal val="visible"/>
                                      </p:to>
                                    </p:set>
                                    <p:anim calcmode="lin" valueType="num">
                                      <p:cBhvr additive="base">
                                        <p:cTn id="26" dur="500" fill="hold"/>
                                        <p:tgtEl>
                                          <p:spTgt spid="46"/>
                                        </p:tgtEl>
                                        <p:attrNameLst>
                                          <p:attrName>ppt_x</p:attrName>
                                        </p:attrNameLst>
                                      </p:cBhvr>
                                      <p:tavLst>
                                        <p:tav tm="0">
                                          <p:val>
                                            <p:strVal val="#ppt_x"/>
                                          </p:val>
                                        </p:tav>
                                        <p:tav tm="100000">
                                          <p:val>
                                            <p:strVal val="#ppt_x"/>
                                          </p:val>
                                        </p:tav>
                                      </p:tavLst>
                                    </p:anim>
                                    <p:anim calcmode="lin" valueType="num">
                                      <p:cBhvr additive="base">
                                        <p:cTn id="27" dur="500" fill="hold"/>
                                        <p:tgtEl>
                                          <p:spTgt spid="46"/>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47"/>
                                        </p:tgtEl>
                                        <p:attrNameLst>
                                          <p:attrName>style.visibility</p:attrName>
                                        </p:attrNameLst>
                                      </p:cBhvr>
                                      <p:to>
                                        <p:strVal val="visible"/>
                                      </p:to>
                                    </p:set>
                                    <p:anim calcmode="lin" valueType="num">
                                      <p:cBhvr additive="base">
                                        <p:cTn id="31" dur="500" fill="hold"/>
                                        <p:tgtEl>
                                          <p:spTgt spid="47"/>
                                        </p:tgtEl>
                                        <p:attrNameLst>
                                          <p:attrName>ppt_x</p:attrName>
                                        </p:attrNameLst>
                                      </p:cBhvr>
                                      <p:tavLst>
                                        <p:tav tm="0">
                                          <p:val>
                                            <p:strVal val="#ppt_x"/>
                                          </p:val>
                                        </p:tav>
                                        <p:tav tm="100000">
                                          <p:val>
                                            <p:strVal val="#ppt_x"/>
                                          </p:val>
                                        </p:tav>
                                      </p:tavLst>
                                    </p:anim>
                                    <p:anim calcmode="lin" valueType="num">
                                      <p:cBhvr additive="base">
                                        <p:cTn id="32" dur="500" fill="hold"/>
                                        <p:tgtEl>
                                          <p:spTgt spid="47"/>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ntr" presetSubtype="4" fill="hold" grpId="0" nodeType="afterEffect">
                                  <p:stCondLst>
                                    <p:cond delay="0"/>
                                  </p:stCondLst>
                                  <p:childTnLst>
                                    <p:set>
                                      <p:cBhvr>
                                        <p:cTn id="35" dur="1" fill="hold">
                                          <p:stCondLst>
                                            <p:cond delay="0"/>
                                          </p:stCondLst>
                                        </p:cTn>
                                        <p:tgtEl>
                                          <p:spTgt spid="48"/>
                                        </p:tgtEl>
                                        <p:attrNameLst>
                                          <p:attrName>style.visibility</p:attrName>
                                        </p:attrNameLst>
                                      </p:cBhvr>
                                      <p:to>
                                        <p:strVal val="visible"/>
                                      </p:to>
                                    </p:set>
                                    <p:anim calcmode="lin" valueType="num">
                                      <p:cBhvr additive="base">
                                        <p:cTn id="36" dur="500" fill="hold"/>
                                        <p:tgtEl>
                                          <p:spTgt spid="48"/>
                                        </p:tgtEl>
                                        <p:attrNameLst>
                                          <p:attrName>ppt_x</p:attrName>
                                        </p:attrNameLst>
                                      </p:cBhvr>
                                      <p:tavLst>
                                        <p:tav tm="0">
                                          <p:val>
                                            <p:strVal val="#ppt_x"/>
                                          </p:val>
                                        </p:tav>
                                        <p:tav tm="100000">
                                          <p:val>
                                            <p:strVal val="#ppt_x"/>
                                          </p:val>
                                        </p:tav>
                                      </p:tavLst>
                                    </p:anim>
                                    <p:anim calcmode="lin" valueType="num">
                                      <p:cBhvr additive="base">
                                        <p:cTn id="37" dur="500" fill="hold"/>
                                        <p:tgtEl>
                                          <p:spTgt spid="48"/>
                                        </p:tgtEl>
                                        <p:attrNameLst>
                                          <p:attrName>ppt_y</p:attrName>
                                        </p:attrNameLst>
                                      </p:cBhvr>
                                      <p:tavLst>
                                        <p:tav tm="0">
                                          <p:val>
                                            <p:strVal val="1+#ppt_h/2"/>
                                          </p:val>
                                        </p:tav>
                                        <p:tav tm="100000">
                                          <p:val>
                                            <p:strVal val="#ppt_y"/>
                                          </p:val>
                                        </p:tav>
                                      </p:tavLst>
                                    </p:anim>
                                  </p:childTnLst>
                                </p:cTn>
                              </p:par>
                            </p:childTnLst>
                          </p:cTn>
                        </p:par>
                        <p:par>
                          <p:cTn id="38" fill="hold">
                            <p:stCondLst>
                              <p:cond delay="3500"/>
                            </p:stCondLst>
                            <p:childTnLst>
                              <p:par>
                                <p:cTn id="39" presetID="22" presetClass="entr" presetSubtype="4" fill="hold" nodeType="afterEffect">
                                  <p:stCondLst>
                                    <p:cond delay="0"/>
                                  </p:stCondLst>
                                  <p:childTnLst>
                                    <p:set>
                                      <p:cBhvr>
                                        <p:cTn id="40" dur="1" fill="hold">
                                          <p:stCondLst>
                                            <p:cond delay="0"/>
                                          </p:stCondLst>
                                        </p:cTn>
                                        <p:tgtEl>
                                          <p:spTgt spid="78"/>
                                        </p:tgtEl>
                                        <p:attrNameLst>
                                          <p:attrName>style.visibility</p:attrName>
                                        </p:attrNameLst>
                                      </p:cBhvr>
                                      <p:to>
                                        <p:strVal val="visible"/>
                                      </p:to>
                                    </p:set>
                                    <p:animEffect transition="in" filter="wipe(down)">
                                      <p:cBhvr>
                                        <p:cTn id="41" dur="500"/>
                                        <p:tgtEl>
                                          <p:spTgt spid="78"/>
                                        </p:tgtEl>
                                      </p:cBhvr>
                                    </p:animEffect>
                                  </p:childTnLst>
                                </p:cTn>
                              </p:par>
                            </p:childTnLst>
                          </p:cTn>
                        </p:par>
                        <p:par>
                          <p:cTn id="42" fill="hold">
                            <p:stCondLst>
                              <p:cond delay="4000"/>
                            </p:stCondLst>
                            <p:childTnLst>
                              <p:par>
                                <p:cTn id="43" presetID="22" presetClass="entr" presetSubtype="2" fill="hold" nodeType="afterEffect">
                                  <p:stCondLst>
                                    <p:cond delay="0"/>
                                  </p:stCondLst>
                                  <p:childTnLst>
                                    <p:set>
                                      <p:cBhvr>
                                        <p:cTn id="44" dur="1" fill="hold">
                                          <p:stCondLst>
                                            <p:cond delay="0"/>
                                          </p:stCondLst>
                                        </p:cTn>
                                        <p:tgtEl>
                                          <p:spTgt spid="76"/>
                                        </p:tgtEl>
                                        <p:attrNameLst>
                                          <p:attrName>style.visibility</p:attrName>
                                        </p:attrNameLst>
                                      </p:cBhvr>
                                      <p:to>
                                        <p:strVal val="visible"/>
                                      </p:to>
                                    </p:set>
                                    <p:animEffect transition="in" filter="wipe(right)">
                                      <p:cBhvr>
                                        <p:cTn id="45" dur="500"/>
                                        <p:tgtEl>
                                          <p:spTgt spid="76"/>
                                        </p:tgtEl>
                                      </p:cBhvr>
                                    </p:animEffect>
                                  </p:childTnLst>
                                </p:cTn>
                              </p:par>
                            </p:childTnLst>
                          </p:cTn>
                        </p:par>
                        <p:par>
                          <p:cTn id="46" fill="hold">
                            <p:stCondLst>
                              <p:cond delay="4500"/>
                            </p:stCondLst>
                            <p:childTnLst>
                              <p:par>
                                <p:cTn id="47" presetID="22" presetClass="entr" presetSubtype="4" fill="hold" nodeType="afterEffect">
                                  <p:stCondLst>
                                    <p:cond delay="0"/>
                                  </p:stCondLst>
                                  <p:childTnLst>
                                    <p:set>
                                      <p:cBhvr>
                                        <p:cTn id="48" dur="1" fill="hold">
                                          <p:stCondLst>
                                            <p:cond delay="0"/>
                                          </p:stCondLst>
                                        </p:cTn>
                                        <p:tgtEl>
                                          <p:spTgt spid="81"/>
                                        </p:tgtEl>
                                        <p:attrNameLst>
                                          <p:attrName>style.visibility</p:attrName>
                                        </p:attrNameLst>
                                      </p:cBhvr>
                                      <p:to>
                                        <p:strVal val="visible"/>
                                      </p:to>
                                    </p:set>
                                    <p:animEffect transition="in" filter="wipe(down)">
                                      <p:cBhvr>
                                        <p:cTn id="49" dur="500"/>
                                        <p:tgtEl>
                                          <p:spTgt spid="81"/>
                                        </p:tgtEl>
                                      </p:cBhvr>
                                    </p:animEffect>
                                  </p:childTnLst>
                                </p:cTn>
                              </p:par>
                            </p:childTnLst>
                          </p:cTn>
                        </p:par>
                        <p:par>
                          <p:cTn id="50" fill="hold">
                            <p:stCondLst>
                              <p:cond delay="5000"/>
                            </p:stCondLst>
                            <p:childTnLst>
                              <p:par>
                                <p:cTn id="51" presetID="10" presetClass="entr" presetSubtype="0" fill="hold" grpId="0" nodeType="afterEffect">
                                  <p:stCondLst>
                                    <p:cond delay="0"/>
                                  </p:stCondLst>
                                  <p:childTnLst>
                                    <p:set>
                                      <p:cBhvr>
                                        <p:cTn id="52" dur="1" fill="hold">
                                          <p:stCondLst>
                                            <p:cond delay="0"/>
                                          </p:stCondLst>
                                        </p:cTn>
                                        <p:tgtEl>
                                          <p:spTgt spid="24"/>
                                        </p:tgtEl>
                                        <p:attrNameLst>
                                          <p:attrName>style.visibility</p:attrName>
                                        </p:attrNameLst>
                                      </p:cBhvr>
                                      <p:to>
                                        <p:strVal val="visible"/>
                                      </p:to>
                                    </p:set>
                                    <p:animEffect transition="in" filter="fade">
                                      <p:cBhvr>
                                        <p:cTn id="53"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3" grpId="0" animBg="1"/>
      <p:bldP spid="45" grpId="0" animBg="1"/>
      <p:bldP spid="46" grpId="0" animBg="1"/>
      <p:bldP spid="47" grpId="0" animBg="1"/>
      <p:bldP spid="48" grpId="0" animBg="1"/>
      <p:bldP spid="49"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7719" y="383335"/>
            <a:ext cx="8652294" cy="1143000"/>
          </a:xfrm>
        </p:spPr>
        <p:txBody>
          <a:bodyPr/>
          <a:lstStyle/>
          <a:p>
            <a:r>
              <a:rPr lang="en-US" dirty="0"/>
              <a:t>Limitation of contractual remedies</a:t>
            </a:r>
          </a:p>
        </p:txBody>
      </p:sp>
      <p:sp>
        <p:nvSpPr>
          <p:cNvPr id="3" name="Content Placeholder 2"/>
          <p:cNvSpPr>
            <a:spLocks noGrp="1"/>
          </p:cNvSpPr>
          <p:nvPr>
            <p:ph idx="1"/>
          </p:nvPr>
        </p:nvSpPr>
        <p:spPr>
          <a:xfrm>
            <a:off x="1076577" y="1617600"/>
            <a:ext cx="10515600" cy="4351338"/>
          </a:xfrm>
        </p:spPr>
        <p:txBody>
          <a:bodyPr/>
          <a:lstStyle/>
          <a:p>
            <a:r>
              <a:rPr lang="en-US" b="1" dirty="0"/>
              <a:t>Party assents to general terms</a:t>
            </a:r>
          </a:p>
          <a:p>
            <a:pPr lvl="1"/>
            <a:r>
              <a:rPr lang="en-US" dirty="0"/>
              <a:t>Company A sells accounting software to a law firm, company B, including general license terms</a:t>
            </a:r>
          </a:p>
          <a:p>
            <a:r>
              <a:rPr lang="en-US" b="1" dirty="0"/>
              <a:t>These terms contain a limitation of available remedies</a:t>
            </a:r>
          </a:p>
          <a:p>
            <a:pPr lvl="1" algn="just"/>
            <a:r>
              <a:rPr lang="en-US" sz="1600" dirty="0"/>
              <a:t>“In case of non satisfactory performance of the </a:t>
            </a:r>
            <a:r>
              <a:rPr lang="en-US" sz="1600" dirty="0" err="1"/>
              <a:t>programme</a:t>
            </a:r>
            <a:r>
              <a:rPr lang="en-US" sz="1600" dirty="0"/>
              <a:t>, the licensee may, by written notice to be served not later than 14 days from the date hereof, request the licensor to replace the </a:t>
            </a:r>
            <a:r>
              <a:rPr lang="en-US" sz="1600" dirty="0" err="1"/>
              <a:t>programme</a:t>
            </a:r>
            <a:r>
              <a:rPr lang="en-US" sz="1600" dirty="0"/>
              <a:t> with a new version of the </a:t>
            </a:r>
            <a:r>
              <a:rPr lang="en-US" sz="1600" dirty="0" err="1"/>
              <a:t>programme</a:t>
            </a:r>
            <a:r>
              <a:rPr lang="en-US" sz="1600" dirty="0"/>
              <a:t>, which is currently under development and shall become available 6 months after the date hereof. Any other remedies are excluded.”</a:t>
            </a:r>
          </a:p>
          <a:p>
            <a:r>
              <a:rPr lang="en-US" b="1" dirty="0"/>
              <a:t>One party wishes to exercise other remedies</a:t>
            </a:r>
          </a:p>
          <a:p>
            <a:pPr lvl="1"/>
            <a:r>
              <a:rPr lang="en-US" dirty="0"/>
              <a:t>For example, software doesn’t work, and B can’t wait for the replacement. It wants to have its damages reimbursed.</a:t>
            </a:r>
            <a:endParaRPr lang="sr-Latn-ME" dirty="0"/>
          </a:p>
        </p:txBody>
      </p:sp>
      <p:sp>
        <p:nvSpPr>
          <p:cNvPr id="4" name="Rectangle 3">
            <a:extLst>
              <a:ext uri="{FF2B5EF4-FFF2-40B4-BE49-F238E27FC236}">
                <a16:creationId xmlns:a16="http://schemas.microsoft.com/office/drawing/2014/main" id="{88AF7CAC-5A29-4771-B9FA-19EAAEB69723}"/>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4F47B443-F6B3-4B7A-B755-AA9F71AF5098}"/>
              </a:ext>
            </a:extLst>
          </p:cNvPr>
          <p:cNvSpPr/>
          <p:nvPr/>
        </p:nvSpPr>
        <p:spPr>
          <a:xfrm rot="16200000">
            <a:off x="4785414" y="5547413"/>
            <a:ext cx="589173"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5659A92F-4E12-43F7-A726-344AB585B4B7}"/>
              </a:ext>
            </a:extLst>
          </p:cNvPr>
          <p:cNvSpPr/>
          <p:nvPr/>
        </p:nvSpPr>
        <p:spPr>
          <a:xfrm rot="16200000">
            <a:off x="6680724" y="5410723"/>
            <a:ext cx="862554"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C129000B-C7B4-4B0F-9ECB-65C3B1684D63}"/>
              </a:ext>
            </a:extLst>
          </p:cNvPr>
          <p:cNvSpPr/>
          <p:nvPr/>
        </p:nvSpPr>
        <p:spPr>
          <a:xfrm rot="16200000">
            <a:off x="8594272" y="5292271"/>
            <a:ext cx="1099457"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B7F9D232-8B92-4A34-8E50-5E5319FB0AAF}"/>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05228AFC-8EA1-4701-9A95-55C73465FB43}"/>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61D6CE30-0E12-478B-B279-B2B196972F21}"/>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17A66DC7-D0FB-4D69-89A6-6D686956DDB5}"/>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612FB39E-779B-4A8B-90F6-F6E6311903BC}"/>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65AA3F5B-3CCD-4D06-A101-1E5D15BEB457}"/>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8B2EE5CE-33FE-4823-90D7-4BCB254E32F2}"/>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4F2C53E7-0030-418F-A021-E0491BD406D5}"/>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6791081B-67CA-46D8-A37B-0A55DEA372C0}"/>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A420090A-6969-4B17-9172-8AF6C2F365DD}"/>
              </a:ext>
            </a:extLst>
          </p:cNvPr>
          <p:cNvCxnSpPr/>
          <p:nvPr/>
        </p:nvCxnSpPr>
        <p:spPr>
          <a:xfrm>
            <a:off x="669303" y="5812915"/>
            <a:ext cx="4402317"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895D9E4-6CCF-47BD-917D-9C647DFCE215}"/>
              </a:ext>
            </a:extLst>
          </p:cNvPr>
          <p:cNvCxnSpPr>
            <a:cxnSpLocks/>
          </p:cNvCxnSpPr>
          <p:nvPr/>
        </p:nvCxnSpPr>
        <p:spPr>
          <a:xfrm>
            <a:off x="5071620" y="5812915"/>
            <a:ext cx="9763" cy="455911"/>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1ED87D2-6291-4B72-99AB-D0B122F6E1EA}"/>
              </a:ext>
            </a:extLst>
          </p:cNvPr>
          <p:cNvCxnSpPr>
            <a:cxnSpLocks/>
          </p:cNvCxnSpPr>
          <p:nvPr/>
        </p:nvCxnSpPr>
        <p:spPr>
          <a:xfrm>
            <a:off x="669303" y="838986"/>
            <a:ext cx="0" cy="4973929"/>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30644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additive="base">
                                        <p:cTn id="16" dur="500" fill="hold"/>
                                        <p:tgtEl>
                                          <p:spTgt spid="4"/>
                                        </p:tgtEl>
                                        <p:attrNameLst>
                                          <p:attrName>ppt_x</p:attrName>
                                        </p:attrNameLst>
                                      </p:cBhvr>
                                      <p:tavLst>
                                        <p:tav tm="0">
                                          <p:val>
                                            <p:strVal val="#ppt_x"/>
                                          </p:val>
                                        </p:tav>
                                        <p:tav tm="100000">
                                          <p:val>
                                            <p:strVal val="#ppt_x"/>
                                          </p:val>
                                        </p:tav>
                                      </p:tavLst>
                                    </p:anim>
                                    <p:anim calcmode="lin" valueType="num">
                                      <p:cBhvr additive="base">
                                        <p:cTn id="17" dur="500" fill="hold"/>
                                        <p:tgtEl>
                                          <p:spTgt spid="4"/>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additive="base">
                                        <p:cTn id="26" dur="500" fill="hold"/>
                                        <p:tgtEl>
                                          <p:spTgt spid="6"/>
                                        </p:tgtEl>
                                        <p:attrNameLst>
                                          <p:attrName>ppt_x</p:attrName>
                                        </p:attrNameLst>
                                      </p:cBhvr>
                                      <p:tavLst>
                                        <p:tav tm="0">
                                          <p:val>
                                            <p:strVal val="#ppt_x"/>
                                          </p:val>
                                        </p:tav>
                                        <p:tav tm="100000">
                                          <p:val>
                                            <p:strVal val="#ppt_x"/>
                                          </p:val>
                                        </p:tav>
                                      </p:tavLst>
                                    </p:anim>
                                    <p:anim calcmode="lin" valueType="num">
                                      <p:cBhvr additive="base">
                                        <p:cTn id="27" dur="500" fill="hold"/>
                                        <p:tgtEl>
                                          <p:spTgt spid="6"/>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ppt_x"/>
                                          </p:val>
                                        </p:tav>
                                        <p:tav tm="100000">
                                          <p:val>
                                            <p:strVal val="#ppt_x"/>
                                          </p:val>
                                        </p:tav>
                                      </p:tavLst>
                                    </p:anim>
                                    <p:anim calcmode="lin" valueType="num">
                                      <p:cBhvr additive="base">
                                        <p:cTn id="32" dur="500" fill="hold"/>
                                        <p:tgtEl>
                                          <p:spTgt spid="7"/>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ntr" presetSubtype="4" fill="hold" grpId="0" nodeType="after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additive="base">
                                        <p:cTn id="36" dur="500" fill="hold"/>
                                        <p:tgtEl>
                                          <p:spTgt spid="8"/>
                                        </p:tgtEl>
                                        <p:attrNameLst>
                                          <p:attrName>ppt_x</p:attrName>
                                        </p:attrNameLst>
                                      </p:cBhvr>
                                      <p:tavLst>
                                        <p:tav tm="0">
                                          <p:val>
                                            <p:strVal val="#ppt_x"/>
                                          </p:val>
                                        </p:tav>
                                        <p:tav tm="100000">
                                          <p:val>
                                            <p:strVal val="#ppt_x"/>
                                          </p:val>
                                        </p:tav>
                                      </p:tavLst>
                                    </p:anim>
                                    <p:anim calcmode="lin" valueType="num">
                                      <p:cBhvr additive="base">
                                        <p:cTn id="37" dur="500" fill="hold"/>
                                        <p:tgtEl>
                                          <p:spTgt spid="8"/>
                                        </p:tgtEl>
                                        <p:attrNameLst>
                                          <p:attrName>ppt_y</p:attrName>
                                        </p:attrNameLst>
                                      </p:cBhvr>
                                      <p:tavLst>
                                        <p:tav tm="0">
                                          <p:val>
                                            <p:strVal val="1+#ppt_h/2"/>
                                          </p:val>
                                        </p:tav>
                                        <p:tav tm="100000">
                                          <p:val>
                                            <p:strVal val="#ppt_y"/>
                                          </p:val>
                                        </p:tav>
                                      </p:tavLst>
                                    </p:anim>
                                  </p:childTnLst>
                                </p:cTn>
                              </p:par>
                            </p:childTnLst>
                          </p:cTn>
                        </p:par>
                        <p:par>
                          <p:cTn id="38" fill="hold">
                            <p:stCondLst>
                              <p:cond delay="3500"/>
                            </p:stCondLst>
                            <p:childTnLst>
                              <p:par>
                                <p:cTn id="39" presetID="22" presetClass="entr" presetSubtype="4" fill="hold" nodeType="after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wipe(down)">
                                      <p:cBhvr>
                                        <p:cTn id="41" dur="500"/>
                                        <p:tgtEl>
                                          <p:spTgt spid="18"/>
                                        </p:tgtEl>
                                      </p:cBhvr>
                                    </p:animEffect>
                                  </p:childTnLst>
                                </p:cTn>
                              </p:par>
                            </p:childTnLst>
                          </p:cTn>
                        </p:par>
                        <p:par>
                          <p:cTn id="42" fill="hold">
                            <p:stCondLst>
                              <p:cond delay="4000"/>
                            </p:stCondLst>
                            <p:childTnLst>
                              <p:par>
                                <p:cTn id="43" presetID="22" presetClass="entr" presetSubtype="2" fill="hold" nodeType="after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wipe(right)">
                                      <p:cBhvr>
                                        <p:cTn id="45" dur="500"/>
                                        <p:tgtEl>
                                          <p:spTgt spid="17"/>
                                        </p:tgtEl>
                                      </p:cBhvr>
                                    </p:animEffect>
                                  </p:childTnLst>
                                </p:cTn>
                              </p:par>
                            </p:childTnLst>
                          </p:cTn>
                        </p:par>
                        <p:par>
                          <p:cTn id="46" fill="hold">
                            <p:stCondLst>
                              <p:cond delay="4500"/>
                            </p:stCondLst>
                            <p:childTnLst>
                              <p:par>
                                <p:cTn id="47" presetID="22" presetClass="entr" presetSubtype="4" fill="hold" nodeType="after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wipe(down)">
                                      <p:cBhvr>
                                        <p:cTn id="49" dur="500"/>
                                        <p:tgtEl>
                                          <p:spTgt spid="19"/>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3">
                                            <p:txEl>
                                              <p:pRg st="0" end="0"/>
                                            </p:txEl>
                                          </p:spTgt>
                                        </p:tgtEl>
                                        <p:attrNameLst>
                                          <p:attrName>style.visibility</p:attrName>
                                        </p:attrNameLst>
                                      </p:cBhvr>
                                      <p:to>
                                        <p:strVal val="visible"/>
                                      </p:to>
                                    </p:set>
                                    <p:animEffect transition="in" filter="fade">
                                      <p:cBhvr>
                                        <p:cTn id="54" dur="500"/>
                                        <p:tgtEl>
                                          <p:spTgt spid="3">
                                            <p:txEl>
                                              <p:pRg st="0" end="0"/>
                                            </p:txEl>
                                          </p:spTgt>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
                                            <p:txEl>
                                              <p:pRg st="1" end="1"/>
                                            </p:txEl>
                                          </p:spTgt>
                                        </p:tgtEl>
                                        <p:attrNameLst>
                                          <p:attrName>style.visibility</p:attrName>
                                        </p:attrNameLst>
                                      </p:cBhvr>
                                      <p:to>
                                        <p:strVal val="visible"/>
                                      </p:to>
                                    </p:set>
                                    <p:animEffect transition="in" filter="fade">
                                      <p:cBhvr>
                                        <p:cTn id="57" dur="500"/>
                                        <p:tgtEl>
                                          <p:spTgt spid="3">
                                            <p:txEl>
                                              <p:pRg st="1" end="1"/>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2" end="2"/>
                                            </p:txEl>
                                          </p:spTgt>
                                        </p:tgtEl>
                                        <p:attrNameLst>
                                          <p:attrName>style.visibility</p:attrName>
                                        </p:attrNameLst>
                                      </p:cBhvr>
                                      <p:to>
                                        <p:strVal val="visible"/>
                                      </p:to>
                                    </p:set>
                                    <p:animEffect transition="in" filter="fade">
                                      <p:cBhvr>
                                        <p:cTn id="62" dur="500"/>
                                        <p:tgtEl>
                                          <p:spTgt spid="3">
                                            <p:txEl>
                                              <p:pRg st="2" end="2"/>
                                            </p:txEl>
                                          </p:spTgt>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3">
                                            <p:txEl>
                                              <p:pRg st="3" end="3"/>
                                            </p:txEl>
                                          </p:spTgt>
                                        </p:tgtEl>
                                        <p:attrNameLst>
                                          <p:attrName>style.visibility</p:attrName>
                                        </p:attrNameLst>
                                      </p:cBhvr>
                                      <p:to>
                                        <p:strVal val="visible"/>
                                      </p:to>
                                    </p:set>
                                    <p:animEffect transition="in" filter="fade">
                                      <p:cBhvr>
                                        <p:cTn id="65" dur="500"/>
                                        <p:tgtEl>
                                          <p:spTgt spid="3">
                                            <p:txEl>
                                              <p:pRg st="3" end="3"/>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3">
                                            <p:txEl>
                                              <p:pRg st="4" end="4"/>
                                            </p:txEl>
                                          </p:spTgt>
                                        </p:tgtEl>
                                        <p:attrNameLst>
                                          <p:attrName>style.visibility</p:attrName>
                                        </p:attrNameLst>
                                      </p:cBhvr>
                                      <p:to>
                                        <p:strVal val="visible"/>
                                      </p:to>
                                    </p:set>
                                    <p:animEffect transition="in" filter="fade">
                                      <p:cBhvr>
                                        <p:cTn id="70" dur="500"/>
                                        <p:tgtEl>
                                          <p:spTgt spid="3">
                                            <p:txEl>
                                              <p:pRg st="4" end="4"/>
                                            </p:txEl>
                                          </p:spTgt>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
                                            <p:txEl>
                                              <p:pRg st="5" end="5"/>
                                            </p:txEl>
                                          </p:spTgt>
                                        </p:tgtEl>
                                        <p:attrNameLst>
                                          <p:attrName>style.visibility</p:attrName>
                                        </p:attrNameLst>
                                      </p:cBhvr>
                                      <p:to>
                                        <p:strVal val="visible"/>
                                      </p:to>
                                    </p:set>
                                    <p:animEffect transition="in" filter="fade">
                                      <p:cBhvr>
                                        <p:cTn id="73"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5" grpId="0" animBg="1"/>
      <p:bldP spid="6" grpId="0" animBg="1"/>
      <p:bldP spid="7" grpId="0" animBg="1"/>
      <p:bldP spid="8" grpId="0" animBg="1"/>
      <p:bldP spid="9"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51290" y="331944"/>
            <a:ext cx="8652294" cy="1143000"/>
          </a:xfrm>
        </p:spPr>
        <p:txBody>
          <a:bodyPr/>
          <a:lstStyle/>
          <a:p>
            <a:r>
              <a:rPr lang="en-US" dirty="0"/>
              <a:t>Termination for immaterial breach</a:t>
            </a:r>
          </a:p>
        </p:txBody>
      </p:sp>
      <p:sp>
        <p:nvSpPr>
          <p:cNvPr id="3" name="Content Placeholder 2"/>
          <p:cNvSpPr>
            <a:spLocks noGrp="1"/>
          </p:cNvSpPr>
          <p:nvPr>
            <p:ph idx="1"/>
          </p:nvPr>
        </p:nvSpPr>
        <p:spPr>
          <a:xfrm>
            <a:off x="1431285" y="1579664"/>
            <a:ext cx="9329429" cy="4114800"/>
          </a:xfrm>
        </p:spPr>
        <p:txBody>
          <a:bodyPr>
            <a:normAutofit fontScale="92500" lnSpcReduction="10000"/>
          </a:bodyPr>
          <a:lstStyle/>
          <a:p>
            <a:r>
              <a:rPr lang="en-US" b="1" dirty="0"/>
              <a:t>Parties enter into a contract</a:t>
            </a:r>
          </a:p>
          <a:p>
            <a:pPr lvl="1"/>
            <a:r>
              <a:rPr lang="en-US" dirty="0"/>
              <a:t>Company B borrows the money from the bank, company A</a:t>
            </a:r>
          </a:p>
          <a:p>
            <a:r>
              <a:rPr lang="en-US" b="1" dirty="0"/>
              <a:t>Contract contains a list of “material provisions”; some of which are doubtfully material – giving rise to termination</a:t>
            </a:r>
          </a:p>
          <a:p>
            <a:pPr lvl="1"/>
            <a:r>
              <a:rPr lang="en-US" dirty="0"/>
              <a:t>B is obliged to repay the loan according to the agreed schedule, obtain consent for any major investment, divestment or reorganization; to submit quarterly financial reports 7 days after they are certified</a:t>
            </a:r>
          </a:p>
          <a:p>
            <a:pPr lvl="1"/>
            <a:r>
              <a:rPr lang="en-US" dirty="0"/>
              <a:t>Upon breach of any of these, A has the right to terminate the contract and B has to repay the loan in its entirety</a:t>
            </a:r>
          </a:p>
          <a:p>
            <a:r>
              <a:rPr lang="en-US" b="1" dirty="0"/>
              <a:t>One party terminates the contract on immaterial grounds</a:t>
            </a:r>
          </a:p>
          <a:p>
            <a:pPr lvl="1"/>
            <a:r>
              <a:rPr lang="en-US" dirty="0"/>
              <a:t>B has submitted its financial report 9 days after they’ve been certified</a:t>
            </a:r>
          </a:p>
          <a:p>
            <a:pPr lvl="1"/>
            <a:r>
              <a:rPr lang="en-US" dirty="0"/>
              <a:t>A wants to terminate (for other reasons)</a:t>
            </a:r>
          </a:p>
          <a:p>
            <a:pPr lvl="1"/>
            <a:endParaRPr lang="en-US" dirty="0"/>
          </a:p>
        </p:txBody>
      </p:sp>
      <p:sp>
        <p:nvSpPr>
          <p:cNvPr id="4" name="Rectangle 3">
            <a:extLst>
              <a:ext uri="{FF2B5EF4-FFF2-40B4-BE49-F238E27FC236}">
                <a16:creationId xmlns:a16="http://schemas.microsoft.com/office/drawing/2014/main" id="{F0914BD3-E057-483E-9DFF-7B0B928200F0}"/>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D479A4AC-DEAA-4527-85AF-BCAE18CC0167}"/>
              </a:ext>
            </a:extLst>
          </p:cNvPr>
          <p:cNvSpPr/>
          <p:nvPr/>
        </p:nvSpPr>
        <p:spPr>
          <a:xfrm rot="16200000">
            <a:off x="4785414" y="5547413"/>
            <a:ext cx="589173"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2918194F-F3C8-4570-B34E-F23E4A811AC9}"/>
              </a:ext>
            </a:extLst>
          </p:cNvPr>
          <p:cNvSpPr/>
          <p:nvPr/>
        </p:nvSpPr>
        <p:spPr>
          <a:xfrm rot="16200000">
            <a:off x="6680724" y="5410723"/>
            <a:ext cx="862554"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02730187-EE3E-4D17-9C05-AA9601BBDDDE}"/>
              </a:ext>
            </a:extLst>
          </p:cNvPr>
          <p:cNvSpPr/>
          <p:nvPr/>
        </p:nvSpPr>
        <p:spPr>
          <a:xfrm rot="16200000">
            <a:off x="8594272" y="5292271"/>
            <a:ext cx="1099457"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368B5698-83C2-40A3-83BA-3829F6D2596F}"/>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843D0A4B-0097-4093-A999-BDF6B52655C0}"/>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A56CCA09-D2D8-4732-89E3-AECCA53699A5}"/>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98A81794-6177-4252-8BE2-23B3A6A96CF5}"/>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CEF7822D-7241-4115-8DD8-10644334D938}"/>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97583E28-6CC9-4ACE-8D82-5B99F5A44D96}"/>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99699ACE-827B-4108-A6CB-9C02D2C911CB}"/>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A54B00AB-CDDA-4478-AE71-447AAE35A2FF}"/>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F9CDEB86-5694-409A-A876-1D43D3A1D523}"/>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EE0F69BB-2F84-4E8C-8167-E23A3CEC6895}"/>
              </a:ext>
            </a:extLst>
          </p:cNvPr>
          <p:cNvCxnSpPr/>
          <p:nvPr/>
        </p:nvCxnSpPr>
        <p:spPr>
          <a:xfrm>
            <a:off x="669303" y="5812915"/>
            <a:ext cx="4402317"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D647D66-0EFE-4CB4-A8C0-6A8D880D70F6}"/>
              </a:ext>
            </a:extLst>
          </p:cNvPr>
          <p:cNvCxnSpPr>
            <a:cxnSpLocks/>
          </p:cNvCxnSpPr>
          <p:nvPr/>
        </p:nvCxnSpPr>
        <p:spPr>
          <a:xfrm>
            <a:off x="5071620" y="5812915"/>
            <a:ext cx="9763" cy="455911"/>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CF6A98F2-CE18-4102-940E-1FF5CD91FD87}"/>
              </a:ext>
            </a:extLst>
          </p:cNvPr>
          <p:cNvCxnSpPr>
            <a:cxnSpLocks/>
          </p:cNvCxnSpPr>
          <p:nvPr/>
        </p:nvCxnSpPr>
        <p:spPr>
          <a:xfrm>
            <a:off x="669303" y="838986"/>
            <a:ext cx="0" cy="4973929"/>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53962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additive="base">
                                        <p:cTn id="16" dur="500" fill="hold"/>
                                        <p:tgtEl>
                                          <p:spTgt spid="4"/>
                                        </p:tgtEl>
                                        <p:attrNameLst>
                                          <p:attrName>ppt_x</p:attrName>
                                        </p:attrNameLst>
                                      </p:cBhvr>
                                      <p:tavLst>
                                        <p:tav tm="0">
                                          <p:val>
                                            <p:strVal val="#ppt_x"/>
                                          </p:val>
                                        </p:tav>
                                        <p:tav tm="100000">
                                          <p:val>
                                            <p:strVal val="#ppt_x"/>
                                          </p:val>
                                        </p:tav>
                                      </p:tavLst>
                                    </p:anim>
                                    <p:anim calcmode="lin" valueType="num">
                                      <p:cBhvr additive="base">
                                        <p:cTn id="17" dur="500" fill="hold"/>
                                        <p:tgtEl>
                                          <p:spTgt spid="4"/>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additive="base">
                                        <p:cTn id="26" dur="500" fill="hold"/>
                                        <p:tgtEl>
                                          <p:spTgt spid="6"/>
                                        </p:tgtEl>
                                        <p:attrNameLst>
                                          <p:attrName>ppt_x</p:attrName>
                                        </p:attrNameLst>
                                      </p:cBhvr>
                                      <p:tavLst>
                                        <p:tav tm="0">
                                          <p:val>
                                            <p:strVal val="#ppt_x"/>
                                          </p:val>
                                        </p:tav>
                                        <p:tav tm="100000">
                                          <p:val>
                                            <p:strVal val="#ppt_x"/>
                                          </p:val>
                                        </p:tav>
                                      </p:tavLst>
                                    </p:anim>
                                    <p:anim calcmode="lin" valueType="num">
                                      <p:cBhvr additive="base">
                                        <p:cTn id="27" dur="500" fill="hold"/>
                                        <p:tgtEl>
                                          <p:spTgt spid="6"/>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ppt_x"/>
                                          </p:val>
                                        </p:tav>
                                        <p:tav tm="100000">
                                          <p:val>
                                            <p:strVal val="#ppt_x"/>
                                          </p:val>
                                        </p:tav>
                                      </p:tavLst>
                                    </p:anim>
                                    <p:anim calcmode="lin" valueType="num">
                                      <p:cBhvr additive="base">
                                        <p:cTn id="32" dur="500" fill="hold"/>
                                        <p:tgtEl>
                                          <p:spTgt spid="7"/>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ntr" presetSubtype="4" fill="hold" grpId="0" nodeType="after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additive="base">
                                        <p:cTn id="36" dur="500" fill="hold"/>
                                        <p:tgtEl>
                                          <p:spTgt spid="8"/>
                                        </p:tgtEl>
                                        <p:attrNameLst>
                                          <p:attrName>ppt_x</p:attrName>
                                        </p:attrNameLst>
                                      </p:cBhvr>
                                      <p:tavLst>
                                        <p:tav tm="0">
                                          <p:val>
                                            <p:strVal val="#ppt_x"/>
                                          </p:val>
                                        </p:tav>
                                        <p:tav tm="100000">
                                          <p:val>
                                            <p:strVal val="#ppt_x"/>
                                          </p:val>
                                        </p:tav>
                                      </p:tavLst>
                                    </p:anim>
                                    <p:anim calcmode="lin" valueType="num">
                                      <p:cBhvr additive="base">
                                        <p:cTn id="37" dur="500" fill="hold"/>
                                        <p:tgtEl>
                                          <p:spTgt spid="8"/>
                                        </p:tgtEl>
                                        <p:attrNameLst>
                                          <p:attrName>ppt_y</p:attrName>
                                        </p:attrNameLst>
                                      </p:cBhvr>
                                      <p:tavLst>
                                        <p:tav tm="0">
                                          <p:val>
                                            <p:strVal val="1+#ppt_h/2"/>
                                          </p:val>
                                        </p:tav>
                                        <p:tav tm="100000">
                                          <p:val>
                                            <p:strVal val="#ppt_y"/>
                                          </p:val>
                                        </p:tav>
                                      </p:tavLst>
                                    </p:anim>
                                  </p:childTnLst>
                                </p:cTn>
                              </p:par>
                            </p:childTnLst>
                          </p:cTn>
                        </p:par>
                        <p:par>
                          <p:cTn id="38" fill="hold">
                            <p:stCondLst>
                              <p:cond delay="3500"/>
                            </p:stCondLst>
                            <p:childTnLst>
                              <p:par>
                                <p:cTn id="39" presetID="22" presetClass="entr" presetSubtype="4" fill="hold" nodeType="after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wipe(down)">
                                      <p:cBhvr>
                                        <p:cTn id="41" dur="500"/>
                                        <p:tgtEl>
                                          <p:spTgt spid="18"/>
                                        </p:tgtEl>
                                      </p:cBhvr>
                                    </p:animEffect>
                                  </p:childTnLst>
                                </p:cTn>
                              </p:par>
                            </p:childTnLst>
                          </p:cTn>
                        </p:par>
                        <p:par>
                          <p:cTn id="42" fill="hold">
                            <p:stCondLst>
                              <p:cond delay="4000"/>
                            </p:stCondLst>
                            <p:childTnLst>
                              <p:par>
                                <p:cTn id="43" presetID="22" presetClass="entr" presetSubtype="2" fill="hold" nodeType="after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wipe(right)">
                                      <p:cBhvr>
                                        <p:cTn id="45" dur="500"/>
                                        <p:tgtEl>
                                          <p:spTgt spid="17"/>
                                        </p:tgtEl>
                                      </p:cBhvr>
                                    </p:animEffect>
                                  </p:childTnLst>
                                </p:cTn>
                              </p:par>
                            </p:childTnLst>
                          </p:cTn>
                        </p:par>
                        <p:par>
                          <p:cTn id="46" fill="hold">
                            <p:stCondLst>
                              <p:cond delay="4500"/>
                            </p:stCondLst>
                            <p:childTnLst>
                              <p:par>
                                <p:cTn id="47" presetID="22" presetClass="entr" presetSubtype="4" fill="hold" nodeType="after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wipe(down)">
                                      <p:cBhvr>
                                        <p:cTn id="49" dur="500"/>
                                        <p:tgtEl>
                                          <p:spTgt spid="19"/>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3">
                                            <p:txEl>
                                              <p:pRg st="0" end="0"/>
                                            </p:txEl>
                                          </p:spTgt>
                                        </p:tgtEl>
                                        <p:attrNameLst>
                                          <p:attrName>style.visibility</p:attrName>
                                        </p:attrNameLst>
                                      </p:cBhvr>
                                      <p:to>
                                        <p:strVal val="visible"/>
                                      </p:to>
                                    </p:set>
                                    <p:animEffect transition="in" filter="fade">
                                      <p:cBhvr>
                                        <p:cTn id="54" dur="500"/>
                                        <p:tgtEl>
                                          <p:spTgt spid="3">
                                            <p:txEl>
                                              <p:pRg st="0" end="0"/>
                                            </p:txEl>
                                          </p:spTgt>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
                                            <p:txEl>
                                              <p:pRg st="1" end="1"/>
                                            </p:txEl>
                                          </p:spTgt>
                                        </p:tgtEl>
                                        <p:attrNameLst>
                                          <p:attrName>style.visibility</p:attrName>
                                        </p:attrNameLst>
                                      </p:cBhvr>
                                      <p:to>
                                        <p:strVal val="visible"/>
                                      </p:to>
                                    </p:set>
                                    <p:animEffect transition="in" filter="fade">
                                      <p:cBhvr>
                                        <p:cTn id="57" dur="500"/>
                                        <p:tgtEl>
                                          <p:spTgt spid="3">
                                            <p:txEl>
                                              <p:pRg st="1" end="1"/>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2" end="2"/>
                                            </p:txEl>
                                          </p:spTgt>
                                        </p:tgtEl>
                                        <p:attrNameLst>
                                          <p:attrName>style.visibility</p:attrName>
                                        </p:attrNameLst>
                                      </p:cBhvr>
                                      <p:to>
                                        <p:strVal val="visible"/>
                                      </p:to>
                                    </p:set>
                                    <p:animEffect transition="in" filter="fade">
                                      <p:cBhvr>
                                        <p:cTn id="62" dur="500"/>
                                        <p:tgtEl>
                                          <p:spTgt spid="3">
                                            <p:txEl>
                                              <p:pRg st="2" end="2"/>
                                            </p:txEl>
                                          </p:spTgt>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3">
                                            <p:txEl>
                                              <p:pRg st="3" end="3"/>
                                            </p:txEl>
                                          </p:spTgt>
                                        </p:tgtEl>
                                        <p:attrNameLst>
                                          <p:attrName>style.visibility</p:attrName>
                                        </p:attrNameLst>
                                      </p:cBhvr>
                                      <p:to>
                                        <p:strVal val="visible"/>
                                      </p:to>
                                    </p:set>
                                    <p:animEffect transition="in" filter="fade">
                                      <p:cBhvr>
                                        <p:cTn id="65" dur="500"/>
                                        <p:tgtEl>
                                          <p:spTgt spid="3">
                                            <p:txEl>
                                              <p:pRg st="3" end="3"/>
                                            </p:txEl>
                                          </p:spTgt>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
                                            <p:txEl>
                                              <p:pRg st="4" end="4"/>
                                            </p:txEl>
                                          </p:spTgt>
                                        </p:tgtEl>
                                        <p:attrNameLst>
                                          <p:attrName>style.visibility</p:attrName>
                                        </p:attrNameLst>
                                      </p:cBhvr>
                                      <p:to>
                                        <p:strVal val="visible"/>
                                      </p:to>
                                    </p:set>
                                    <p:animEffect transition="in" filter="fade">
                                      <p:cBhvr>
                                        <p:cTn id="68" dur="500"/>
                                        <p:tgtEl>
                                          <p:spTgt spid="3">
                                            <p:txEl>
                                              <p:pRg st="4" end="4"/>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3">
                                            <p:txEl>
                                              <p:pRg st="5" end="5"/>
                                            </p:txEl>
                                          </p:spTgt>
                                        </p:tgtEl>
                                        <p:attrNameLst>
                                          <p:attrName>style.visibility</p:attrName>
                                        </p:attrNameLst>
                                      </p:cBhvr>
                                      <p:to>
                                        <p:strVal val="visible"/>
                                      </p:to>
                                    </p:set>
                                    <p:animEffect transition="in" filter="fade">
                                      <p:cBhvr>
                                        <p:cTn id="73" dur="500"/>
                                        <p:tgtEl>
                                          <p:spTgt spid="3">
                                            <p:txEl>
                                              <p:pRg st="5" end="5"/>
                                            </p:txEl>
                                          </p:spTgt>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
                                            <p:txEl>
                                              <p:pRg st="6" end="6"/>
                                            </p:txEl>
                                          </p:spTgt>
                                        </p:tgtEl>
                                        <p:attrNameLst>
                                          <p:attrName>style.visibility</p:attrName>
                                        </p:attrNameLst>
                                      </p:cBhvr>
                                      <p:to>
                                        <p:strVal val="visible"/>
                                      </p:to>
                                    </p:set>
                                    <p:animEffect transition="in" filter="fade">
                                      <p:cBhvr>
                                        <p:cTn id="76" dur="500"/>
                                        <p:tgtEl>
                                          <p:spTgt spid="3">
                                            <p:txEl>
                                              <p:pRg st="6" end="6"/>
                                            </p:txEl>
                                          </p:spTgt>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
                                            <p:txEl>
                                              <p:pRg st="7" end="7"/>
                                            </p:txEl>
                                          </p:spTgt>
                                        </p:tgtEl>
                                        <p:attrNameLst>
                                          <p:attrName>style.visibility</p:attrName>
                                        </p:attrNameLst>
                                      </p:cBhvr>
                                      <p:to>
                                        <p:strVal val="visible"/>
                                      </p:to>
                                    </p:set>
                                    <p:animEffect transition="in" filter="fade">
                                      <p:cBhvr>
                                        <p:cTn id="79"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5" grpId="0" animBg="1"/>
      <p:bldP spid="6" grpId="0" animBg="1"/>
      <p:bldP spid="7" grpId="0" animBg="1"/>
      <p:bldP spid="8" grpId="0" animBg="1"/>
      <p:bldP spid="9"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96938" y="838200"/>
            <a:ext cx="8652294" cy="1143000"/>
          </a:xfrm>
        </p:spPr>
        <p:txBody>
          <a:bodyPr/>
          <a:lstStyle/>
          <a:p>
            <a:r>
              <a:rPr lang="en-US" dirty="0"/>
              <a:t>Termination for immaterial breach</a:t>
            </a:r>
          </a:p>
        </p:txBody>
      </p:sp>
      <p:sp>
        <p:nvSpPr>
          <p:cNvPr id="3" name="Content Placeholder 2"/>
          <p:cNvSpPr>
            <a:spLocks noGrp="1"/>
          </p:cNvSpPr>
          <p:nvPr>
            <p:ph idx="1"/>
          </p:nvPr>
        </p:nvSpPr>
        <p:spPr>
          <a:xfrm>
            <a:off x="2514600" y="1899557"/>
            <a:ext cx="7696200" cy="4114800"/>
          </a:xfrm>
        </p:spPr>
        <p:txBody>
          <a:bodyPr/>
          <a:lstStyle/>
          <a:p>
            <a:pPr lvl="1" algn="just"/>
            <a:r>
              <a:rPr lang="en-US" dirty="0"/>
              <a:t>“Upon any breach whatsoever of any of the Borrower’s obligations listed in section [xx] hereof, the Lender shall be entitled to terminate this agreement with immediate effect and to require the immediate repayment of all outstanding amounts. If the breach is capable of being remedied, and the Borrower offers to remedy such breach, the lender shall be entitled, in its absolute discretion, to refuse such offer of remedy and to proceed to termination of this agreement with immediate effect.”</a:t>
            </a:r>
          </a:p>
        </p:txBody>
      </p:sp>
      <p:sp>
        <p:nvSpPr>
          <p:cNvPr id="4" name="Rectangle 3">
            <a:extLst>
              <a:ext uri="{FF2B5EF4-FFF2-40B4-BE49-F238E27FC236}">
                <a16:creationId xmlns:a16="http://schemas.microsoft.com/office/drawing/2014/main" id="{707A81D8-D87F-4C22-A620-BD123EEA11D7}"/>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7BC3E641-8378-40BE-8594-84AB0142CE9B}"/>
              </a:ext>
            </a:extLst>
          </p:cNvPr>
          <p:cNvSpPr/>
          <p:nvPr/>
        </p:nvSpPr>
        <p:spPr>
          <a:xfrm rot="16200000">
            <a:off x="4785414" y="5547413"/>
            <a:ext cx="589173"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B9F2A166-0524-4297-A1AD-07CA642159C3}"/>
              </a:ext>
            </a:extLst>
          </p:cNvPr>
          <p:cNvSpPr/>
          <p:nvPr/>
        </p:nvSpPr>
        <p:spPr>
          <a:xfrm rot="16200000">
            <a:off x="6680724" y="5410723"/>
            <a:ext cx="862554"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8BB69C9A-26F0-4D10-A54F-D7744DF8FDF1}"/>
              </a:ext>
            </a:extLst>
          </p:cNvPr>
          <p:cNvSpPr/>
          <p:nvPr/>
        </p:nvSpPr>
        <p:spPr>
          <a:xfrm rot="16200000">
            <a:off x="8594272" y="5292271"/>
            <a:ext cx="1099457"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EF4B5B0F-395D-4D53-BC09-403AC28B5448}"/>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0CAC7101-3ECD-4706-B387-4367DADE0A2A}"/>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9E3DC081-5C25-45ED-BE29-33CD2809C030}"/>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946BF4B0-DC7C-4040-B18C-C1BB206BA877}"/>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9109D874-9287-4CC1-AE66-5DFC95169310}"/>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663977EC-742E-4A3C-A3BC-7B942349BD1A}"/>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925873EB-D52E-4FAC-80C7-6678419DE639}"/>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76318704-C7EE-4879-BD94-B4C3BF38C310}"/>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AB42E5C7-D39F-4F0F-82B3-AE99ABEF6F1A}"/>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712979C3-0B0A-4B98-B3A0-09555940A69D}"/>
              </a:ext>
            </a:extLst>
          </p:cNvPr>
          <p:cNvCxnSpPr/>
          <p:nvPr/>
        </p:nvCxnSpPr>
        <p:spPr>
          <a:xfrm>
            <a:off x="669303" y="5812915"/>
            <a:ext cx="4402317"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27855AB-36BE-40DC-A5FB-6FE698EDDE0C}"/>
              </a:ext>
            </a:extLst>
          </p:cNvPr>
          <p:cNvCxnSpPr>
            <a:cxnSpLocks/>
          </p:cNvCxnSpPr>
          <p:nvPr/>
        </p:nvCxnSpPr>
        <p:spPr>
          <a:xfrm>
            <a:off x="5071620" y="5812915"/>
            <a:ext cx="9763" cy="455911"/>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0821B4B-0D7A-4314-B4BE-D797CE05B333}"/>
              </a:ext>
            </a:extLst>
          </p:cNvPr>
          <p:cNvCxnSpPr>
            <a:cxnSpLocks/>
          </p:cNvCxnSpPr>
          <p:nvPr/>
        </p:nvCxnSpPr>
        <p:spPr>
          <a:xfrm>
            <a:off x="669303" y="838986"/>
            <a:ext cx="0" cy="4973929"/>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76445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additive="base">
                                        <p:cTn id="16" dur="500" fill="hold"/>
                                        <p:tgtEl>
                                          <p:spTgt spid="4"/>
                                        </p:tgtEl>
                                        <p:attrNameLst>
                                          <p:attrName>ppt_x</p:attrName>
                                        </p:attrNameLst>
                                      </p:cBhvr>
                                      <p:tavLst>
                                        <p:tav tm="0">
                                          <p:val>
                                            <p:strVal val="#ppt_x"/>
                                          </p:val>
                                        </p:tav>
                                        <p:tav tm="100000">
                                          <p:val>
                                            <p:strVal val="#ppt_x"/>
                                          </p:val>
                                        </p:tav>
                                      </p:tavLst>
                                    </p:anim>
                                    <p:anim calcmode="lin" valueType="num">
                                      <p:cBhvr additive="base">
                                        <p:cTn id="17" dur="500" fill="hold"/>
                                        <p:tgtEl>
                                          <p:spTgt spid="4"/>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additive="base">
                                        <p:cTn id="26" dur="500" fill="hold"/>
                                        <p:tgtEl>
                                          <p:spTgt spid="6"/>
                                        </p:tgtEl>
                                        <p:attrNameLst>
                                          <p:attrName>ppt_x</p:attrName>
                                        </p:attrNameLst>
                                      </p:cBhvr>
                                      <p:tavLst>
                                        <p:tav tm="0">
                                          <p:val>
                                            <p:strVal val="#ppt_x"/>
                                          </p:val>
                                        </p:tav>
                                        <p:tav tm="100000">
                                          <p:val>
                                            <p:strVal val="#ppt_x"/>
                                          </p:val>
                                        </p:tav>
                                      </p:tavLst>
                                    </p:anim>
                                    <p:anim calcmode="lin" valueType="num">
                                      <p:cBhvr additive="base">
                                        <p:cTn id="27" dur="500" fill="hold"/>
                                        <p:tgtEl>
                                          <p:spTgt spid="6"/>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ppt_x"/>
                                          </p:val>
                                        </p:tav>
                                        <p:tav tm="100000">
                                          <p:val>
                                            <p:strVal val="#ppt_x"/>
                                          </p:val>
                                        </p:tav>
                                      </p:tavLst>
                                    </p:anim>
                                    <p:anim calcmode="lin" valueType="num">
                                      <p:cBhvr additive="base">
                                        <p:cTn id="32" dur="500" fill="hold"/>
                                        <p:tgtEl>
                                          <p:spTgt spid="7"/>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ntr" presetSubtype="4" fill="hold" grpId="0" nodeType="after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additive="base">
                                        <p:cTn id="36" dur="500" fill="hold"/>
                                        <p:tgtEl>
                                          <p:spTgt spid="8"/>
                                        </p:tgtEl>
                                        <p:attrNameLst>
                                          <p:attrName>ppt_x</p:attrName>
                                        </p:attrNameLst>
                                      </p:cBhvr>
                                      <p:tavLst>
                                        <p:tav tm="0">
                                          <p:val>
                                            <p:strVal val="#ppt_x"/>
                                          </p:val>
                                        </p:tav>
                                        <p:tav tm="100000">
                                          <p:val>
                                            <p:strVal val="#ppt_x"/>
                                          </p:val>
                                        </p:tav>
                                      </p:tavLst>
                                    </p:anim>
                                    <p:anim calcmode="lin" valueType="num">
                                      <p:cBhvr additive="base">
                                        <p:cTn id="37" dur="500" fill="hold"/>
                                        <p:tgtEl>
                                          <p:spTgt spid="8"/>
                                        </p:tgtEl>
                                        <p:attrNameLst>
                                          <p:attrName>ppt_y</p:attrName>
                                        </p:attrNameLst>
                                      </p:cBhvr>
                                      <p:tavLst>
                                        <p:tav tm="0">
                                          <p:val>
                                            <p:strVal val="1+#ppt_h/2"/>
                                          </p:val>
                                        </p:tav>
                                        <p:tav tm="100000">
                                          <p:val>
                                            <p:strVal val="#ppt_y"/>
                                          </p:val>
                                        </p:tav>
                                      </p:tavLst>
                                    </p:anim>
                                  </p:childTnLst>
                                </p:cTn>
                              </p:par>
                            </p:childTnLst>
                          </p:cTn>
                        </p:par>
                        <p:par>
                          <p:cTn id="38" fill="hold">
                            <p:stCondLst>
                              <p:cond delay="3500"/>
                            </p:stCondLst>
                            <p:childTnLst>
                              <p:par>
                                <p:cTn id="39" presetID="22" presetClass="entr" presetSubtype="4" fill="hold" nodeType="after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wipe(down)">
                                      <p:cBhvr>
                                        <p:cTn id="41" dur="500"/>
                                        <p:tgtEl>
                                          <p:spTgt spid="18"/>
                                        </p:tgtEl>
                                      </p:cBhvr>
                                    </p:animEffect>
                                  </p:childTnLst>
                                </p:cTn>
                              </p:par>
                            </p:childTnLst>
                          </p:cTn>
                        </p:par>
                        <p:par>
                          <p:cTn id="42" fill="hold">
                            <p:stCondLst>
                              <p:cond delay="4000"/>
                            </p:stCondLst>
                            <p:childTnLst>
                              <p:par>
                                <p:cTn id="43" presetID="22" presetClass="entr" presetSubtype="2" fill="hold" nodeType="after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wipe(right)">
                                      <p:cBhvr>
                                        <p:cTn id="45" dur="500"/>
                                        <p:tgtEl>
                                          <p:spTgt spid="17"/>
                                        </p:tgtEl>
                                      </p:cBhvr>
                                    </p:animEffect>
                                  </p:childTnLst>
                                </p:cTn>
                              </p:par>
                            </p:childTnLst>
                          </p:cTn>
                        </p:par>
                        <p:par>
                          <p:cTn id="46" fill="hold">
                            <p:stCondLst>
                              <p:cond delay="4500"/>
                            </p:stCondLst>
                            <p:childTnLst>
                              <p:par>
                                <p:cTn id="47" presetID="22" presetClass="entr" presetSubtype="4" fill="hold" nodeType="after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wipe(down)">
                                      <p:cBhvr>
                                        <p:cTn id="4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7070" y="102426"/>
            <a:ext cx="8652294" cy="1143000"/>
          </a:xfrm>
        </p:spPr>
        <p:txBody>
          <a:bodyPr/>
          <a:lstStyle/>
          <a:p>
            <a:r>
              <a:rPr lang="en-US" dirty="0"/>
              <a:t>Determination of price</a:t>
            </a:r>
          </a:p>
        </p:txBody>
      </p:sp>
      <p:sp>
        <p:nvSpPr>
          <p:cNvPr id="3" name="Content Placeholder 2"/>
          <p:cNvSpPr>
            <a:spLocks noGrp="1"/>
          </p:cNvSpPr>
          <p:nvPr>
            <p:ph idx="1"/>
          </p:nvPr>
        </p:nvSpPr>
        <p:spPr>
          <a:xfrm>
            <a:off x="1016000" y="1353501"/>
            <a:ext cx="10515600" cy="4351338"/>
          </a:xfrm>
        </p:spPr>
        <p:txBody>
          <a:bodyPr/>
          <a:lstStyle/>
          <a:p>
            <a:r>
              <a:rPr lang="en-US" b="1" dirty="0"/>
              <a:t>Parties enter into the contract which provides for one way to determine the price</a:t>
            </a:r>
          </a:p>
          <a:p>
            <a:pPr lvl="1"/>
            <a:r>
              <a:rPr lang="en-US" dirty="0"/>
              <a:t>Company A sells electricity to company B</a:t>
            </a:r>
          </a:p>
          <a:p>
            <a:pPr lvl="1"/>
            <a:r>
              <a:rPr lang="en-US" dirty="0"/>
              <a:t>They take the square area as the grounds for forming the price, after long negotiations, to make sure that neither would gain or lose</a:t>
            </a:r>
          </a:p>
          <a:p>
            <a:r>
              <a:rPr lang="en-US" b="1" dirty="0"/>
              <a:t>Upon obtaining new information, one party wishes to renegotiate the mechanism</a:t>
            </a:r>
          </a:p>
          <a:p>
            <a:pPr lvl="1"/>
            <a:r>
              <a:rPr lang="en-US" dirty="0"/>
              <a:t>Electricity company installs meters that measure actual consumption, determines that they’ve been losing money all along; they wish to re-negotiate</a:t>
            </a:r>
          </a:p>
          <a:p>
            <a:pPr lvl="1"/>
            <a:r>
              <a:rPr lang="en-US" dirty="0"/>
              <a:t>Contract contains no terms on re-negotiations</a:t>
            </a:r>
          </a:p>
        </p:txBody>
      </p:sp>
      <p:sp>
        <p:nvSpPr>
          <p:cNvPr id="4" name="Rectangle 3">
            <a:extLst>
              <a:ext uri="{FF2B5EF4-FFF2-40B4-BE49-F238E27FC236}">
                <a16:creationId xmlns:a16="http://schemas.microsoft.com/office/drawing/2014/main" id="{7C83A220-1255-4A78-8D5D-F91E72C73A14}"/>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0651D14A-770A-49CA-9DA9-19BE2A422EC7}"/>
              </a:ext>
            </a:extLst>
          </p:cNvPr>
          <p:cNvSpPr/>
          <p:nvPr/>
        </p:nvSpPr>
        <p:spPr>
          <a:xfrm rot="16200000">
            <a:off x="4785414" y="5547413"/>
            <a:ext cx="589173"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C50561B0-E7E3-40E4-A059-286FE23BD783}"/>
              </a:ext>
            </a:extLst>
          </p:cNvPr>
          <p:cNvSpPr/>
          <p:nvPr/>
        </p:nvSpPr>
        <p:spPr>
          <a:xfrm rot="16200000">
            <a:off x="6680724" y="5410723"/>
            <a:ext cx="862554"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733094D5-7EF5-4A81-87BB-56F1210A6EA0}"/>
              </a:ext>
            </a:extLst>
          </p:cNvPr>
          <p:cNvSpPr/>
          <p:nvPr/>
        </p:nvSpPr>
        <p:spPr>
          <a:xfrm rot="16200000">
            <a:off x="8594272" y="5292271"/>
            <a:ext cx="1099457"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8CBCE600-9DDB-469B-851E-1ED833AEE43E}"/>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6A8F9293-2482-4EBB-B45E-FB084946D026}"/>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856B59C2-47F0-4C5E-9D1B-170A87C97A6A}"/>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CB016F56-E0B5-4506-A7B0-49CA8B4AB4BF}"/>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9A6D067F-20E7-4D17-9A1B-5B14114DC760}"/>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52391CBB-4AEB-4890-9920-D3AC5A48BE09}"/>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22854210-B773-41A8-B266-23C2EC91189D}"/>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338867E5-3826-4D99-9E87-4A6D6ED1BBA2}"/>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FF5C654C-7B5A-4CCE-A460-50130278AE95}"/>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F19D0BC3-8A09-44F5-9112-C11FEE0BB80B}"/>
              </a:ext>
            </a:extLst>
          </p:cNvPr>
          <p:cNvCxnSpPr/>
          <p:nvPr/>
        </p:nvCxnSpPr>
        <p:spPr>
          <a:xfrm>
            <a:off x="669303" y="5812915"/>
            <a:ext cx="4402317"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F7CA78F-920F-4AEC-B9B1-A45BC2819F7D}"/>
              </a:ext>
            </a:extLst>
          </p:cNvPr>
          <p:cNvCxnSpPr>
            <a:cxnSpLocks/>
          </p:cNvCxnSpPr>
          <p:nvPr/>
        </p:nvCxnSpPr>
        <p:spPr>
          <a:xfrm>
            <a:off x="5071620" y="5812915"/>
            <a:ext cx="9763" cy="455911"/>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54E3930-979D-455D-9C6F-750C58B6D09C}"/>
              </a:ext>
            </a:extLst>
          </p:cNvPr>
          <p:cNvCxnSpPr>
            <a:cxnSpLocks/>
          </p:cNvCxnSpPr>
          <p:nvPr/>
        </p:nvCxnSpPr>
        <p:spPr>
          <a:xfrm>
            <a:off x="669303" y="838986"/>
            <a:ext cx="0" cy="4973929"/>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6362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additive="base">
                                        <p:cTn id="16" dur="500" fill="hold"/>
                                        <p:tgtEl>
                                          <p:spTgt spid="4"/>
                                        </p:tgtEl>
                                        <p:attrNameLst>
                                          <p:attrName>ppt_x</p:attrName>
                                        </p:attrNameLst>
                                      </p:cBhvr>
                                      <p:tavLst>
                                        <p:tav tm="0">
                                          <p:val>
                                            <p:strVal val="#ppt_x"/>
                                          </p:val>
                                        </p:tav>
                                        <p:tav tm="100000">
                                          <p:val>
                                            <p:strVal val="#ppt_x"/>
                                          </p:val>
                                        </p:tav>
                                      </p:tavLst>
                                    </p:anim>
                                    <p:anim calcmode="lin" valueType="num">
                                      <p:cBhvr additive="base">
                                        <p:cTn id="17" dur="500" fill="hold"/>
                                        <p:tgtEl>
                                          <p:spTgt spid="4"/>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additive="base">
                                        <p:cTn id="26" dur="500" fill="hold"/>
                                        <p:tgtEl>
                                          <p:spTgt spid="6"/>
                                        </p:tgtEl>
                                        <p:attrNameLst>
                                          <p:attrName>ppt_x</p:attrName>
                                        </p:attrNameLst>
                                      </p:cBhvr>
                                      <p:tavLst>
                                        <p:tav tm="0">
                                          <p:val>
                                            <p:strVal val="#ppt_x"/>
                                          </p:val>
                                        </p:tav>
                                        <p:tav tm="100000">
                                          <p:val>
                                            <p:strVal val="#ppt_x"/>
                                          </p:val>
                                        </p:tav>
                                      </p:tavLst>
                                    </p:anim>
                                    <p:anim calcmode="lin" valueType="num">
                                      <p:cBhvr additive="base">
                                        <p:cTn id="27" dur="500" fill="hold"/>
                                        <p:tgtEl>
                                          <p:spTgt spid="6"/>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ppt_x"/>
                                          </p:val>
                                        </p:tav>
                                        <p:tav tm="100000">
                                          <p:val>
                                            <p:strVal val="#ppt_x"/>
                                          </p:val>
                                        </p:tav>
                                      </p:tavLst>
                                    </p:anim>
                                    <p:anim calcmode="lin" valueType="num">
                                      <p:cBhvr additive="base">
                                        <p:cTn id="32" dur="500" fill="hold"/>
                                        <p:tgtEl>
                                          <p:spTgt spid="7"/>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ntr" presetSubtype="4" fill="hold" grpId="0" nodeType="after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additive="base">
                                        <p:cTn id="36" dur="500" fill="hold"/>
                                        <p:tgtEl>
                                          <p:spTgt spid="8"/>
                                        </p:tgtEl>
                                        <p:attrNameLst>
                                          <p:attrName>ppt_x</p:attrName>
                                        </p:attrNameLst>
                                      </p:cBhvr>
                                      <p:tavLst>
                                        <p:tav tm="0">
                                          <p:val>
                                            <p:strVal val="#ppt_x"/>
                                          </p:val>
                                        </p:tav>
                                        <p:tav tm="100000">
                                          <p:val>
                                            <p:strVal val="#ppt_x"/>
                                          </p:val>
                                        </p:tav>
                                      </p:tavLst>
                                    </p:anim>
                                    <p:anim calcmode="lin" valueType="num">
                                      <p:cBhvr additive="base">
                                        <p:cTn id="37" dur="500" fill="hold"/>
                                        <p:tgtEl>
                                          <p:spTgt spid="8"/>
                                        </p:tgtEl>
                                        <p:attrNameLst>
                                          <p:attrName>ppt_y</p:attrName>
                                        </p:attrNameLst>
                                      </p:cBhvr>
                                      <p:tavLst>
                                        <p:tav tm="0">
                                          <p:val>
                                            <p:strVal val="1+#ppt_h/2"/>
                                          </p:val>
                                        </p:tav>
                                        <p:tav tm="100000">
                                          <p:val>
                                            <p:strVal val="#ppt_y"/>
                                          </p:val>
                                        </p:tav>
                                      </p:tavLst>
                                    </p:anim>
                                  </p:childTnLst>
                                </p:cTn>
                              </p:par>
                            </p:childTnLst>
                          </p:cTn>
                        </p:par>
                        <p:par>
                          <p:cTn id="38" fill="hold">
                            <p:stCondLst>
                              <p:cond delay="3500"/>
                            </p:stCondLst>
                            <p:childTnLst>
                              <p:par>
                                <p:cTn id="39" presetID="22" presetClass="entr" presetSubtype="4" fill="hold" nodeType="after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wipe(down)">
                                      <p:cBhvr>
                                        <p:cTn id="41" dur="500"/>
                                        <p:tgtEl>
                                          <p:spTgt spid="18"/>
                                        </p:tgtEl>
                                      </p:cBhvr>
                                    </p:animEffect>
                                  </p:childTnLst>
                                </p:cTn>
                              </p:par>
                            </p:childTnLst>
                          </p:cTn>
                        </p:par>
                        <p:par>
                          <p:cTn id="42" fill="hold">
                            <p:stCondLst>
                              <p:cond delay="4000"/>
                            </p:stCondLst>
                            <p:childTnLst>
                              <p:par>
                                <p:cTn id="43" presetID="22" presetClass="entr" presetSubtype="2" fill="hold" nodeType="after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wipe(right)">
                                      <p:cBhvr>
                                        <p:cTn id="45" dur="500"/>
                                        <p:tgtEl>
                                          <p:spTgt spid="17"/>
                                        </p:tgtEl>
                                      </p:cBhvr>
                                    </p:animEffect>
                                  </p:childTnLst>
                                </p:cTn>
                              </p:par>
                            </p:childTnLst>
                          </p:cTn>
                        </p:par>
                        <p:par>
                          <p:cTn id="46" fill="hold">
                            <p:stCondLst>
                              <p:cond delay="4500"/>
                            </p:stCondLst>
                            <p:childTnLst>
                              <p:par>
                                <p:cTn id="47" presetID="22" presetClass="entr" presetSubtype="4" fill="hold" nodeType="after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wipe(down)">
                                      <p:cBhvr>
                                        <p:cTn id="49" dur="500"/>
                                        <p:tgtEl>
                                          <p:spTgt spid="19"/>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3">
                                            <p:txEl>
                                              <p:pRg st="0" end="0"/>
                                            </p:txEl>
                                          </p:spTgt>
                                        </p:tgtEl>
                                        <p:attrNameLst>
                                          <p:attrName>style.visibility</p:attrName>
                                        </p:attrNameLst>
                                      </p:cBhvr>
                                      <p:to>
                                        <p:strVal val="visible"/>
                                      </p:to>
                                    </p:set>
                                    <p:animEffect transition="in" filter="fade">
                                      <p:cBhvr>
                                        <p:cTn id="54" dur="500"/>
                                        <p:tgtEl>
                                          <p:spTgt spid="3">
                                            <p:txEl>
                                              <p:pRg st="0" end="0"/>
                                            </p:txEl>
                                          </p:spTgt>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
                                            <p:txEl>
                                              <p:pRg st="1" end="1"/>
                                            </p:txEl>
                                          </p:spTgt>
                                        </p:tgtEl>
                                        <p:attrNameLst>
                                          <p:attrName>style.visibility</p:attrName>
                                        </p:attrNameLst>
                                      </p:cBhvr>
                                      <p:to>
                                        <p:strVal val="visible"/>
                                      </p:to>
                                    </p:set>
                                    <p:animEffect transition="in" filter="fade">
                                      <p:cBhvr>
                                        <p:cTn id="57" dur="500"/>
                                        <p:tgtEl>
                                          <p:spTgt spid="3">
                                            <p:txEl>
                                              <p:pRg st="1" end="1"/>
                                            </p:txEl>
                                          </p:spTgt>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
                                            <p:txEl>
                                              <p:pRg st="2" end="2"/>
                                            </p:txEl>
                                          </p:spTgt>
                                        </p:tgtEl>
                                        <p:attrNameLst>
                                          <p:attrName>style.visibility</p:attrName>
                                        </p:attrNameLst>
                                      </p:cBhvr>
                                      <p:to>
                                        <p:strVal val="visible"/>
                                      </p:to>
                                    </p:set>
                                    <p:animEffect transition="in" filter="fade">
                                      <p:cBhvr>
                                        <p:cTn id="60" dur="500"/>
                                        <p:tgtEl>
                                          <p:spTgt spid="3">
                                            <p:txEl>
                                              <p:pRg st="2" end="2"/>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3">
                                            <p:txEl>
                                              <p:pRg st="3" end="3"/>
                                            </p:txEl>
                                          </p:spTgt>
                                        </p:tgtEl>
                                        <p:attrNameLst>
                                          <p:attrName>style.visibility</p:attrName>
                                        </p:attrNameLst>
                                      </p:cBhvr>
                                      <p:to>
                                        <p:strVal val="visible"/>
                                      </p:to>
                                    </p:set>
                                    <p:animEffect transition="in" filter="fade">
                                      <p:cBhvr>
                                        <p:cTn id="65" dur="500"/>
                                        <p:tgtEl>
                                          <p:spTgt spid="3">
                                            <p:txEl>
                                              <p:pRg st="3" end="3"/>
                                            </p:txEl>
                                          </p:spTgt>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
                                            <p:txEl>
                                              <p:pRg st="4" end="4"/>
                                            </p:txEl>
                                          </p:spTgt>
                                        </p:tgtEl>
                                        <p:attrNameLst>
                                          <p:attrName>style.visibility</p:attrName>
                                        </p:attrNameLst>
                                      </p:cBhvr>
                                      <p:to>
                                        <p:strVal val="visible"/>
                                      </p:to>
                                    </p:set>
                                    <p:animEffect transition="in" filter="fade">
                                      <p:cBhvr>
                                        <p:cTn id="68" dur="500"/>
                                        <p:tgtEl>
                                          <p:spTgt spid="3">
                                            <p:txEl>
                                              <p:pRg st="4" end="4"/>
                                            </p:txEl>
                                          </p:spTgt>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
                                            <p:txEl>
                                              <p:pRg st="5" end="5"/>
                                            </p:txEl>
                                          </p:spTgt>
                                        </p:tgtEl>
                                        <p:attrNameLst>
                                          <p:attrName>style.visibility</p:attrName>
                                        </p:attrNameLst>
                                      </p:cBhvr>
                                      <p:to>
                                        <p:strVal val="visible"/>
                                      </p:to>
                                    </p:set>
                                    <p:animEffect transition="in" filter="fade">
                                      <p:cBhvr>
                                        <p:cTn id="71"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5" grpId="0" animBg="1"/>
      <p:bldP spid="6" grpId="0" animBg="1"/>
      <p:bldP spid="7" grpId="0" animBg="1"/>
      <p:bldP spid="8" grpId="0" animBg="1"/>
      <p:bldP spid="9"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7705" y="187237"/>
            <a:ext cx="8652294" cy="1143000"/>
          </a:xfrm>
        </p:spPr>
        <p:txBody>
          <a:bodyPr/>
          <a:lstStyle/>
          <a:p>
            <a:r>
              <a:rPr lang="en-US" dirty="0"/>
              <a:t>Norwegian law</a:t>
            </a:r>
          </a:p>
        </p:txBody>
      </p:sp>
      <p:sp>
        <p:nvSpPr>
          <p:cNvPr id="3" name="Content Placeholder 2"/>
          <p:cNvSpPr>
            <a:spLocks noGrp="1"/>
          </p:cNvSpPr>
          <p:nvPr>
            <p:ph idx="1"/>
          </p:nvPr>
        </p:nvSpPr>
        <p:spPr>
          <a:xfrm>
            <a:off x="1507704" y="1327526"/>
            <a:ext cx="9845839" cy="4114800"/>
          </a:xfrm>
        </p:spPr>
        <p:txBody>
          <a:bodyPr>
            <a:normAutofit fontScale="92500" lnSpcReduction="20000"/>
          </a:bodyPr>
          <a:lstStyle/>
          <a:p>
            <a:r>
              <a:rPr lang="en-US" dirty="0"/>
              <a:t>Interpreter may question whether the terms have been agreed upon</a:t>
            </a:r>
          </a:p>
          <a:p>
            <a:pPr lvl="1"/>
            <a:r>
              <a:rPr lang="en-US" dirty="0"/>
              <a:t>Terms of general provisions generally applied in a rather restrictive way</a:t>
            </a:r>
          </a:p>
          <a:p>
            <a:r>
              <a:rPr lang="en-US" dirty="0"/>
              <a:t>S/he can assume that the terms are agreed on, but set them aside or modify them if he finds the content unreasonable</a:t>
            </a:r>
          </a:p>
          <a:p>
            <a:pPr lvl="1"/>
            <a:r>
              <a:rPr lang="en-US" dirty="0"/>
              <a:t>§36 (1983): a judge has the authority to set aside or to modify a contractual provision, if its enforcement would be unfair or against fair dealing</a:t>
            </a:r>
          </a:p>
          <a:p>
            <a:pPr lvl="1"/>
            <a:r>
              <a:rPr lang="en-US" dirty="0"/>
              <a:t>Applies to individually negotiated terms as well</a:t>
            </a:r>
          </a:p>
          <a:p>
            <a:pPr lvl="1"/>
            <a:r>
              <a:rPr lang="en-US" dirty="0"/>
              <a:t>Judge can take into consideration, among other things, among other things, the remaining content of the contract, </a:t>
            </a:r>
            <a:r>
              <a:rPr lang="en-US" i="1" dirty="0"/>
              <a:t>the position of the parties</a:t>
            </a:r>
            <a:r>
              <a:rPr lang="en-US" dirty="0"/>
              <a:t>, the circumstances at the moment of entering into the contract, subsequent circumstances. </a:t>
            </a:r>
          </a:p>
          <a:p>
            <a:pPr lvl="1"/>
            <a:r>
              <a:rPr lang="en-US" dirty="0"/>
              <a:t>Exception: “agreed documents” – standard contracts between associations in certain branches of business</a:t>
            </a:r>
          </a:p>
        </p:txBody>
      </p:sp>
      <p:sp>
        <p:nvSpPr>
          <p:cNvPr id="4" name="Rectangle 3">
            <a:extLst>
              <a:ext uri="{FF2B5EF4-FFF2-40B4-BE49-F238E27FC236}">
                <a16:creationId xmlns:a16="http://schemas.microsoft.com/office/drawing/2014/main" id="{61165FD6-FEC9-4DB6-988A-A6DF89A34685}"/>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5F4B7A07-FF24-46C9-AC17-34C8A6530324}"/>
              </a:ext>
            </a:extLst>
          </p:cNvPr>
          <p:cNvSpPr/>
          <p:nvPr/>
        </p:nvSpPr>
        <p:spPr>
          <a:xfrm rot="16200000">
            <a:off x="4785414" y="5547413"/>
            <a:ext cx="589173"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4DCA8BB6-20A6-455C-BEDB-0AEDC53AAAB5}"/>
              </a:ext>
            </a:extLst>
          </p:cNvPr>
          <p:cNvSpPr/>
          <p:nvPr/>
        </p:nvSpPr>
        <p:spPr>
          <a:xfrm rot="16200000">
            <a:off x="6680724" y="5410723"/>
            <a:ext cx="862554"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2ABAD42D-963F-449A-8771-12AF61BDCA92}"/>
              </a:ext>
            </a:extLst>
          </p:cNvPr>
          <p:cNvSpPr/>
          <p:nvPr/>
        </p:nvSpPr>
        <p:spPr>
          <a:xfrm rot="16200000">
            <a:off x="8594272" y="5292271"/>
            <a:ext cx="1099457"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58F8653B-98BD-4904-9459-EA178FDC77A4}"/>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8C06B280-E652-468F-BAE1-CCB2154A7552}"/>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DFAE390B-8586-440A-9F01-52DB72618973}"/>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659D88F6-B8B9-4BBD-9F58-7C8A2ED49055}"/>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7D058318-89E8-466A-80C7-072F29213A92}"/>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DF712574-257D-4DFD-890A-7CB37310193A}"/>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2EA159A5-1F86-4117-91F8-EA0FA8DF5366}"/>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7395D822-AC57-4ABC-9EEF-34864F3CF8CD}"/>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B19AD5EC-5121-4683-94DF-26282549D7FA}"/>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AD9F6235-702A-40A6-817C-A23D53B438BF}"/>
              </a:ext>
            </a:extLst>
          </p:cNvPr>
          <p:cNvCxnSpPr/>
          <p:nvPr/>
        </p:nvCxnSpPr>
        <p:spPr>
          <a:xfrm>
            <a:off x="669303" y="5812915"/>
            <a:ext cx="4402317"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32C03D74-F332-4DFA-BB88-098BF79DAA7C}"/>
              </a:ext>
            </a:extLst>
          </p:cNvPr>
          <p:cNvCxnSpPr>
            <a:cxnSpLocks/>
          </p:cNvCxnSpPr>
          <p:nvPr/>
        </p:nvCxnSpPr>
        <p:spPr>
          <a:xfrm>
            <a:off x="5071620" y="5812915"/>
            <a:ext cx="9763" cy="455911"/>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64A37B19-06BF-49CC-B872-18E160178EF6}"/>
              </a:ext>
            </a:extLst>
          </p:cNvPr>
          <p:cNvCxnSpPr>
            <a:cxnSpLocks/>
          </p:cNvCxnSpPr>
          <p:nvPr/>
        </p:nvCxnSpPr>
        <p:spPr>
          <a:xfrm>
            <a:off x="669303" y="838986"/>
            <a:ext cx="0" cy="4973929"/>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8251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additive="base">
                                        <p:cTn id="16" dur="500" fill="hold"/>
                                        <p:tgtEl>
                                          <p:spTgt spid="4"/>
                                        </p:tgtEl>
                                        <p:attrNameLst>
                                          <p:attrName>ppt_x</p:attrName>
                                        </p:attrNameLst>
                                      </p:cBhvr>
                                      <p:tavLst>
                                        <p:tav tm="0">
                                          <p:val>
                                            <p:strVal val="#ppt_x"/>
                                          </p:val>
                                        </p:tav>
                                        <p:tav tm="100000">
                                          <p:val>
                                            <p:strVal val="#ppt_x"/>
                                          </p:val>
                                        </p:tav>
                                      </p:tavLst>
                                    </p:anim>
                                    <p:anim calcmode="lin" valueType="num">
                                      <p:cBhvr additive="base">
                                        <p:cTn id="17" dur="500" fill="hold"/>
                                        <p:tgtEl>
                                          <p:spTgt spid="4"/>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additive="base">
                                        <p:cTn id="26" dur="500" fill="hold"/>
                                        <p:tgtEl>
                                          <p:spTgt spid="6"/>
                                        </p:tgtEl>
                                        <p:attrNameLst>
                                          <p:attrName>ppt_x</p:attrName>
                                        </p:attrNameLst>
                                      </p:cBhvr>
                                      <p:tavLst>
                                        <p:tav tm="0">
                                          <p:val>
                                            <p:strVal val="#ppt_x"/>
                                          </p:val>
                                        </p:tav>
                                        <p:tav tm="100000">
                                          <p:val>
                                            <p:strVal val="#ppt_x"/>
                                          </p:val>
                                        </p:tav>
                                      </p:tavLst>
                                    </p:anim>
                                    <p:anim calcmode="lin" valueType="num">
                                      <p:cBhvr additive="base">
                                        <p:cTn id="27" dur="500" fill="hold"/>
                                        <p:tgtEl>
                                          <p:spTgt spid="6"/>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ppt_x"/>
                                          </p:val>
                                        </p:tav>
                                        <p:tav tm="100000">
                                          <p:val>
                                            <p:strVal val="#ppt_x"/>
                                          </p:val>
                                        </p:tav>
                                      </p:tavLst>
                                    </p:anim>
                                    <p:anim calcmode="lin" valueType="num">
                                      <p:cBhvr additive="base">
                                        <p:cTn id="32" dur="500" fill="hold"/>
                                        <p:tgtEl>
                                          <p:spTgt spid="7"/>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ntr" presetSubtype="4" fill="hold" grpId="0" nodeType="after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additive="base">
                                        <p:cTn id="36" dur="500" fill="hold"/>
                                        <p:tgtEl>
                                          <p:spTgt spid="8"/>
                                        </p:tgtEl>
                                        <p:attrNameLst>
                                          <p:attrName>ppt_x</p:attrName>
                                        </p:attrNameLst>
                                      </p:cBhvr>
                                      <p:tavLst>
                                        <p:tav tm="0">
                                          <p:val>
                                            <p:strVal val="#ppt_x"/>
                                          </p:val>
                                        </p:tav>
                                        <p:tav tm="100000">
                                          <p:val>
                                            <p:strVal val="#ppt_x"/>
                                          </p:val>
                                        </p:tav>
                                      </p:tavLst>
                                    </p:anim>
                                    <p:anim calcmode="lin" valueType="num">
                                      <p:cBhvr additive="base">
                                        <p:cTn id="37" dur="500" fill="hold"/>
                                        <p:tgtEl>
                                          <p:spTgt spid="8"/>
                                        </p:tgtEl>
                                        <p:attrNameLst>
                                          <p:attrName>ppt_y</p:attrName>
                                        </p:attrNameLst>
                                      </p:cBhvr>
                                      <p:tavLst>
                                        <p:tav tm="0">
                                          <p:val>
                                            <p:strVal val="1+#ppt_h/2"/>
                                          </p:val>
                                        </p:tav>
                                        <p:tav tm="100000">
                                          <p:val>
                                            <p:strVal val="#ppt_y"/>
                                          </p:val>
                                        </p:tav>
                                      </p:tavLst>
                                    </p:anim>
                                  </p:childTnLst>
                                </p:cTn>
                              </p:par>
                            </p:childTnLst>
                          </p:cTn>
                        </p:par>
                        <p:par>
                          <p:cTn id="38" fill="hold">
                            <p:stCondLst>
                              <p:cond delay="3500"/>
                            </p:stCondLst>
                            <p:childTnLst>
                              <p:par>
                                <p:cTn id="39" presetID="22" presetClass="entr" presetSubtype="4" fill="hold" nodeType="after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wipe(down)">
                                      <p:cBhvr>
                                        <p:cTn id="41" dur="500"/>
                                        <p:tgtEl>
                                          <p:spTgt spid="18"/>
                                        </p:tgtEl>
                                      </p:cBhvr>
                                    </p:animEffect>
                                  </p:childTnLst>
                                </p:cTn>
                              </p:par>
                            </p:childTnLst>
                          </p:cTn>
                        </p:par>
                        <p:par>
                          <p:cTn id="42" fill="hold">
                            <p:stCondLst>
                              <p:cond delay="4000"/>
                            </p:stCondLst>
                            <p:childTnLst>
                              <p:par>
                                <p:cTn id="43" presetID="22" presetClass="entr" presetSubtype="2" fill="hold" nodeType="after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wipe(right)">
                                      <p:cBhvr>
                                        <p:cTn id="45" dur="500"/>
                                        <p:tgtEl>
                                          <p:spTgt spid="17"/>
                                        </p:tgtEl>
                                      </p:cBhvr>
                                    </p:animEffect>
                                  </p:childTnLst>
                                </p:cTn>
                              </p:par>
                            </p:childTnLst>
                          </p:cTn>
                        </p:par>
                        <p:par>
                          <p:cTn id="46" fill="hold">
                            <p:stCondLst>
                              <p:cond delay="4500"/>
                            </p:stCondLst>
                            <p:childTnLst>
                              <p:par>
                                <p:cTn id="47" presetID="22" presetClass="entr" presetSubtype="4" fill="hold" nodeType="after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wipe(down)">
                                      <p:cBhvr>
                                        <p:cTn id="4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8614" y="265557"/>
            <a:ext cx="8652294" cy="1143000"/>
          </a:xfrm>
        </p:spPr>
        <p:txBody>
          <a:bodyPr/>
          <a:lstStyle/>
          <a:p>
            <a:r>
              <a:rPr lang="en-US" dirty="0"/>
              <a:t>German law</a:t>
            </a:r>
          </a:p>
        </p:txBody>
      </p:sp>
      <p:sp>
        <p:nvSpPr>
          <p:cNvPr id="3" name="Content Placeholder 2"/>
          <p:cNvSpPr>
            <a:spLocks noGrp="1"/>
          </p:cNvSpPr>
          <p:nvPr>
            <p:ph idx="1"/>
          </p:nvPr>
        </p:nvSpPr>
        <p:spPr>
          <a:xfrm>
            <a:off x="1656660" y="1407698"/>
            <a:ext cx="9520209" cy="4114800"/>
          </a:xfrm>
        </p:spPr>
        <p:txBody>
          <a:bodyPr>
            <a:normAutofit fontScale="92500" lnSpcReduction="20000"/>
          </a:bodyPr>
          <a:lstStyle/>
          <a:p>
            <a:r>
              <a:rPr lang="en-US" dirty="0"/>
              <a:t>Interpreter may question whether the terms have been agreed upon</a:t>
            </a:r>
          </a:p>
          <a:p>
            <a:pPr lvl="1"/>
            <a:r>
              <a:rPr lang="en-US" dirty="0"/>
              <a:t> §305 c BGB: provisions contained in general conditions are not to be deemed a part of the agreement if, according to the circumstances, they are so unusual, that the party accepting the conditions cannot be expected to have taken them into account. In case of uncertainty, interpretation in favor of the party that has not drafted the conditions.</a:t>
            </a:r>
          </a:p>
          <a:p>
            <a:r>
              <a:rPr lang="en-US" dirty="0"/>
              <a:t>Direct control of content</a:t>
            </a:r>
          </a:p>
          <a:p>
            <a:pPr lvl="1"/>
            <a:r>
              <a:rPr lang="en-US" dirty="0"/>
              <a:t>§307 BGB a condition is unenforceable, if it unduly and against the principle of good faith negatively affects the party that has not drafted it. A condition may also fall within the scope of this rule if it is not sufficiently clear and understandable. </a:t>
            </a:r>
          </a:p>
          <a:p>
            <a:pPr lvl="1"/>
            <a:r>
              <a:rPr lang="en-US" dirty="0"/>
              <a:t>An undue prejudice against good faith is (in case of uncertainty) to be presumed, if the condition does not conform to the principles underlying the rules of law that it is derogating from.</a:t>
            </a:r>
          </a:p>
        </p:txBody>
      </p:sp>
      <p:sp>
        <p:nvSpPr>
          <p:cNvPr id="4" name="Rectangle 3">
            <a:extLst>
              <a:ext uri="{FF2B5EF4-FFF2-40B4-BE49-F238E27FC236}">
                <a16:creationId xmlns:a16="http://schemas.microsoft.com/office/drawing/2014/main" id="{02F47EBC-36DC-4FE0-A10A-74818929B976}"/>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0FEAA1F5-24BC-4352-A682-B2FAC8C5CFB1}"/>
              </a:ext>
            </a:extLst>
          </p:cNvPr>
          <p:cNvSpPr/>
          <p:nvPr/>
        </p:nvSpPr>
        <p:spPr>
          <a:xfrm rot="16200000">
            <a:off x="4785414" y="5547413"/>
            <a:ext cx="589173"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0069F689-6A3C-48BB-A496-99B6DEB8E55C}"/>
              </a:ext>
            </a:extLst>
          </p:cNvPr>
          <p:cNvSpPr/>
          <p:nvPr/>
        </p:nvSpPr>
        <p:spPr>
          <a:xfrm rot="16200000">
            <a:off x="6680724" y="5410723"/>
            <a:ext cx="862554"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85A5E7B0-27D1-42C7-8A63-7164B2A86DE9}"/>
              </a:ext>
            </a:extLst>
          </p:cNvPr>
          <p:cNvSpPr/>
          <p:nvPr/>
        </p:nvSpPr>
        <p:spPr>
          <a:xfrm rot="16200000">
            <a:off x="8594272" y="5292271"/>
            <a:ext cx="1099457"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8D866A5D-A905-4275-B623-5117FD655D82}"/>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4DA9574F-1993-4338-84A8-1C796BC6F363}"/>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49E80E32-7B29-40CD-80B9-0AE9161A051C}"/>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45069E97-94A4-4A5F-B262-524D515C8F26}"/>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C22F7E9F-E57D-4147-822C-C42FEABCA1DE}"/>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AB6E6B05-F559-4214-83D8-1D9A9F47D78B}"/>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62F1E7D4-B67B-429E-B0BF-68078E686F9E}"/>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AC5E9C60-F457-42DB-A965-222BFE2E2F23}"/>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134E779C-DDFB-41A6-BB76-1FF897AD15E4}"/>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9CE9E09E-8AF6-458C-964A-973522866AB5}"/>
              </a:ext>
            </a:extLst>
          </p:cNvPr>
          <p:cNvCxnSpPr/>
          <p:nvPr/>
        </p:nvCxnSpPr>
        <p:spPr>
          <a:xfrm>
            <a:off x="669303" y="5812915"/>
            <a:ext cx="4402317"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0911594-138C-4239-A4BA-C1315817DDAE}"/>
              </a:ext>
            </a:extLst>
          </p:cNvPr>
          <p:cNvCxnSpPr>
            <a:cxnSpLocks/>
          </p:cNvCxnSpPr>
          <p:nvPr/>
        </p:nvCxnSpPr>
        <p:spPr>
          <a:xfrm>
            <a:off x="5071620" y="5812915"/>
            <a:ext cx="9763" cy="455911"/>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1A131037-8367-4D0C-A334-1F72ED464EAB}"/>
              </a:ext>
            </a:extLst>
          </p:cNvPr>
          <p:cNvCxnSpPr>
            <a:cxnSpLocks/>
          </p:cNvCxnSpPr>
          <p:nvPr/>
        </p:nvCxnSpPr>
        <p:spPr>
          <a:xfrm>
            <a:off x="669303" y="838986"/>
            <a:ext cx="0" cy="4973929"/>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2940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additive="base">
                                        <p:cTn id="16" dur="500" fill="hold"/>
                                        <p:tgtEl>
                                          <p:spTgt spid="4"/>
                                        </p:tgtEl>
                                        <p:attrNameLst>
                                          <p:attrName>ppt_x</p:attrName>
                                        </p:attrNameLst>
                                      </p:cBhvr>
                                      <p:tavLst>
                                        <p:tav tm="0">
                                          <p:val>
                                            <p:strVal val="#ppt_x"/>
                                          </p:val>
                                        </p:tav>
                                        <p:tav tm="100000">
                                          <p:val>
                                            <p:strVal val="#ppt_x"/>
                                          </p:val>
                                        </p:tav>
                                      </p:tavLst>
                                    </p:anim>
                                    <p:anim calcmode="lin" valueType="num">
                                      <p:cBhvr additive="base">
                                        <p:cTn id="17" dur="500" fill="hold"/>
                                        <p:tgtEl>
                                          <p:spTgt spid="4"/>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additive="base">
                                        <p:cTn id="26" dur="500" fill="hold"/>
                                        <p:tgtEl>
                                          <p:spTgt spid="6"/>
                                        </p:tgtEl>
                                        <p:attrNameLst>
                                          <p:attrName>ppt_x</p:attrName>
                                        </p:attrNameLst>
                                      </p:cBhvr>
                                      <p:tavLst>
                                        <p:tav tm="0">
                                          <p:val>
                                            <p:strVal val="#ppt_x"/>
                                          </p:val>
                                        </p:tav>
                                        <p:tav tm="100000">
                                          <p:val>
                                            <p:strVal val="#ppt_x"/>
                                          </p:val>
                                        </p:tav>
                                      </p:tavLst>
                                    </p:anim>
                                    <p:anim calcmode="lin" valueType="num">
                                      <p:cBhvr additive="base">
                                        <p:cTn id="27" dur="500" fill="hold"/>
                                        <p:tgtEl>
                                          <p:spTgt spid="6"/>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ppt_x"/>
                                          </p:val>
                                        </p:tav>
                                        <p:tav tm="100000">
                                          <p:val>
                                            <p:strVal val="#ppt_x"/>
                                          </p:val>
                                        </p:tav>
                                      </p:tavLst>
                                    </p:anim>
                                    <p:anim calcmode="lin" valueType="num">
                                      <p:cBhvr additive="base">
                                        <p:cTn id="32" dur="500" fill="hold"/>
                                        <p:tgtEl>
                                          <p:spTgt spid="7"/>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ntr" presetSubtype="4" fill="hold" grpId="0" nodeType="after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additive="base">
                                        <p:cTn id="36" dur="500" fill="hold"/>
                                        <p:tgtEl>
                                          <p:spTgt spid="8"/>
                                        </p:tgtEl>
                                        <p:attrNameLst>
                                          <p:attrName>ppt_x</p:attrName>
                                        </p:attrNameLst>
                                      </p:cBhvr>
                                      <p:tavLst>
                                        <p:tav tm="0">
                                          <p:val>
                                            <p:strVal val="#ppt_x"/>
                                          </p:val>
                                        </p:tav>
                                        <p:tav tm="100000">
                                          <p:val>
                                            <p:strVal val="#ppt_x"/>
                                          </p:val>
                                        </p:tav>
                                      </p:tavLst>
                                    </p:anim>
                                    <p:anim calcmode="lin" valueType="num">
                                      <p:cBhvr additive="base">
                                        <p:cTn id="37" dur="500" fill="hold"/>
                                        <p:tgtEl>
                                          <p:spTgt spid="8"/>
                                        </p:tgtEl>
                                        <p:attrNameLst>
                                          <p:attrName>ppt_y</p:attrName>
                                        </p:attrNameLst>
                                      </p:cBhvr>
                                      <p:tavLst>
                                        <p:tav tm="0">
                                          <p:val>
                                            <p:strVal val="1+#ppt_h/2"/>
                                          </p:val>
                                        </p:tav>
                                        <p:tav tm="100000">
                                          <p:val>
                                            <p:strVal val="#ppt_y"/>
                                          </p:val>
                                        </p:tav>
                                      </p:tavLst>
                                    </p:anim>
                                  </p:childTnLst>
                                </p:cTn>
                              </p:par>
                            </p:childTnLst>
                          </p:cTn>
                        </p:par>
                        <p:par>
                          <p:cTn id="38" fill="hold">
                            <p:stCondLst>
                              <p:cond delay="3500"/>
                            </p:stCondLst>
                            <p:childTnLst>
                              <p:par>
                                <p:cTn id="39" presetID="22" presetClass="entr" presetSubtype="4" fill="hold" nodeType="after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wipe(down)">
                                      <p:cBhvr>
                                        <p:cTn id="41" dur="500"/>
                                        <p:tgtEl>
                                          <p:spTgt spid="18"/>
                                        </p:tgtEl>
                                      </p:cBhvr>
                                    </p:animEffect>
                                  </p:childTnLst>
                                </p:cTn>
                              </p:par>
                            </p:childTnLst>
                          </p:cTn>
                        </p:par>
                        <p:par>
                          <p:cTn id="42" fill="hold">
                            <p:stCondLst>
                              <p:cond delay="4000"/>
                            </p:stCondLst>
                            <p:childTnLst>
                              <p:par>
                                <p:cTn id="43" presetID="22" presetClass="entr" presetSubtype="2" fill="hold" nodeType="after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wipe(right)">
                                      <p:cBhvr>
                                        <p:cTn id="45" dur="500"/>
                                        <p:tgtEl>
                                          <p:spTgt spid="17"/>
                                        </p:tgtEl>
                                      </p:cBhvr>
                                    </p:animEffect>
                                  </p:childTnLst>
                                </p:cTn>
                              </p:par>
                            </p:childTnLst>
                          </p:cTn>
                        </p:par>
                        <p:par>
                          <p:cTn id="46" fill="hold">
                            <p:stCondLst>
                              <p:cond delay="4500"/>
                            </p:stCondLst>
                            <p:childTnLst>
                              <p:par>
                                <p:cTn id="47" presetID="22" presetClass="entr" presetSubtype="4" fill="hold" nodeType="after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wipe(down)">
                                      <p:cBhvr>
                                        <p:cTn id="4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59139" y="149969"/>
            <a:ext cx="8652294" cy="1143000"/>
          </a:xfrm>
        </p:spPr>
        <p:txBody>
          <a:bodyPr/>
          <a:lstStyle/>
          <a:p>
            <a:r>
              <a:rPr lang="en-US" dirty="0"/>
              <a:t>German law</a:t>
            </a:r>
          </a:p>
        </p:txBody>
      </p:sp>
      <p:sp>
        <p:nvSpPr>
          <p:cNvPr id="3" name="Content Placeholder 2"/>
          <p:cNvSpPr>
            <a:spLocks noGrp="1"/>
          </p:cNvSpPr>
          <p:nvPr>
            <p:ph idx="1"/>
          </p:nvPr>
        </p:nvSpPr>
        <p:spPr>
          <a:xfrm>
            <a:off x="1480572" y="1515585"/>
            <a:ext cx="9339165" cy="4114800"/>
          </a:xfrm>
        </p:spPr>
        <p:txBody>
          <a:bodyPr>
            <a:normAutofit/>
          </a:bodyPr>
          <a:lstStyle/>
          <a:p>
            <a:r>
              <a:rPr lang="en-US" dirty="0"/>
              <a:t>These rules do not extend to individually-negotiated contracts</a:t>
            </a:r>
          </a:p>
          <a:p>
            <a:r>
              <a:rPr lang="en-US" dirty="0"/>
              <a:t>However, the general duty of good faith prevents a party from abusing a right it has under the contract</a:t>
            </a:r>
          </a:p>
          <a:p>
            <a:pPr lvl="1"/>
            <a:r>
              <a:rPr lang="en-US" dirty="0"/>
              <a:t>Avoid enforcement of a clause which causes significant imbalance</a:t>
            </a:r>
          </a:p>
          <a:p>
            <a:r>
              <a:rPr lang="en-US" dirty="0"/>
              <a:t>These rules cannot generally be invoked to correct the contract: changed circumstances may be invoked, but only exceptionally</a:t>
            </a:r>
          </a:p>
        </p:txBody>
      </p:sp>
      <p:sp>
        <p:nvSpPr>
          <p:cNvPr id="4" name="Rectangle 3">
            <a:extLst>
              <a:ext uri="{FF2B5EF4-FFF2-40B4-BE49-F238E27FC236}">
                <a16:creationId xmlns:a16="http://schemas.microsoft.com/office/drawing/2014/main" id="{42773EF8-B98C-4B15-957C-6202F2F2BA29}"/>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D73F275D-0894-4E51-89FE-004682A542AC}"/>
              </a:ext>
            </a:extLst>
          </p:cNvPr>
          <p:cNvSpPr/>
          <p:nvPr/>
        </p:nvSpPr>
        <p:spPr>
          <a:xfrm rot="16200000">
            <a:off x="4785414" y="5547413"/>
            <a:ext cx="589173"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7747A904-40E8-497C-9F62-2D3A88223167}"/>
              </a:ext>
            </a:extLst>
          </p:cNvPr>
          <p:cNvSpPr/>
          <p:nvPr/>
        </p:nvSpPr>
        <p:spPr>
          <a:xfrm rot="16200000">
            <a:off x="6680724" y="5410723"/>
            <a:ext cx="862554"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3DF921DE-9505-43A1-8DA8-5D9E9B1B25EB}"/>
              </a:ext>
            </a:extLst>
          </p:cNvPr>
          <p:cNvSpPr/>
          <p:nvPr/>
        </p:nvSpPr>
        <p:spPr>
          <a:xfrm rot="16200000">
            <a:off x="8594272" y="5292271"/>
            <a:ext cx="1099457"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B6094F8E-B3EB-41D6-8F7A-5F7E0DA84F55}"/>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9621A5AC-BF6F-4B3A-8FB4-C0190FEEDBF0}"/>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FD42C969-B01D-4A74-9DCE-767DCA1D40E4}"/>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0A7E9E90-E07E-4705-89AC-2D48C033948D}"/>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712F69CB-0788-4E07-A611-1CAF0ED3A0DC}"/>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2F09AF3F-D97B-41B0-981C-122D854F2158}"/>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5D4F8BCF-D969-410E-9322-61ECFD79EF82}"/>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EE15C25B-5897-4D3B-862F-A301BB6BF355}"/>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A70B9428-C7C7-4CF5-BB52-ED26EE0ED42F}"/>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B9D18326-4A18-4666-8DFA-1740E2D21B37}"/>
              </a:ext>
            </a:extLst>
          </p:cNvPr>
          <p:cNvCxnSpPr/>
          <p:nvPr/>
        </p:nvCxnSpPr>
        <p:spPr>
          <a:xfrm>
            <a:off x="669303" y="5812915"/>
            <a:ext cx="4402317"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029336B1-E496-41D8-96A9-FDB15BA3823D}"/>
              </a:ext>
            </a:extLst>
          </p:cNvPr>
          <p:cNvCxnSpPr>
            <a:cxnSpLocks/>
          </p:cNvCxnSpPr>
          <p:nvPr/>
        </p:nvCxnSpPr>
        <p:spPr>
          <a:xfrm>
            <a:off x="5071620" y="5812915"/>
            <a:ext cx="9763" cy="455911"/>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4EDD036-B7E3-4743-8483-D3F1A6A3E336}"/>
              </a:ext>
            </a:extLst>
          </p:cNvPr>
          <p:cNvCxnSpPr>
            <a:cxnSpLocks/>
          </p:cNvCxnSpPr>
          <p:nvPr/>
        </p:nvCxnSpPr>
        <p:spPr>
          <a:xfrm>
            <a:off x="669303" y="838986"/>
            <a:ext cx="0" cy="4973929"/>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14305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additive="base">
                                        <p:cTn id="16" dur="500" fill="hold"/>
                                        <p:tgtEl>
                                          <p:spTgt spid="4"/>
                                        </p:tgtEl>
                                        <p:attrNameLst>
                                          <p:attrName>ppt_x</p:attrName>
                                        </p:attrNameLst>
                                      </p:cBhvr>
                                      <p:tavLst>
                                        <p:tav tm="0">
                                          <p:val>
                                            <p:strVal val="#ppt_x"/>
                                          </p:val>
                                        </p:tav>
                                        <p:tav tm="100000">
                                          <p:val>
                                            <p:strVal val="#ppt_x"/>
                                          </p:val>
                                        </p:tav>
                                      </p:tavLst>
                                    </p:anim>
                                    <p:anim calcmode="lin" valueType="num">
                                      <p:cBhvr additive="base">
                                        <p:cTn id="17" dur="500" fill="hold"/>
                                        <p:tgtEl>
                                          <p:spTgt spid="4"/>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additive="base">
                                        <p:cTn id="26" dur="500" fill="hold"/>
                                        <p:tgtEl>
                                          <p:spTgt spid="6"/>
                                        </p:tgtEl>
                                        <p:attrNameLst>
                                          <p:attrName>ppt_x</p:attrName>
                                        </p:attrNameLst>
                                      </p:cBhvr>
                                      <p:tavLst>
                                        <p:tav tm="0">
                                          <p:val>
                                            <p:strVal val="#ppt_x"/>
                                          </p:val>
                                        </p:tav>
                                        <p:tav tm="100000">
                                          <p:val>
                                            <p:strVal val="#ppt_x"/>
                                          </p:val>
                                        </p:tav>
                                      </p:tavLst>
                                    </p:anim>
                                    <p:anim calcmode="lin" valueType="num">
                                      <p:cBhvr additive="base">
                                        <p:cTn id="27" dur="500" fill="hold"/>
                                        <p:tgtEl>
                                          <p:spTgt spid="6"/>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ppt_x"/>
                                          </p:val>
                                        </p:tav>
                                        <p:tav tm="100000">
                                          <p:val>
                                            <p:strVal val="#ppt_x"/>
                                          </p:val>
                                        </p:tav>
                                      </p:tavLst>
                                    </p:anim>
                                    <p:anim calcmode="lin" valueType="num">
                                      <p:cBhvr additive="base">
                                        <p:cTn id="32" dur="500" fill="hold"/>
                                        <p:tgtEl>
                                          <p:spTgt spid="7"/>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ntr" presetSubtype="4" fill="hold" grpId="0" nodeType="after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additive="base">
                                        <p:cTn id="36" dur="500" fill="hold"/>
                                        <p:tgtEl>
                                          <p:spTgt spid="8"/>
                                        </p:tgtEl>
                                        <p:attrNameLst>
                                          <p:attrName>ppt_x</p:attrName>
                                        </p:attrNameLst>
                                      </p:cBhvr>
                                      <p:tavLst>
                                        <p:tav tm="0">
                                          <p:val>
                                            <p:strVal val="#ppt_x"/>
                                          </p:val>
                                        </p:tav>
                                        <p:tav tm="100000">
                                          <p:val>
                                            <p:strVal val="#ppt_x"/>
                                          </p:val>
                                        </p:tav>
                                      </p:tavLst>
                                    </p:anim>
                                    <p:anim calcmode="lin" valueType="num">
                                      <p:cBhvr additive="base">
                                        <p:cTn id="37" dur="500" fill="hold"/>
                                        <p:tgtEl>
                                          <p:spTgt spid="8"/>
                                        </p:tgtEl>
                                        <p:attrNameLst>
                                          <p:attrName>ppt_y</p:attrName>
                                        </p:attrNameLst>
                                      </p:cBhvr>
                                      <p:tavLst>
                                        <p:tav tm="0">
                                          <p:val>
                                            <p:strVal val="1+#ppt_h/2"/>
                                          </p:val>
                                        </p:tav>
                                        <p:tav tm="100000">
                                          <p:val>
                                            <p:strVal val="#ppt_y"/>
                                          </p:val>
                                        </p:tav>
                                      </p:tavLst>
                                    </p:anim>
                                  </p:childTnLst>
                                </p:cTn>
                              </p:par>
                            </p:childTnLst>
                          </p:cTn>
                        </p:par>
                        <p:par>
                          <p:cTn id="38" fill="hold">
                            <p:stCondLst>
                              <p:cond delay="3500"/>
                            </p:stCondLst>
                            <p:childTnLst>
                              <p:par>
                                <p:cTn id="39" presetID="22" presetClass="entr" presetSubtype="4" fill="hold" nodeType="after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wipe(down)">
                                      <p:cBhvr>
                                        <p:cTn id="41" dur="500"/>
                                        <p:tgtEl>
                                          <p:spTgt spid="18"/>
                                        </p:tgtEl>
                                      </p:cBhvr>
                                    </p:animEffect>
                                  </p:childTnLst>
                                </p:cTn>
                              </p:par>
                            </p:childTnLst>
                          </p:cTn>
                        </p:par>
                        <p:par>
                          <p:cTn id="42" fill="hold">
                            <p:stCondLst>
                              <p:cond delay="4000"/>
                            </p:stCondLst>
                            <p:childTnLst>
                              <p:par>
                                <p:cTn id="43" presetID="22" presetClass="entr" presetSubtype="2" fill="hold" nodeType="after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wipe(right)">
                                      <p:cBhvr>
                                        <p:cTn id="45" dur="500"/>
                                        <p:tgtEl>
                                          <p:spTgt spid="17"/>
                                        </p:tgtEl>
                                      </p:cBhvr>
                                    </p:animEffect>
                                  </p:childTnLst>
                                </p:cTn>
                              </p:par>
                            </p:childTnLst>
                          </p:cTn>
                        </p:par>
                        <p:par>
                          <p:cTn id="46" fill="hold">
                            <p:stCondLst>
                              <p:cond delay="4500"/>
                            </p:stCondLst>
                            <p:childTnLst>
                              <p:par>
                                <p:cTn id="47" presetID="22" presetClass="entr" presetSubtype="4" fill="hold" nodeType="after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wipe(down)">
                                      <p:cBhvr>
                                        <p:cTn id="4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74984" y="469300"/>
            <a:ext cx="8652294" cy="1143000"/>
          </a:xfrm>
        </p:spPr>
        <p:txBody>
          <a:bodyPr/>
          <a:lstStyle/>
          <a:p>
            <a:r>
              <a:rPr lang="en-US" dirty="0"/>
              <a:t>Italian law</a:t>
            </a:r>
          </a:p>
        </p:txBody>
      </p:sp>
      <p:sp>
        <p:nvSpPr>
          <p:cNvPr id="3" name="Content Placeholder 2"/>
          <p:cNvSpPr>
            <a:spLocks noGrp="1"/>
          </p:cNvSpPr>
          <p:nvPr>
            <p:ph idx="1"/>
          </p:nvPr>
        </p:nvSpPr>
        <p:spPr>
          <a:xfrm>
            <a:off x="1614006" y="1496048"/>
            <a:ext cx="7696200" cy="4114800"/>
          </a:xfrm>
        </p:spPr>
        <p:txBody>
          <a:bodyPr>
            <a:normAutofit fontScale="92500" lnSpcReduction="10000"/>
          </a:bodyPr>
          <a:lstStyle/>
          <a:p>
            <a:r>
              <a:rPr lang="en-US" dirty="0"/>
              <a:t>Less inclined to control the contents of the contract than Norwegian or German law</a:t>
            </a:r>
          </a:p>
          <a:p>
            <a:r>
              <a:rPr lang="en-US" dirty="0"/>
              <a:t>CC Art.1341: general conditions are binding on the parties if they were known or could have been known by the party that did not draft them. </a:t>
            </a:r>
          </a:p>
          <a:p>
            <a:r>
              <a:rPr lang="en-US" dirty="0"/>
              <a:t>If there is particular prejudice for party’s position: specifically signed</a:t>
            </a:r>
          </a:p>
          <a:p>
            <a:r>
              <a:rPr lang="en-US" dirty="0"/>
              <a:t>Individually agreed terms: no measures to ensure that the content is reasonable, unless specifically laid down in the law (e.g. contractual penalty)</a:t>
            </a:r>
          </a:p>
          <a:p>
            <a:r>
              <a:rPr lang="en-US" dirty="0"/>
              <a:t>Good faith: contract is performed properly</a:t>
            </a:r>
          </a:p>
        </p:txBody>
      </p:sp>
      <p:sp>
        <p:nvSpPr>
          <p:cNvPr id="4" name="Rectangle 3">
            <a:extLst>
              <a:ext uri="{FF2B5EF4-FFF2-40B4-BE49-F238E27FC236}">
                <a16:creationId xmlns:a16="http://schemas.microsoft.com/office/drawing/2014/main" id="{0824358F-770A-4B06-9956-502F9843840F}"/>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9FC17662-F7B4-4556-BDFF-A16A86F49BEA}"/>
              </a:ext>
            </a:extLst>
          </p:cNvPr>
          <p:cNvSpPr/>
          <p:nvPr/>
        </p:nvSpPr>
        <p:spPr>
          <a:xfrm rot="16200000">
            <a:off x="4785414" y="5547413"/>
            <a:ext cx="589173"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A93E6C3E-1DAA-4ED3-8D08-1D370E9005F6}"/>
              </a:ext>
            </a:extLst>
          </p:cNvPr>
          <p:cNvSpPr/>
          <p:nvPr/>
        </p:nvSpPr>
        <p:spPr>
          <a:xfrm rot="16200000">
            <a:off x="6680724" y="5410723"/>
            <a:ext cx="862554"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4F09401F-D59E-4262-8B5D-E9BD0F636910}"/>
              </a:ext>
            </a:extLst>
          </p:cNvPr>
          <p:cNvSpPr/>
          <p:nvPr/>
        </p:nvSpPr>
        <p:spPr>
          <a:xfrm rot="16200000">
            <a:off x="8594272" y="5292271"/>
            <a:ext cx="1099457"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01C6402E-D7BD-44CA-9194-22D70D03D3D9}"/>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9E53511C-FC27-435D-941D-74F4EE866210}"/>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8CF9198C-291D-4EDF-BC00-E82F3ECE5980}"/>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3B2DE3C0-2396-42E2-A452-15366CBB5032}"/>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711A8154-A221-47E0-871A-994F9E347D5E}"/>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854EEB3F-2B23-42F3-836B-1C49E0150E32}"/>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08B62B26-7C20-4876-876A-DE812509A7C3}"/>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8D51BAEE-B490-40EA-9B2A-F55C96BD1908}"/>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CEF919C2-DF27-4726-957C-C44FBA7F685A}"/>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1F26C3DF-F990-44E7-B536-ABF054E45D6B}"/>
              </a:ext>
            </a:extLst>
          </p:cNvPr>
          <p:cNvCxnSpPr/>
          <p:nvPr/>
        </p:nvCxnSpPr>
        <p:spPr>
          <a:xfrm>
            <a:off x="669303" y="5812915"/>
            <a:ext cx="4402317"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343D6C1B-120C-4B3D-A697-39BB94E66700}"/>
              </a:ext>
            </a:extLst>
          </p:cNvPr>
          <p:cNvCxnSpPr>
            <a:cxnSpLocks/>
          </p:cNvCxnSpPr>
          <p:nvPr/>
        </p:nvCxnSpPr>
        <p:spPr>
          <a:xfrm>
            <a:off x="5071620" y="5812915"/>
            <a:ext cx="9763" cy="455911"/>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C447060F-0469-4EE3-B255-38285F363A64}"/>
              </a:ext>
            </a:extLst>
          </p:cNvPr>
          <p:cNvCxnSpPr>
            <a:cxnSpLocks/>
          </p:cNvCxnSpPr>
          <p:nvPr/>
        </p:nvCxnSpPr>
        <p:spPr>
          <a:xfrm>
            <a:off x="669303" y="838986"/>
            <a:ext cx="0" cy="4973929"/>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75231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additive="base">
                                        <p:cTn id="16" dur="500" fill="hold"/>
                                        <p:tgtEl>
                                          <p:spTgt spid="4"/>
                                        </p:tgtEl>
                                        <p:attrNameLst>
                                          <p:attrName>ppt_x</p:attrName>
                                        </p:attrNameLst>
                                      </p:cBhvr>
                                      <p:tavLst>
                                        <p:tav tm="0">
                                          <p:val>
                                            <p:strVal val="#ppt_x"/>
                                          </p:val>
                                        </p:tav>
                                        <p:tav tm="100000">
                                          <p:val>
                                            <p:strVal val="#ppt_x"/>
                                          </p:val>
                                        </p:tav>
                                      </p:tavLst>
                                    </p:anim>
                                    <p:anim calcmode="lin" valueType="num">
                                      <p:cBhvr additive="base">
                                        <p:cTn id="17" dur="500" fill="hold"/>
                                        <p:tgtEl>
                                          <p:spTgt spid="4"/>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additive="base">
                                        <p:cTn id="26" dur="500" fill="hold"/>
                                        <p:tgtEl>
                                          <p:spTgt spid="6"/>
                                        </p:tgtEl>
                                        <p:attrNameLst>
                                          <p:attrName>ppt_x</p:attrName>
                                        </p:attrNameLst>
                                      </p:cBhvr>
                                      <p:tavLst>
                                        <p:tav tm="0">
                                          <p:val>
                                            <p:strVal val="#ppt_x"/>
                                          </p:val>
                                        </p:tav>
                                        <p:tav tm="100000">
                                          <p:val>
                                            <p:strVal val="#ppt_x"/>
                                          </p:val>
                                        </p:tav>
                                      </p:tavLst>
                                    </p:anim>
                                    <p:anim calcmode="lin" valueType="num">
                                      <p:cBhvr additive="base">
                                        <p:cTn id="27" dur="500" fill="hold"/>
                                        <p:tgtEl>
                                          <p:spTgt spid="6"/>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ppt_x"/>
                                          </p:val>
                                        </p:tav>
                                        <p:tav tm="100000">
                                          <p:val>
                                            <p:strVal val="#ppt_x"/>
                                          </p:val>
                                        </p:tav>
                                      </p:tavLst>
                                    </p:anim>
                                    <p:anim calcmode="lin" valueType="num">
                                      <p:cBhvr additive="base">
                                        <p:cTn id="32" dur="500" fill="hold"/>
                                        <p:tgtEl>
                                          <p:spTgt spid="7"/>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ntr" presetSubtype="4" fill="hold" grpId="0" nodeType="after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additive="base">
                                        <p:cTn id="36" dur="500" fill="hold"/>
                                        <p:tgtEl>
                                          <p:spTgt spid="8"/>
                                        </p:tgtEl>
                                        <p:attrNameLst>
                                          <p:attrName>ppt_x</p:attrName>
                                        </p:attrNameLst>
                                      </p:cBhvr>
                                      <p:tavLst>
                                        <p:tav tm="0">
                                          <p:val>
                                            <p:strVal val="#ppt_x"/>
                                          </p:val>
                                        </p:tav>
                                        <p:tav tm="100000">
                                          <p:val>
                                            <p:strVal val="#ppt_x"/>
                                          </p:val>
                                        </p:tav>
                                      </p:tavLst>
                                    </p:anim>
                                    <p:anim calcmode="lin" valueType="num">
                                      <p:cBhvr additive="base">
                                        <p:cTn id="37" dur="500" fill="hold"/>
                                        <p:tgtEl>
                                          <p:spTgt spid="8"/>
                                        </p:tgtEl>
                                        <p:attrNameLst>
                                          <p:attrName>ppt_y</p:attrName>
                                        </p:attrNameLst>
                                      </p:cBhvr>
                                      <p:tavLst>
                                        <p:tav tm="0">
                                          <p:val>
                                            <p:strVal val="1+#ppt_h/2"/>
                                          </p:val>
                                        </p:tav>
                                        <p:tav tm="100000">
                                          <p:val>
                                            <p:strVal val="#ppt_y"/>
                                          </p:val>
                                        </p:tav>
                                      </p:tavLst>
                                    </p:anim>
                                  </p:childTnLst>
                                </p:cTn>
                              </p:par>
                            </p:childTnLst>
                          </p:cTn>
                        </p:par>
                        <p:par>
                          <p:cTn id="38" fill="hold">
                            <p:stCondLst>
                              <p:cond delay="3500"/>
                            </p:stCondLst>
                            <p:childTnLst>
                              <p:par>
                                <p:cTn id="39" presetID="22" presetClass="entr" presetSubtype="4" fill="hold" nodeType="after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wipe(down)">
                                      <p:cBhvr>
                                        <p:cTn id="41" dur="500"/>
                                        <p:tgtEl>
                                          <p:spTgt spid="18"/>
                                        </p:tgtEl>
                                      </p:cBhvr>
                                    </p:animEffect>
                                  </p:childTnLst>
                                </p:cTn>
                              </p:par>
                            </p:childTnLst>
                          </p:cTn>
                        </p:par>
                        <p:par>
                          <p:cTn id="42" fill="hold">
                            <p:stCondLst>
                              <p:cond delay="4000"/>
                            </p:stCondLst>
                            <p:childTnLst>
                              <p:par>
                                <p:cTn id="43" presetID="22" presetClass="entr" presetSubtype="2" fill="hold" nodeType="after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wipe(right)">
                                      <p:cBhvr>
                                        <p:cTn id="45" dur="500"/>
                                        <p:tgtEl>
                                          <p:spTgt spid="17"/>
                                        </p:tgtEl>
                                      </p:cBhvr>
                                    </p:animEffect>
                                  </p:childTnLst>
                                </p:cTn>
                              </p:par>
                            </p:childTnLst>
                          </p:cTn>
                        </p:par>
                        <p:par>
                          <p:cTn id="46" fill="hold">
                            <p:stCondLst>
                              <p:cond delay="4500"/>
                            </p:stCondLst>
                            <p:childTnLst>
                              <p:par>
                                <p:cTn id="47" presetID="22" presetClass="entr" presetSubtype="4" fill="hold" nodeType="after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wipe(down)">
                                      <p:cBhvr>
                                        <p:cTn id="4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85494" y="410935"/>
            <a:ext cx="8652294" cy="1143000"/>
          </a:xfrm>
        </p:spPr>
        <p:txBody>
          <a:bodyPr/>
          <a:lstStyle/>
          <a:p>
            <a:r>
              <a:rPr lang="en-US" dirty="0"/>
              <a:t>England</a:t>
            </a:r>
          </a:p>
        </p:txBody>
      </p:sp>
      <p:sp>
        <p:nvSpPr>
          <p:cNvPr id="3" name="Content Placeholder 2"/>
          <p:cNvSpPr>
            <a:spLocks noGrp="1"/>
          </p:cNvSpPr>
          <p:nvPr>
            <p:ph idx="1"/>
          </p:nvPr>
        </p:nvSpPr>
        <p:spPr>
          <a:xfrm>
            <a:off x="2380374" y="1493420"/>
            <a:ext cx="7696200" cy="4114800"/>
          </a:xfrm>
        </p:spPr>
        <p:txBody>
          <a:bodyPr/>
          <a:lstStyle/>
          <a:p>
            <a:r>
              <a:rPr lang="en-US" dirty="0"/>
              <a:t>Even less inclined to regulate the content of the contract</a:t>
            </a:r>
          </a:p>
          <a:p>
            <a:r>
              <a:rPr lang="en-US" dirty="0"/>
              <a:t>General conditions have to be brought to the attention of the party to be a part of the contract, but little possibility to control the content</a:t>
            </a:r>
          </a:p>
          <a:p>
            <a:r>
              <a:rPr lang="en-US" dirty="0"/>
              <a:t>If there is particular prejudice for party’s position: specifically signed</a:t>
            </a:r>
          </a:p>
          <a:p>
            <a:r>
              <a:rPr lang="en-US" dirty="0"/>
              <a:t>Individually agreed terms: excessive freedom?</a:t>
            </a:r>
          </a:p>
        </p:txBody>
      </p:sp>
      <p:sp>
        <p:nvSpPr>
          <p:cNvPr id="4" name="Rectangle 3">
            <a:extLst>
              <a:ext uri="{FF2B5EF4-FFF2-40B4-BE49-F238E27FC236}">
                <a16:creationId xmlns:a16="http://schemas.microsoft.com/office/drawing/2014/main" id="{0DE9CA40-9FDF-48BC-87E3-47DF8B5BA8BC}"/>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2FCDC9E9-3652-4837-91E4-DF4B1DC2CED2}"/>
              </a:ext>
            </a:extLst>
          </p:cNvPr>
          <p:cNvSpPr/>
          <p:nvPr/>
        </p:nvSpPr>
        <p:spPr>
          <a:xfrm rot="16200000">
            <a:off x="4785414" y="5547413"/>
            <a:ext cx="589173"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8ECE463E-3489-4FF6-A11C-CACB1065B470}"/>
              </a:ext>
            </a:extLst>
          </p:cNvPr>
          <p:cNvSpPr/>
          <p:nvPr/>
        </p:nvSpPr>
        <p:spPr>
          <a:xfrm rot="16200000">
            <a:off x="6680724" y="5410723"/>
            <a:ext cx="862554"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F4BB6F5F-7B56-4C2A-8895-F7CE268E3046}"/>
              </a:ext>
            </a:extLst>
          </p:cNvPr>
          <p:cNvSpPr/>
          <p:nvPr/>
        </p:nvSpPr>
        <p:spPr>
          <a:xfrm rot="16200000">
            <a:off x="8594272" y="5292271"/>
            <a:ext cx="1099457"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15F8A242-F8FC-4D08-B98D-06E061CEF23A}"/>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86AC3718-A64A-4999-B0CB-3D35DBC28E67}"/>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1DAEEB39-9C33-46A1-A94F-D2C47701F354}"/>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A1E4073E-105C-4D7E-90B6-1547B8A71362}"/>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AD3761C6-C6F8-4B67-9FDD-AA0182E67217}"/>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B9130DBF-6AA5-45C0-B609-3862E5CF265A}"/>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E4454639-ED42-4AFD-9803-546D82360243}"/>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08F1A47A-D45A-419A-B56C-F6EF5B04118A}"/>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B28AF3E7-E0B6-45D9-BF8B-33F062A11F7E}"/>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DA5BD9C6-6ECF-4AD3-B0B3-AEF0F55C7581}"/>
              </a:ext>
            </a:extLst>
          </p:cNvPr>
          <p:cNvCxnSpPr/>
          <p:nvPr/>
        </p:nvCxnSpPr>
        <p:spPr>
          <a:xfrm>
            <a:off x="669303" y="5812915"/>
            <a:ext cx="4402317"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A6B8676B-F990-4565-B6CB-150B51A653D1}"/>
              </a:ext>
            </a:extLst>
          </p:cNvPr>
          <p:cNvCxnSpPr>
            <a:cxnSpLocks/>
          </p:cNvCxnSpPr>
          <p:nvPr/>
        </p:nvCxnSpPr>
        <p:spPr>
          <a:xfrm>
            <a:off x="5071620" y="5812915"/>
            <a:ext cx="9763" cy="455911"/>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1E6C483E-454F-452A-B446-A9B4F2A3C6F1}"/>
              </a:ext>
            </a:extLst>
          </p:cNvPr>
          <p:cNvCxnSpPr>
            <a:cxnSpLocks/>
          </p:cNvCxnSpPr>
          <p:nvPr/>
        </p:nvCxnSpPr>
        <p:spPr>
          <a:xfrm>
            <a:off x="669303" y="838986"/>
            <a:ext cx="0" cy="4973929"/>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2281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additive="base">
                                        <p:cTn id="16" dur="500" fill="hold"/>
                                        <p:tgtEl>
                                          <p:spTgt spid="4"/>
                                        </p:tgtEl>
                                        <p:attrNameLst>
                                          <p:attrName>ppt_x</p:attrName>
                                        </p:attrNameLst>
                                      </p:cBhvr>
                                      <p:tavLst>
                                        <p:tav tm="0">
                                          <p:val>
                                            <p:strVal val="#ppt_x"/>
                                          </p:val>
                                        </p:tav>
                                        <p:tav tm="100000">
                                          <p:val>
                                            <p:strVal val="#ppt_x"/>
                                          </p:val>
                                        </p:tav>
                                      </p:tavLst>
                                    </p:anim>
                                    <p:anim calcmode="lin" valueType="num">
                                      <p:cBhvr additive="base">
                                        <p:cTn id="17" dur="500" fill="hold"/>
                                        <p:tgtEl>
                                          <p:spTgt spid="4"/>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additive="base">
                                        <p:cTn id="26" dur="500" fill="hold"/>
                                        <p:tgtEl>
                                          <p:spTgt spid="6"/>
                                        </p:tgtEl>
                                        <p:attrNameLst>
                                          <p:attrName>ppt_x</p:attrName>
                                        </p:attrNameLst>
                                      </p:cBhvr>
                                      <p:tavLst>
                                        <p:tav tm="0">
                                          <p:val>
                                            <p:strVal val="#ppt_x"/>
                                          </p:val>
                                        </p:tav>
                                        <p:tav tm="100000">
                                          <p:val>
                                            <p:strVal val="#ppt_x"/>
                                          </p:val>
                                        </p:tav>
                                      </p:tavLst>
                                    </p:anim>
                                    <p:anim calcmode="lin" valueType="num">
                                      <p:cBhvr additive="base">
                                        <p:cTn id="27" dur="500" fill="hold"/>
                                        <p:tgtEl>
                                          <p:spTgt spid="6"/>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ppt_x"/>
                                          </p:val>
                                        </p:tav>
                                        <p:tav tm="100000">
                                          <p:val>
                                            <p:strVal val="#ppt_x"/>
                                          </p:val>
                                        </p:tav>
                                      </p:tavLst>
                                    </p:anim>
                                    <p:anim calcmode="lin" valueType="num">
                                      <p:cBhvr additive="base">
                                        <p:cTn id="32" dur="500" fill="hold"/>
                                        <p:tgtEl>
                                          <p:spTgt spid="7"/>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ntr" presetSubtype="4" fill="hold" grpId="0" nodeType="after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additive="base">
                                        <p:cTn id="36" dur="500" fill="hold"/>
                                        <p:tgtEl>
                                          <p:spTgt spid="8"/>
                                        </p:tgtEl>
                                        <p:attrNameLst>
                                          <p:attrName>ppt_x</p:attrName>
                                        </p:attrNameLst>
                                      </p:cBhvr>
                                      <p:tavLst>
                                        <p:tav tm="0">
                                          <p:val>
                                            <p:strVal val="#ppt_x"/>
                                          </p:val>
                                        </p:tav>
                                        <p:tav tm="100000">
                                          <p:val>
                                            <p:strVal val="#ppt_x"/>
                                          </p:val>
                                        </p:tav>
                                      </p:tavLst>
                                    </p:anim>
                                    <p:anim calcmode="lin" valueType="num">
                                      <p:cBhvr additive="base">
                                        <p:cTn id="37" dur="500" fill="hold"/>
                                        <p:tgtEl>
                                          <p:spTgt spid="8"/>
                                        </p:tgtEl>
                                        <p:attrNameLst>
                                          <p:attrName>ppt_y</p:attrName>
                                        </p:attrNameLst>
                                      </p:cBhvr>
                                      <p:tavLst>
                                        <p:tav tm="0">
                                          <p:val>
                                            <p:strVal val="1+#ppt_h/2"/>
                                          </p:val>
                                        </p:tav>
                                        <p:tav tm="100000">
                                          <p:val>
                                            <p:strVal val="#ppt_y"/>
                                          </p:val>
                                        </p:tav>
                                      </p:tavLst>
                                    </p:anim>
                                  </p:childTnLst>
                                </p:cTn>
                              </p:par>
                            </p:childTnLst>
                          </p:cTn>
                        </p:par>
                        <p:par>
                          <p:cTn id="38" fill="hold">
                            <p:stCondLst>
                              <p:cond delay="3500"/>
                            </p:stCondLst>
                            <p:childTnLst>
                              <p:par>
                                <p:cTn id="39" presetID="22" presetClass="entr" presetSubtype="4" fill="hold" nodeType="after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wipe(down)">
                                      <p:cBhvr>
                                        <p:cTn id="41" dur="500"/>
                                        <p:tgtEl>
                                          <p:spTgt spid="18"/>
                                        </p:tgtEl>
                                      </p:cBhvr>
                                    </p:animEffect>
                                  </p:childTnLst>
                                </p:cTn>
                              </p:par>
                            </p:childTnLst>
                          </p:cTn>
                        </p:par>
                        <p:par>
                          <p:cTn id="42" fill="hold">
                            <p:stCondLst>
                              <p:cond delay="4000"/>
                            </p:stCondLst>
                            <p:childTnLst>
                              <p:par>
                                <p:cTn id="43" presetID="22" presetClass="entr" presetSubtype="2" fill="hold" nodeType="after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wipe(right)">
                                      <p:cBhvr>
                                        <p:cTn id="45" dur="500"/>
                                        <p:tgtEl>
                                          <p:spTgt spid="17"/>
                                        </p:tgtEl>
                                      </p:cBhvr>
                                    </p:animEffect>
                                  </p:childTnLst>
                                </p:cTn>
                              </p:par>
                            </p:childTnLst>
                          </p:cTn>
                        </p:par>
                        <p:par>
                          <p:cTn id="46" fill="hold">
                            <p:stCondLst>
                              <p:cond delay="4500"/>
                            </p:stCondLst>
                            <p:childTnLst>
                              <p:par>
                                <p:cTn id="47" presetID="22" presetClass="entr" presetSubtype="4" fill="hold" nodeType="after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wipe(down)">
                                      <p:cBhvr>
                                        <p:cTn id="4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96938" y="838200"/>
            <a:ext cx="8652294" cy="1143000"/>
          </a:xfrm>
        </p:spPr>
        <p:txBody>
          <a:bodyPr/>
          <a:lstStyle/>
          <a:p>
            <a:r>
              <a:rPr lang="en-US" dirty="0"/>
              <a:t>Limitation of remedies</a:t>
            </a:r>
          </a:p>
        </p:txBody>
      </p:sp>
      <p:sp>
        <p:nvSpPr>
          <p:cNvPr id="3" name="Content Placeholder 2"/>
          <p:cNvSpPr>
            <a:spLocks noGrp="1"/>
          </p:cNvSpPr>
          <p:nvPr>
            <p:ph idx="1"/>
          </p:nvPr>
        </p:nvSpPr>
        <p:spPr>
          <a:xfrm>
            <a:off x="2526374" y="2154024"/>
            <a:ext cx="7696200" cy="4114800"/>
          </a:xfrm>
        </p:spPr>
        <p:txBody>
          <a:bodyPr>
            <a:normAutofit/>
          </a:bodyPr>
          <a:lstStyle/>
          <a:p>
            <a:r>
              <a:rPr lang="en-US" sz="2000" dirty="0"/>
              <a:t>Norwegian law</a:t>
            </a:r>
          </a:p>
          <a:p>
            <a:pPr lvl="1"/>
            <a:r>
              <a:rPr lang="en-US" sz="1600" dirty="0"/>
              <a:t>Might be possible to set the clause aside (§36)</a:t>
            </a:r>
          </a:p>
          <a:p>
            <a:r>
              <a:rPr lang="en-US" sz="2000" dirty="0"/>
              <a:t>German law</a:t>
            </a:r>
          </a:p>
          <a:p>
            <a:pPr lvl="1"/>
            <a:r>
              <a:rPr lang="en-US" sz="1600" dirty="0"/>
              <a:t>Might be possible to set the clause aside (§305c: unexpected term; §307)</a:t>
            </a:r>
          </a:p>
          <a:p>
            <a:r>
              <a:rPr lang="en-US" sz="2000" dirty="0"/>
              <a:t>Italian law</a:t>
            </a:r>
          </a:p>
          <a:p>
            <a:pPr lvl="1"/>
            <a:r>
              <a:rPr lang="en-US" sz="1600" dirty="0"/>
              <a:t>Depends whether the term was specifically signed</a:t>
            </a:r>
          </a:p>
          <a:p>
            <a:r>
              <a:rPr lang="en-US" sz="2000" dirty="0"/>
              <a:t>English law</a:t>
            </a:r>
          </a:p>
          <a:p>
            <a:pPr lvl="1"/>
            <a:r>
              <a:rPr lang="en-US" sz="1600" dirty="0"/>
              <a:t>Likely full enforcement</a:t>
            </a:r>
          </a:p>
          <a:p>
            <a:pPr marL="457200" lvl="1" indent="0">
              <a:buNone/>
            </a:pPr>
            <a:endParaRPr lang="sr-Latn-ME" sz="1600" dirty="0"/>
          </a:p>
        </p:txBody>
      </p:sp>
      <p:sp>
        <p:nvSpPr>
          <p:cNvPr id="4" name="Rectangle 3">
            <a:extLst>
              <a:ext uri="{FF2B5EF4-FFF2-40B4-BE49-F238E27FC236}">
                <a16:creationId xmlns:a16="http://schemas.microsoft.com/office/drawing/2014/main" id="{CA29597A-EC0C-45F3-B87A-66E77E5D67CF}"/>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ED572FC1-187E-4AE4-BEB1-8693CADFE2F2}"/>
              </a:ext>
            </a:extLst>
          </p:cNvPr>
          <p:cNvSpPr/>
          <p:nvPr/>
        </p:nvSpPr>
        <p:spPr>
          <a:xfrm rot="16200000">
            <a:off x="4785414" y="5547413"/>
            <a:ext cx="589173"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EFAB2C24-2C9A-48CD-A28D-9C818FE80D51}"/>
              </a:ext>
            </a:extLst>
          </p:cNvPr>
          <p:cNvSpPr/>
          <p:nvPr/>
        </p:nvSpPr>
        <p:spPr>
          <a:xfrm rot="16200000">
            <a:off x="6680724" y="5410723"/>
            <a:ext cx="862554"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772F7E21-C517-4226-95E7-FA56B4884B4C}"/>
              </a:ext>
            </a:extLst>
          </p:cNvPr>
          <p:cNvSpPr/>
          <p:nvPr/>
        </p:nvSpPr>
        <p:spPr>
          <a:xfrm rot="16200000">
            <a:off x="8594272" y="5292271"/>
            <a:ext cx="1099457"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8947BBBD-5B95-4E29-92C7-9751D9924038}"/>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32C02DF8-CF28-4733-8720-FF72CED14B2C}"/>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F5EEB141-3C28-4F61-8468-6773C35C5E8E}"/>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04CF28DB-52F9-462C-9634-F5AF2A74770B}"/>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1F68F11C-73EB-49CF-B0DE-EFC493F1F0A8}"/>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6BC0EA3C-0A29-46CD-8617-027D2402FBA2}"/>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E03D88CD-1447-4633-947B-7DE22EA002C6}"/>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39D76B1D-AFFF-4581-9EE2-E80BDBD12D3C}"/>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8EE48743-2F3B-4C1E-A069-F87541B20784}"/>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5A0E5B3C-4A8A-4BF3-BB5B-5AA0CA5A1DDD}"/>
              </a:ext>
            </a:extLst>
          </p:cNvPr>
          <p:cNvCxnSpPr/>
          <p:nvPr/>
        </p:nvCxnSpPr>
        <p:spPr>
          <a:xfrm>
            <a:off x="669303" y="5812915"/>
            <a:ext cx="4402317"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9829EA6A-FD08-4056-B9B5-B73A7B6AC88E}"/>
              </a:ext>
            </a:extLst>
          </p:cNvPr>
          <p:cNvCxnSpPr>
            <a:cxnSpLocks/>
          </p:cNvCxnSpPr>
          <p:nvPr/>
        </p:nvCxnSpPr>
        <p:spPr>
          <a:xfrm>
            <a:off x="5071620" y="5812915"/>
            <a:ext cx="9763" cy="455911"/>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F48E647-E2A9-4BFA-838A-EA9212807599}"/>
              </a:ext>
            </a:extLst>
          </p:cNvPr>
          <p:cNvCxnSpPr>
            <a:cxnSpLocks/>
          </p:cNvCxnSpPr>
          <p:nvPr/>
        </p:nvCxnSpPr>
        <p:spPr>
          <a:xfrm>
            <a:off x="669303" y="838986"/>
            <a:ext cx="0" cy="4973929"/>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8764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additive="base">
                                        <p:cTn id="16" dur="500" fill="hold"/>
                                        <p:tgtEl>
                                          <p:spTgt spid="4"/>
                                        </p:tgtEl>
                                        <p:attrNameLst>
                                          <p:attrName>ppt_x</p:attrName>
                                        </p:attrNameLst>
                                      </p:cBhvr>
                                      <p:tavLst>
                                        <p:tav tm="0">
                                          <p:val>
                                            <p:strVal val="#ppt_x"/>
                                          </p:val>
                                        </p:tav>
                                        <p:tav tm="100000">
                                          <p:val>
                                            <p:strVal val="#ppt_x"/>
                                          </p:val>
                                        </p:tav>
                                      </p:tavLst>
                                    </p:anim>
                                    <p:anim calcmode="lin" valueType="num">
                                      <p:cBhvr additive="base">
                                        <p:cTn id="17" dur="500" fill="hold"/>
                                        <p:tgtEl>
                                          <p:spTgt spid="4"/>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additive="base">
                                        <p:cTn id="26" dur="500" fill="hold"/>
                                        <p:tgtEl>
                                          <p:spTgt spid="6"/>
                                        </p:tgtEl>
                                        <p:attrNameLst>
                                          <p:attrName>ppt_x</p:attrName>
                                        </p:attrNameLst>
                                      </p:cBhvr>
                                      <p:tavLst>
                                        <p:tav tm="0">
                                          <p:val>
                                            <p:strVal val="#ppt_x"/>
                                          </p:val>
                                        </p:tav>
                                        <p:tav tm="100000">
                                          <p:val>
                                            <p:strVal val="#ppt_x"/>
                                          </p:val>
                                        </p:tav>
                                      </p:tavLst>
                                    </p:anim>
                                    <p:anim calcmode="lin" valueType="num">
                                      <p:cBhvr additive="base">
                                        <p:cTn id="27" dur="500" fill="hold"/>
                                        <p:tgtEl>
                                          <p:spTgt spid="6"/>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ppt_x"/>
                                          </p:val>
                                        </p:tav>
                                        <p:tav tm="100000">
                                          <p:val>
                                            <p:strVal val="#ppt_x"/>
                                          </p:val>
                                        </p:tav>
                                      </p:tavLst>
                                    </p:anim>
                                    <p:anim calcmode="lin" valueType="num">
                                      <p:cBhvr additive="base">
                                        <p:cTn id="32" dur="500" fill="hold"/>
                                        <p:tgtEl>
                                          <p:spTgt spid="7"/>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ntr" presetSubtype="4" fill="hold" grpId="0" nodeType="after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additive="base">
                                        <p:cTn id="36" dur="500" fill="hold"/>
                                        <p:tgtEl>
                                          <p:spTgt spid="8"/>
                                        </p:tgtEl>
                                        <p:attrNameLst>
                                          <p:attrName>ppt_x</p:attrName>
                                        </p:attrNameLst>
                                      </p:cBhvr>
                                      <p:tavLst>
                                        <p:tav tm="0">
                                          <p:val>
                                            <p:strVal val="#ppt_x"/>
                                          </p:val>
                                        </p:tav>
                                        <p:tav tm="100000">
                                          <p:val>
                                            <p:strVal val="#ppt_x"/>
                                          </p:val>
                                        </p:tav>
                                      </p:tavLst>
                                    </p:anim>
                                    <p:anim calcmode="lin" valueType="num">
                                      <p:cBhvr additive="base">
                                        <p:cTn id="37" dur="500" fill="hold"/>
                                        <p:tgtEl>
                                          <p:spTgt spid="8"/>
                                        </p:tgtEl>
                                        <p:attrNameLst>
                                          <p:attrName>ppt_y</p:attrName>
                                        </p:attrNameLst>
                                      </p:cBhvr>
                                      <p:tavLst>
                                        <p:tav tm="0">
                                          <p:val>
                                            <p:strVal val="1+#ppt_h/2"/>
                                          </p:val>
                                        </p:tav>
                                        <p:tav tm="100000">
                                          <p:val>
                                            <p:strVal val="#ppt_y"/>
                                          </p:val>
                                        </p:tav>
                                      </p:tavLst>
                                    </p:anim>
                                  </p:childTnLst>
                                </p:cTn>
                              </p:par>
                            </p:childTnLst>
                          </p:cTn>
                        </p:par>
                        <p:par>
                          <p:cTn id="38" fill="hold">
                            <p:stCondLst>
                              <p:cond delay="3500"/>
                            </p:stCondLst>
                            <p:childTnLst>
                              <p:par>
                                <p:cTn id="39" presetID="22" presetClass="entr" presetSubtype="4" fill="hold" nodeType="after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wipe(down)">
                                      <p:cBhvr>
                                        <p:cTn id="41" dur="500"/>
                                        <p:tgtEl>
                                          <p:spTgt spid="18"/>
                                        </p:tgtEl>
                                      </p:cBhvr>
                                    </p:animEffect>
                                  </p:childTnLst>
                                </p:cTn>
                              </p:par>
                            </p:childTnLst>
                          </p:cTn>
                        </p:par>
                        <p:par>
                          <p:cTn id="42" fill="hold">
                            <p:stCondLst>
                              <p:cond delay="4000"/>
                            </p:stCondLst>
                            <p:childTnLst>
                              <p:par>
                                <p:cTn id="43" presetID="22" presetClass="entr" presetSubtype="2" fill="hold" nodeType="after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wipe(right)">
                                      <p:cBhvr>
                                        <p:cTn id="45" dur="500"/>
                                        <p:tgtEl>
                                          <p:spTgt spid="17"/>
                                        </p:tgtEl>
                                      </p:cBhvr>
                                    </p:animEffect>
                                  </p:childTnLst>
                                </p:cTn>
                              </p:par>
                            </p:childTnLst>
                          </p:cTn>
                        </p:par>
                        <p:par>
                          <p:cTn id="46" fill="hold">
                            <p:stCondLst>
                              <p:cond delay="4500"/>
                            </p:stCondLst>
                            <p:childTnLst>
                              <p:par>
                                <p:cTn id="47" presetID="22" presetClass="entr" presetSubtype="4" fill="hold" nodeType="after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wipe(down)">
                                      <p:cBhvr>
                                        <p:cTn id="4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96938" y="838200"/>
            <a:ext cx="8652294" cy="1143000"/>
          </a:xfrm>
        </p:spPr>
        <p:txBody>
          <a:bodyPr/>
          <a:lstStyle/>
          <a:p>
            <a:r>
              <a:rPr lang="en-US" dirty="0"/>
              <a:t>Termination for immaterial breach</a:t>
            </a:r>
          </a:p>
        </p:txBody>
      </p:sp>
      <p:sp>
        <p:nvSpPr>
          <p:cNvPr id="3" name="Content Placeholder 2"/>
          <p:cNvSpPr>
            <a:spLocks noGrp="1"/>
          </p:cNvSpPr>
          <p:nvPr>
            <p:ph idx="1"/>
          </p:nvPr>
        </p:nvSpPr>
        <p:spPr>
          <a:xfrm>
            <a:off x="2510676" y="2193471"/>
            <a:ext cx="7696200" cy="4114800"/>
          </a:xfrm>
        </p:spPr>
        <p:txBody>
          <a:bodyPr>
            <a:normAutofit/>
          </a:bodyPr>
          <a:lstStyle/>
          <a:p>
            <a:r>
              <a:rPr lang="en-US" sz="2000" dirty="0"/>
              <a:t>Norwegian law</a:t>
            </a:r>
          </a:p>
          <a:p>
            <a:pPr lvl="1"/>
            <a:r>
              <a:rPr lang="en-US" sz="1600" dirty="0"/>
              <a:t>Depends on the circumstances, termination might be invalid (§36)</a:t>
            </a:r>
          </a:p>
          <a:p>
            <a:r>
              <a:rPr lang="en-US" sz="2000" dirty="0"/>
              <a:t>German law</a:t>
            </a:r>
          </a:p>
          <a:p>
            <a:pPr lvl="1"/>
            <a:r>
              <a:rPr lang="en-US" sz="1600" dirty="0"/>
              <a:t>Termination might be invalid (§242: no abuse of rights)</a:t>
            </a:r>
          </a:p>
          <a:p>
            <a:r>
              <a:rPr lang="en-US" sz="2000" dirty="0"/>
              <a:t>Italian law</a:t>
            </a:r>
          </a:p>
          <a:p>
            <a:pPr lvl="1"/>
            <a:r>
              <a:rPr lang="en-US" sz="1600" dirty="0"/>
              <a:t>Likely valid termination (term individually negotiated and clear)</a:t>
            </a:r>
          </a:p>
          <a:p>
            <a:r>
              <a:rPr lang="en-US" sz="2000" dirty="0"/>
              <a:t>English law</a:t>
            </a:r>
          </a:p>
          <a:p>
            <a:pPr lvl="1"/>
            <a:r>
              <a:rPr lang="en-US" sz="1600" dirty="0"/>
              <a:t>Likely a valid termination</a:t>
            </a:r>
          </a:p>
          <a:p>
            <a:pPr lvl="1"/>
            <a:endParaRPr lang="sr-Latn-ME" sz="1600" dirty="0"/>
          </a:p>
        </p:txBody>
      </p:sp>
      <p:sp>
        <p:nvSpPr>
          <p:cNvPr id="4" name="Rectangle 3">
            <a:extLst>
              <a:ext uri="{FF2B5EF4-FFF2-40B4-BE49-F238E27FC236}">
                <a16:creationId xmlns:a16="http://schemas.microsoft.com/office/drawing/2014/main" id="{41E90FDF-7855-49DD-9649-618953CC5003}"/>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9B197F25-75F9-48D3-9FA8-818362576DAF}"/>
              </a:ext>
            </a:extLst>
          </p:cNvPr>
          <p:cNvSpPr/>
          <p:nvPr/>
        </p:nvSpPr>
        <p:spPr>
          <a:xfrm rot="16200000">
            <a:off x="4785414" y="5547413"/>
            <a:ext cx="589173"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1C0FF601-0C3A-400E-8D2E-44A329E7F13E}"/>
              </a:ext>
            </a:extLst>
          </p:cNvPr>
          <p:cNvSpPr/>
          <p:nvPr/>
        </p:nvSpPr>
        <p:spPr>
          <a:xfrm rot="16200000">
            <a:off x="6680724" y="5410723"/>
            <a:ext cx="862554"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5CC99E6E-175A-4715-BAA6-407C16FAC004}"/>
              </a:ext>
            </a:extLst>
          </p:cNvPr>
          <p:cNvSpPr/>
          <p:nvPr/>
        </p:nvSpPr>
        <p:spPr>
          <a:xfrm rot="16200000">
            <a:off x="8594272" y="5292271"/>
            <a:ext cx="1099457"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C13A015B-A7A4-4277-943E-471ACC242FFA}"/>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6B74A258-1EC8-4E62-BD3E-CC9456E35342}"/>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65DC2B8E-1EA0-4CAC-B783-D02E74E8E543}"/>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B582DF84-5E1E-467B-8C57-AF450F1C6FD0}"/>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BEDE88B0-F6FA-4318-B0EA-9E8711876230}"/>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C0E602FD-5F9C-457E-8FE0-32E429D561FA}"/>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DBA1E40B-888D-4852-A6E4-21E3059D8993}"/>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7A7ACD32-191F-4801-B2DD-BEBECDAAFED0}"/>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3DE2E492-3313-4B00-90EF-F5C70C26097C}"/>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3EAEF38D-E1A6-4A29-B112-87FED3F54B66}"/>
              </a:ext>
            </a:extLst>
          </p:cNvPr>
          <p:cNvCxnSpPr/>
          <p:nvPr/>
        </p:nvCxnSpPr>
        <p:spPr>
          <a:xfrm>
            <a:off x="669303" y="5812915"/>
            <a:ext cx="4402317"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07E1BF1B-F86D-40AE-9B96-627444903A87}"/>
              </a:ext>
            </a:extLst>
          </p:cNvPr>
          <p:cNvCxnSpPr>
            <a:cxnSpLocks/>
          </p:cNvCxnSpPr>
          <p:nvPr/>
        </p:nvCxnSpPr>
        <p:spPr>
          <a:xfrm>
            <a:off x="5071620" y="5812915"/>
            <a:ext cx="9763" cy="455911"/>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76603374-63D5-4073-A663-E80ED99E5F05}"/>
              </a:ext>
            </a:extLst>
          </p:cNvPr>
          <p:cNvCxnSpPr>
            <a:cxnSpLocks/>
          </p:cNvCxnSpPr>
          <p:nvPr/>
        </p:nvCxnSpPr>
        <p:spPr>
          <a:xfrm>
            <a:off x="669303" y="838986"/>
            <a:ext cx="0" cy="4973929"/>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778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additive="base">
                                        <p:cTn id="16" dur="500" fill="hold"/>
                                        <p:tgtEl>
                                          <p:spTgt spid="4"/>
                                        </p:tgtEl>
                                        <p:attrNameLst>
                                          <p:attrName>ppt_x</p:attrName>
                                        </p:attrNameLst>
                                      </p:cBhvr>
                                      <p:tavLst>
                                        <p:tav tm="0">
                                          <p:val>
                                            <p:strVal val="#ppt_x"/>
                                          </p:val>
                                        </p:tav>
                                        <p:tav tm="100000">
                                          <p:val>
                                            <p:strVal val="#ppt_x"/>
                                          </p:val>
                                        </p:tav>
                                      </p:tavLst>
                                    </p:anim>
                                    <p:anim calcmode="lin" valueType="num">
                                      <p:cBhvr additive="base">
                                        <p:cTn id="17" dur="500" fill="hold"/>
                                        <p:tgtEl>
                                          <p:spTgt spid="4"/>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additive="base">
                                        <p:cTn id="26" dur="500" fill="hold"/>
                                        <p:tgtEl>
                                          <p:spTgt spid="6"/>
                                        </p:tgtEl>
                                        <p:attrNameLst>
                                          <p:attrName>ppt_x</p:attrName>
                                        </p:attrNameLst>
                                      </p:cBhvr>
                                      <p:tavLst>
                                        <p:tav tm="0">
                                          <p:val>
                                            <p:strVal val="#ppt_x"/>
                                          </p:val>
                                        </p:tav>
                                        <p:tav tm="100000">
                                          <p:val>
                                            <p:strVal val="#ppt_x"/>
                                          </p:val>
                                        </p:tav>
                                      </p:tavLst>
                                    </p:anim>
                                    <p:anim calcmode="lin" valueType="num">
                                      <p:cBhvr additive="base">
                                        <p:cTn id="27" dur="500" fill="hold"/>
                                        <p:tgtEl>
                                          <p:spTgt spid="6"/>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ppt_x"/>
                                          </p:val>
                                        </p:tav>
                                        <p:tav tm="100000">
                                          <p:val>
                                            <p:strVal val="#ppt_x"/>
                                          </p:val>
                                        </p:tav>
                                      </p:tavLst>
                                    </p:anim>
                                    <p:anim calcmode="lin" valueType="num">
                                      <p:cBhvr additive="base">
                                        <p:cTn id="32" dur="500" fill="hold"/>
                                        <p:tgtEl>
                                          <p:spTgt spid="7"/>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ntr" presetSubtype="4" fill="hold" grpId="0" nodeType="after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additive="base">
                                        <p:cTn id="36" dur="500" fill="hold"/>
                                        <p:tgtEl>
                                          <p:spTgt spid="8"/>
                                        </p:tgtEl>
                                        <p:attrNameLst>
                                          <p:attrName>ppt_x</p:attrName>
                                        </p:attrNameLst>
                                      </p:cBhvr>
                                      <p:tavLst>
                                        <p:tav tm="0">
                                          <p:val>
                                            <p:strVal val="#ppt_x"/>
                                          </p:val>
                                        </p:tav>
                                        <p:tav tm="100000">
                                          <p:val>
                                            <p:strVal val="#ppt_x"/>
                                          </p:val>
                                        </p:tav>
                                      </p:tavLst>
                                    </p:anim>
                                    <p:anim calcmode="lin" valueType="num">
                                      <p:cBhvr additive="base">
                                        <p:cTn id="37" dur="500" fill="hold"/>
                                        <p:tgtEl>
                                          <p:spTgt spid="8"/>
                                        </p:tgtEl>
                                        <p:attrNameLst>
                                          <p:attrName>ppt_y</p:attrName>
                                        </p:attrNameLst>
                                      </p:cBhvr>
                                      <p:tavLst>
                                        <p:tav tm="0">
                                          <p:val>
                                            <p:strVal val="1+#ppt_h/2"/>
                                          </p:val>
                                        </p:tav>
                                        <p:tav tm="100000">
                                          <p:val>
                                            <p:strVal val="#ppt_y"/>
                                          </p:val>
                                        </p:tav>
                                      </p:tavLst>
                                    </p:anim>
                                  </p:childTnLst>
                                </p:cTn>
                              </p:par>
                            </p:childTnLst>
                          </p:cTn>
                        </p:par>
                        <p:par>
                          <p:cTn id="38" fill="hold">
                            <p:stCondLst>
                              <p:cond delay="3500"/>
                            </p:stCondLst>
                            <p:childTnLst>
                              <p:par>
                                <p:cTn id="39" presetID="22" presetClass="entr" presetSubtype="4" fill="hold" nodeType="after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wipe(down)">
                                      <p:cBhvr>
                                        <p:cTn id="41" dur="500"/>
                                        <p:tgtEl>
                                          <p:spTgt spid="18"/>
                                        </p:tgtEl>
                                      </p:cBhvr>
                                    </p:animEffect>
                                  </p:childTnLst>
                                </p:cTn>
                              </p:par>
                            </p:childTnLst>
                          </p:cTn>
                        </p:par>
                        <p:par>
                          <p:cTn id="42" fill="hold">
                            <p:stCondLst>
                              <p:cond delay="4000"/>
                            </p:stCondLst>
                            <p:childTnLst>
                              <p:par>
                                <p:cTn id="43" presetID="22" presetClass="entr" presetSubtype="2" fill="hold" nodeType="after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wipe(right)">
                                      <p:cBhvr>
                                        <p:cTn id="45" dur="500"/>
                                        <p:tgtEl>
                                          <p:spTgt spid="17"/>
                                        </p:tgtEl>
                                      </p:cBhvr>
                                    </p:animEffect>
                                  </p:childTnLst>
                                </p:cTn>
                              </p:par>
                            </p:childTnLst>
                          </p:cTn>
                        </p:par>
                        <p:par>
                          <p:cTn id="46" fill="hold">
                            <p:stCondLst>
                              <p:cond delay="4500"/>
                            </p:stCondLst>
                            <p:childTnLst>
                              <p:par>
                                <p:cTn id="47" presetID="22" presetClass="entr" presetSubtype="4" fill="hold" nodeType="after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wipe(down)">
                                      <p:cBhvr>
                                        <p:cTn id="4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96938" y="838200"/>
            <a:ext cx="8652294" cy="1143000"/>
          </a:xfrm>
        </p:spPr>
        <p:txBody>
          <a:bodyPr/>
          <a:lstStyle/>
          <a:p>
            <a:r>
              <a:rPr lang="en-US" dirty="0"/>
              <a:t>Determination of price</a:t>
            </a:r>
          </a:p>
        </p:txBody>
      </p:sp>
      <p:sp>
        <p:nvSpPr>
          <p:cNvPr id="3" name="Content Placeholder 2"/>
          <p:cNvSpPr>
            <a:spLocks noGrp="1"/>
          </p:cNvSpPr>
          <p:nvPr>
            <p:ph idx="1"/>
          </p:nvPr>
        </p:nvSpPr>
        <p:spPr>
          <a:xfrm>
            <a:off x="2514600" y="1809750"/>
            <a:ext cx="7696200" cy="4114800"/>
          </a:xfrm>
        </p:spPr>
        <p:txBody>
          <a:bodyPr>
            <a:normAutofit/>
          </a:bodyPr>
          <a:lstStyle/>
          <a:p>
            <a:r>
              <a:rPr lang="en-US" sz="2000" dirty="0"/>
              <a:t>Norwegian law</a:t>
            </a:r>
          </a:p>
          <a:p>
            <a:pPr lvl="1"/>
            <a:r>
              <a:rPr lang="en-US" sz="1600" dirty="0"/>
              <a:t>Change of pricing mechanism might serve a purpose better</a:t>
            </a:r>
          </a:p>
          <a:p>
            <a:r>
              <a:rPr lang="en-US" sz="2000" dirty="0"/>
              <a:t>German law</a:t>
            </a:r>
          </a:p>
          <a:p>
            <a:pPr lvl="1"/>
            <a:r>
              <a:rPr lang="en-US" sz="1600" dirty="0"/>
              <a:t>No right to change the mechanism</a:t>
            </a:r>
          </a:p>
          <a:p>
            <a:r>
              <a:rPr lang="en-US" sz="2000" dirty="0"/>
              <a:t>Italian law</a:t>
            </a:r>
          </a:p>
          <a:p>
            <a:pPr lvl="1"/>
            <a:r>
              <a:rPr lang="en-US" sz="1600" dirty="0"/>
              <a:t>No right to change the mechanism</a:t>
            </a:r>
          </a:p>
          <a:p>
            <a:r>
              <a:rPr lang="en-US" sz="2000" dirty="0"/>
              <a:t>English law</a:t>
            </a:r>
          </a:p>
          <a:p>
            <a:pPr lvl="1"/>
            <a:r>
              <a:rPr lang="en-US" sz="1600" dirty="0"/>
              <a:t>No right to change the mechanism</a:t>
            </a:r>
          </a:p>
        </p:txBody>
      </p:sp>
      <p:sp>
        <p:nvSpPr>
          <p:cNvPr id="4" name="Rectangle 3">
            <a:extLst>
              <a:ext uri="{FF2B5EF4-FFF2-40B4-BE49-F238E27FC236}">
                <a16:creationId xmlns:a16="http://schemas.microsoft.com/office/drawing/2014/main" id="{DBC8E188-EE7F-4584-8447-CF1DE14C01D6}"/>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9AF4DE1C-3A37-4FF4-B145-ACDCC37F050F}"/>
              </a:ext>
            </a:extLst>
          </p:cNvPr>
          <p:cNvSpPr/>
          <p:nvPr/>
        </p:nvSpPr>
        <p:spPr>
          <a:xfrm rot="16200000">
            <a:off x="4785414" y="5547413"/>
            <a:ext cx="589173"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5C19BE0C-A11B-41F9-9D15-C81313E3F210}"/>
              </a:ext>
            </a:extLst>
          </p:cNvPr>
          <p:cNvSpPr/>
          <p:nvPr/>
        </p:nvSpPr>
        <p:spPr>
          <a:xfrm rot="16200000">
            <a:off x="6680724" y="5410723"/>
            <a:ext cx="862554"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A72AC205-B666-489A-96B0-02C518E3EC2A}"/>
              </a:ext>
            </a:extLst>
          </p:cNvPr>
          <p:cNvSpPr/>
          <p:nvPr/>
        </p:nvSpPr>
        <p:spPr>
          <a:xfrm rot="16200000">
            <a:off x="8594272" y="5292271"/>
            <a:ext cx="1099457"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1C1E6609-8DBF-446C-8442-89C951B76880}"/>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A21E5FBA-5D8B-49F4-AD5C-44BCD745503D}"/>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DD49DDBC-902B-44BF-8750-2724E6D8E450}"/>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C764690E-3283-4580-A278-5FE6CC198B46}"/>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EDDECF11-E7BE-44CD-A49B-15CF951F54C5}"/>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0221A785-E95B-4396-8AE8-E316679ECE91}"/>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88EB1B98-0D11-4AFE-81CF-39A41D3DBFEB}"/>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6CCC519F-A1A5-42B7-A1F2-266613601ED3}"/>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3B1DF22A-C076-4481-8749-342633EE6DFE}"/>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3D03674C-9874-4844-A6B1-A41D94E791FA}"/>
              </a:ext>
            </a:extLst>
          </p:cNvPr>
          <p:cNvCxnSpPr/>
          <p:nvPr/>
        </p:nvCxnSpPr>
        <p:spPr>
          <a:xfrm>
            <a:off x="669303" y="5812915"/>
            <a:ext cx="4402317"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CAA8B78-AB27-422C-AC2A-86987615DA5D}"/>
              </a:ext>
            </a:extLst>
          </p:cNvPr>
          <p:cNvCxnSpPr>
            <a:cxnSpLocks/>
          </p:cNvCxnSpPr>
          <p:nvPr/>
        </p:nvCxnSpPr>
        <p:spPr>
          <a:xfrm>
            <a:off x="5071620" y="5812915"/>
            <a:ext cx="9763" cy="455911"/>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3BF63E4-5491-4079-9B87-72C92BE7E70D}"/>
              </a:ext>
            </a:extLst>
          </p:cNvPr>
          <p:cNvCxnSpPr>
            <a:cxnSpLocks/>
          </p:cNvCxnSpPr>
          <p:nvPr/>
        </p:nvCxnSpPr>
        <p:spPr>
          <a:xfrm>
            <a:off x="669303" y="838986"/>
            <a:ext cx="0" cy="4973929"/>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3774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additive="base">
                                        <p:cTn id="16" dur="500" fill="hold"/>
                                        <p:tgtEl>
                                          <p:spTgt spid="4"/>
                                        </p:tgtEl>
                                        <p:attrNameLst>
                                          <p:attrName>ppt_x</p:attrName>
                                        </p:attrNameLst>
                                      </p:cBhvr>
                                      <p:tavLst>
                                        <p:tav tm="0">
                                          <p:val>
                                            <p:strVal val="#ppt_x"/>
                                          </p:val>
                                        </p:tav>
                                        <p:tav tm="100000">
                                          <p:val>
                                            <p:strVal val="#ppt_x"/>
                                          </p:val>
                                        </p:tav>
                                      </p:tavLst>
                                    </p:anim>
                                    <p:anim calcmode="lin" valueType="num">
                                      <p:cBhvr additive="base">
                                        <p:cTn id="17" dur="500" fill="hold"/>
                                        <p:tgtEl>
                                          <p:spTgt spid="4"/>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additive="base">
                                        <p:cTn id="26" dur="500" fill="hold"/>
                                        <p:tgtEl>
                                          <p:spTgt spid="6"/>
                                        </p:tgtEl>
                                        <p:attrNameLst>
                                          <p:attrName>ppt_x</p:attrName>
                                        </p:attrNameLst>
                                      </p:cBhvr>
                                      <p:tavLst>
                                        <p:tav tm="0">
                                          <p:val>
                                            <p:strVal val="#ppt_x"/>
                                          </p:val>
                                        </p:tav>
                                        <p:tav tm="100000">
                                          <p:val>
                                            <p:strVal val="#ppt_x"/>
                                          </p:val>
                                        </p:tav>
                                      </p:tavLst>
                                    </p:anim>
                                    <p:anim calcmode="lin" valueType="num">
                                      <p:cBhvr additive="base">
                                        <p:cTn id="27" dur="500" fill="hold"/>
                                        <p:tgtEl>
                                          <p:spTgt spid="6"/>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ppt_x"/>
                                          </p:val>
                                        </p:tav>
                                        <p:tav tm="100000">
                                          <p:val>
                                            <p:strVal val="#ppt_x"/>
                                          </p:val>
                                        </p:tav>
                                      </p:tavLst>
                                    </p:anim>
                                    <p:anim calcmode="lin" valueType="num">
                                      <p:cBhvr additive="base">
                                        <p:cTn id="32" dur="500" fill="hold"/>
                                        <p:tgtEl>
                                          <p:spTgt spid="7"/>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ntr" presetSubtype="4" fill="hold" grpId="0" nodeType="after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additive="base">
                                        <p:cTn id="36" dur="500" fill="hold"/>
                                        <p:tgtEl>
                                          <p:spTgt spid="8"/>
                                        </p:tgtEl>
                                        <p:attrNameLst>
                                          <p:attrName>ppt_x</p:attrName>
                                        </p:attrNameLst>
                                      </p:cBhvr>
                                      <p:tavLst>
                                        <p:tav tm="0">
                                          <p:val>
                                            <p:strVal val="#ppt_x"/>
                                          </p:val>
                                        </p:tav>
                                        <p:tav tm="100000">
                                          <p:val>
                                            <p:strVal val="#ppt_x"/>
                                          </p:val>
                                        </p:tav>
                                      </p:tavLst>
                                    </p:anim>
                                    <p:anim calcmode="lin" valueType="num">
                                      <p:cBhvr additive="base">
                                        <p:cTn id="37" dur="500" fill="hold"/>
                                        <p:tgtEl>
                                          <p:spTgt spid="8"/>
                                        </p:tgtEl>
                                        <p:attrNameLst>
                                          <p:attrName>ppt_y</p:attrName>
                                        </p:attrNameLst>
                                      </p:cBhvr>
                                      <p:tavLst>
                                        <p:tav tm="0">
                                          <p:val>
                                            <p:strVal val="1+#ppt_h/2"/>
                                          </p:val>
                                        </p:tav>
                                        <p:tav tm="100000">
                                          <p:val>
                                            <p:strVal val="#ppt_y"/>
                                          </p:val>
                                        </p:tav>
                                      </p:tavLst>
                                    </p:anim>
                                  </p:childTnLst>
                                </p:cTn>
                              </p:par>
                            </p:childTnLst>
                          </p:cTn>
                        </p:par>
                        <p:par>
                          <p:cTn id="38" fill="hold">
                            <p:stCondLst>
                              <p:cond delay="3500"/>
                            </p:stCondLst>
                            <p:childTnLst>
                              <p:par>
                                <p:cTn id="39" presetID="22" presetClass="entr" presetSubtype="4" fill="hold" nodeType="after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wipe(down)">
                                      <p:cBhvr>
                                        <p:cTn id="41" dur="500"/>
                                        <p:tgtEl>
                                          <p:spTgt spid="18"/>
                                        </p:tgtEl>
                                      </p:cBhvr>
                                    </p:animEffect>
                                  </p:childTnLst>
                                </p:cTn>
                              </p:par>
                            </p:childTnLst>
                          </p:cTn>
                        </p:par>
                        <p:par>
                          <p:cTn id="42" fill="hold">
                            <p:stCondLst>
                              <p:cond delay="4000"/>
                            </p:stCondLst>
                            <p:childTnLst>
                              <p:par>
                                <p:cTn id="43" presetID="22" presetClass="entr" presetSubtype="2" fill="hold" nodeType="after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wipe(right)">
                                      <p:cBhvr>
                                        <p:cTn id="45" dur="500"/>
                                        <p:tgtEl>
                                          <p:spTgt spid="17"/>
                                        </p:tgtEl>
                                      </p:cBhvr>
                                    </p:animEffect>
                                  </p:childTnLst>
                                </p:cTn>
                              </p:par>
                            </p:childTnLst>
                          </p:cTn>
                        </p:par>
                        <p:par>
                          <p:cTn id="46" fill="hold">
                            <p:stCondLst>
                              <p:cond delay="4500"/>
                            </p:stCondLst>
                            <p:childTnLst>
                              <p:par>
                                <p:cTn id="47" presetID="22" presetClass="entr" presetSubtype="4" fill="hold" nodeType="after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wipe(down)">
                                      <p:cBhvr>
                                        <p:cTn id="4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Box 23"/>
          <p:cNvSpPr txBox="1"/>
          <p:nvPr/>
        </p:nvSpPr>
        <p:spPr>
          <a:xfrm>
            <a:off x="4608232" y="2556509"/>
            <a:ext cx="2577950" cy="769441"/>
          </a:xfrm>
          <a:prstGeom prst="rect">
            <a:avLst/>
          </a:prstGeom>
          <a:noFill/>
        </p:spPr>
        <p:txBody>
          <a:bodyPr wrap="none" rtlCol="0">
            <a:spAutoFit/>
          </a:bodyPr>
          <a:lstStyle/>
          <a:p>
            <a:r>
              <a:rPr lang="en-US" sz="4400" dirty="0">
                <a:solidFill>
                  <a:schemeClr val="bg1">
                    <a:lumMod val="50000"/>
                  </a:schemeClr>
                </a:solidFill>
                <a:latin typeface="+mj-lt"/>
                <a:ea typeface="Open Sans" panose="020B0606030504020204" pitchFamily="34" charset="0"/>
                <a:cs typeface="Open Sans" panose="020B0606030504020204" pitchFamily="34" charset="0"/>
              </a:rPr>
              <a:t>Good faith</a:t>
            </a:r>
          </a:p>
        </p:txBody>
      </p:sp>
      <p:sp>
        <p:nvSpPr>
          <p:cNvPr id="3" name="Rectangle 2"/>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5" name="Rectangle 44"/>
          <p:cNvSpPr/>
          <p:nvPr/>
        </p:nvSpPr>
        <p:spPr>
          <a:xfrm rot="16200000">
            <a:off x="4785414" y="5547413"/>
            <a:ext cx="589173"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6" name="Rectangle 45"/>
          <p:cNvSpPr/>
          <p:nvPr/>
        </p:nvSpPr>
        <p:spPr>
          <a:xfrm rot="16200000">
            <a:off x="6680724" y="5410723"/>
            <a:ext cx="862554"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7" name="Rectangle 46"/>
          <p:cNvSpPr/>
          <p:nvPr/>
        </p:nvSpPr>
        <p:spPr>
          <a:xfrm rot="16200000">
            <a:off x="8594272" y="5292271"/>
            <a:ext cx="1099457"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8" name="Rectangle 47"/>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9" name="Rectangle 48"/>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6" name="Group 5"/>
          <p:cNvGrpSpPr/>
          <p:nvPr/>
        </p:nvGrpSpPr>
        <p:grpSpPr>
          <a:xfrm>
            <a:off x="2" y="6736617"/>
            <a:ext cx="12191999" cy="134339"/>
            <a:chOff x="2" y="2110197"/>
            <a:chExt cx="12191999" cy="134339"/>
          </a:xfrm>
        </p:grpSpPr>
        <p:sp>
          <p:nvSpPr>
            <p:cNvPr id="51" name="Rectangle 50"/>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2" name="Rectangle 51"/>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3" name="Rectangle 52"/>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4" name="Rectangle 53"/>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5" name="Rectangle 54"/>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6" name="Rectangle 55"/>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76" name="Straight Connector 75"/>
          <p:cNvCxnSpPr/>
          <p:nvPr/>
        </p:nvCxnSpPr>
        <p:spPr>
          <a:xfrm>
            <a:off x="669303" y="5812915"/>
            <a:ext cx="4402317"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a:cxnSpLocks/>
          </p:cNvCxnSpPr>
          <p:nvPr/>
        </p:nvCxnSpPr>
        <p:spPr>
          <a:xfrm>
            <a:off x="5071620" y="5812915"/>
            <a:ext cx="9763" cy="455911"/>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a:cxnSpLocks/>
          </p:cNvCxnSpPr>
          <p:nvPr/>
        </p:nvCxnSpPr>
        <p:spPr>
          <a:xfrm>
            <a:off x="669303" y="838986"/>
            <a:ext cx="0" cy="4973929"/>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28081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49"/>
                                        </p:tgtEl>
                                        <p:attrNameLst>
                                          <p:attrName>style.visibility</p:attrName>
                                        </p:attrNameLst>
                                      </p:cBhvr>
                                      <p:to>
                                        <p:strVal val="visible"/>
                                      </p:to>
                                    </p:set>
                                    <p:anim calcmode="lin" valueType="num">
                                      <p:cBhvr additive="base">
                                        <p:cTn id="11" dur="500" fill="hold"/>
                                        <p:tgtEl>
                                          <p:spTgt spid="49"/>
                                        </p:tgtEl>
                                        <p:attrNameLst>
                                          <p:attrName>ppt_x</p:attrName>
                                        </p:attrNameLst>
                                      </p:cBhvr>
                                      <p:tavLst>
                                        <p:tav tm="0">
                                          <p:val>
                                            <p:strVal val="#ppt_x"/>
                                          </p:val>
                                        </p:tav>
                                        <p:tav tm="100000">
                                          <p:val>
                                            <p:strVal val="#ppt_x"/>
                                          </p:val>
                                        </p:tav>
                                      </p:tavLst>
                                    </p:anim>
                                    <p:anim calcmode="lin" valueType="num">
                                      <p:cBhvr additive="base">
                                        <p:cTn id="12" dur="500" fill="hold"/>
                                        <p:tgtEl>
                                          <p:spTgt spid="49"/>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3"/>
                                        </p:tgtEl>
                                        <p:attrNameLst>
                                          <p:attrName>style.visibility</p:attrName>
                                        </p:attrNameLst>
                                      </p:cBhvr>
                                      <p:to>
                                        <p:strVal val="visible"/>
                                      </p:to>
                                    </p:set>
                                    <p:anim calcmode="lin" valueType="num">
                                      <p:cBhvr additive="base">
                                        <p:cTn id="16" dur="500" fill="hold"/>
                                        <p:tgtEl>
                                          <p:spTgt spid="3"/>
                                        </p:tgtEl>
                                        <p:attrNameLst>
                                          <p:attrName>ppt_x</p:attrName>
                                        </p:attrNameLst>
                                      </p:cBhvr>
                                      <p:tavLst>
                                        <p:tav tm="0">
                                          <p:val>
                                            <p:strVal val="#ppt_x"/>
                                          </p:val>
                                        </p:tav>
                                        <p:tav tm="100000">
                                          <p:val>
                                            <p:strVal val="#ppt_x"/>
                                          </p:val>
                                        </p:tav>
                                      </p:tavLst>
                                    </p:anim>
                                    <p:anim calcmode="lin" valueType="num">
                                      <p:cBhvr additive="base">
                                        <p:cTn id="17" dur="500" fill="hold"/>
                                        <p:tgtEl>
                                          <p:spTgt spid="3"/>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45"/>
                                        </p:tgtEl>
                                        <p:attrNameLst>
                                          <p:attrName>style.visibility</p:attrName>
                                        </p:attrNameLst>
                                      </p:cBhvr>
                                      <p:to>
                                        <p:strVal val="visible"/>
                                      </p:to>
                                    </p:set>
                                    <p:anim calcmode="lin" valueType="num">
                                      <p:cBhvr additive="base">
                                        <p:cTn id="21" dur="500" fill="hold"/>
                                        <p:tgtEl>
                                          <p:spTgt spid="45"/>
                                        </p:tgtEl>
                                        <p:attrNameLst>
                                          <p:attrName>ppt_x</p:attrName>
                                        </p:attrNameLst>
                                      </p:cBhvr>
                                      <p:tavLst>
                                        <p:tav tm="0">
                                          <p:val>
                                            <p:strVal val="#ppt_x"/>
                                          </p:val>
                                        </p:tav>
                                        <p:tav tm="100000">
                                          <p:val>
                                            <p:strVal val="#ppt_x"/>
                                          </p:val>
                                        </p:tav>
                                      </p:tavLst>
                                    </p:anim>
                                    <p:anim calcmode="lin" valueType="num">
                                      <p:cBhvr additive="base">
                                        <p:cTn id="22" dur="500" fill="hold"/>
                                        <p:tgtEl>
                                          <p:spTgt spid="45"/>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46"/>
                                        </p:tgtEl>
                                        <p:attrNameLst>
                                          <p:attrName>style.visibility</p:attrName>
                                        </p:attrNameLst>
                                      </p:cBhvr>
                                      <p:to>
                                        <p:strVal val="visible"/>
                                      </p:to>
                                    </p:set>
                                    <p:anim calcmode="lin" valueType="num">
                                      <p:cBhvr additive="base">
                                        <p:cTn id="26" dur="500" fill="hold"/>
                                        <p:tgtEl>
                                          <p:spTgt spid="46"/>
                                        </p:tgtEl>
                                        <p:attrNameLst>
                                          <p:attrName>ppt_x</p:attrName>
                                        </p:attrNameLst>
                                      </p:cBhvr>
                                      <p:tavLst>
                                        <p:tav tm="0">
                                          <p:val>
                                            <p:strVal val="#ppt_x"/>
                                          </p:val>
                                        </p:tav>
                                        <p:tav tm="100000">
                                          <p:val>
                                            <p:strVal val="#ppt_x"/>
                                          </p:val>
                                        </p:tav>
                                      </p:tavLst>
                                    </p:anim>
                                    <p:anim calcmode="lin" valueType="num">
                                      <p:cBhvr additive="base">
                                        <p:cTn id="27" dur="500" fill="hold"/>
                                        <p:tgtEl>
                                          <p:spTgt spid="46"/>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47"/>
                                        </p:tgtEl>
                                        <p:attrNameLst>
                                          <p:attrName>style.visibility</p:attrName>
                                        </p:attrNameLst>
                                      </p:cBhvr>
                                      <p:to>
                                        <p:strVal val="visible"/>
                                      </p:to>
                                    </p:set>
                                    <p:anim calcmode="lin" valueType="num">
                                      <p:cBhvr additive="base">
                                        <p:cTn id="31" dur="500" fill="hold"/>
                                        <p:tgtEl>
                                          <p:spTgt spid="47"/>
                                        </p:tgtEl>
                                        <p:attrNameLst>
                                          <p:attrName>ppt_x</p:attrName>
                                        </p:attrNameLst>
                                      </p:cBhvr>
                                      <p:tavLst>
                                        <p:tav tm="0">
                                          <p:val>
                                            <p:strVal val="#ppt_x"/>
                                          </p:val>
                                        </p:tav>
                                        <p:tav tm="100000">
                                          <p:val>
                                            <p:strVal val="#ppt_x"/>
                                          </p:val>
                                        </p:tav>
                                      </p:tavLst>
                                    </p:anim>
                                    <p:anim calcmode="lin" valueType="num">
                                      <p:cBhvr additive="base">
                                        <p:cTn id="32" dur="500" fill="hold"/>
                                        <p:tgtEl>
                                          <p:spTgt spid="47"/>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ntr" presetSubtype="4" fill="hold" grpId="0" nodeType="afterEffect">
                                  <p:stCondLst>
                                    <p:cond delay="0"/>
                                  </p:stCondLst>
                                  <p:childTnLst>
                                    <p:set>
                                      <p:cBhvr>
                                        <p:cTn id="35" dur="1" fill="hold">
                                          <p:stCondLst>
                                            <p:cond delay="0"/>
                                          </p:stCondLst>
                                        </p:cTn>
                                        <p:tgtEl>
                                          <p:spTgt spid="48"/>
                                        </p:tgtEl>
                                        <p:attrNameLst>
                                          <p:attrName>style.visibility</p:attrName>
                                        </p:attrNameLst>
                                      </p:cBhvr>
                                      <p:to>
                                        <p:strVal val="visible"/>
                                      </p:to>
                                    </p:set>
                                    <p:anim calcmode="lin" valueType="num">
                                      <p:cBhvr additive="base">
                                        <p:cTn id="36" dur="500" fill="hold"/>
                                        <p:tgtEl>
                                          <p:spTgt spid="48"/>
                                        </p:tgtEl>
                                        <p:attrNameLst>
                                          <p:attrName>ppt_x</p:attrName>
                                        </p:attrNameLst>
                                      </p:cBhvr>
                                      <p:tavLst>
                                        <p:tav tm="0">
                                          <p:val>
                                            <p:strVal val="#ppt_x"/>
                                          </p:val>
                                        </p:tav>
                                        <p:tav tm="100000">
                                          <p:val>
                                            <p:strVal val="#ppt_x"/>
                                          </p:val>
                                        </p:tav>
                                      </p:tavLst>
                                    </p:anim>
                                    <p:anim calcmode="lin" valueType="num">
                                      <p:cBhvr additive="base">
                                        <p:cTn id="37" dur="500" fill="hold"/>
                                        <p:tgtEl>
                                          <p:spTgt spid="48"/>
                                        </p:tgtEl>
                                        <p:attrNameLst>
                                          <p:attrName>ppt_y</p:attrName>
                                        </p:attrNameLst>
                                      </p:cBhvr>
                                      <p:tavLst>
                                        <p:tav tm="0">
                                          <p:val>
                                            <p:strVal val="1+#ppt_h/2"/>
                                          </p:val>
                                        </p:tav>
                                        <p:tav tm="100000">
                                          <p:val>
                                            <p:strVal val="#ppt_y"/>
                                          </p:val>
                                        </p:tav>
                                      </p:tavLst>
                                    </p:anim>
                                  </p:childTnLst>
                                </p:cTn>
                              </p:par>
                            </p:childTnLst>
                          </p:cTn>
                        </p:par>
                        <p:par>
                          <p:cTn id="38" fill="hold">
                            <p:stCondLst>
                              <p:cond delay="3500"/>
                            </p:stCondLst>
                            <p:childTnLst>
                              <p:par>
                                <p:cTn id="39" presetID="22" presetClass="entr" presetSubtype="4" fill="hold" nodeType="afterEffect">
                                  <p:stCondLst>
                                    <p:cond delay="0"/>
                                  </p:stCondLst>
                                  <p:childTnLst>
                                    <p:set>
                                      <p:cBhvr>
                                        <p:cTn id="40" dur="1" fill="hold">
                                          <p:stCondLst>
                                            <p:cond delay="0"/>
                                          </p:stCondLst>
                                        </p:cTn>
                                        <p:tgtEl>
                                          <p:spTgt spid="78"/>
                                        </p:tgtEl>
                                        <p:attrNameLst>
                                          <p:attrName>style.visibility</p:attrName>
                                        </p:attrNameLst>
                                      </p:cBhvr>
                                      <p:to>
                                        <p:strVal val="visible"/>
                                      </p:to>
                                    </p:set>
                                    <p:animEffect transition="in" filter="wipe(down)">
                                      <p:cBhvr>
                                        <p:cTn id="41" dur="500"/>
                                        <p:tgtEl>
                                          <p:spTgt spid="78"/>
                                        </p:tgtEl>
                                      </p:cBhvr>
                                    </p:animEffect>
                                  </p:childTnLst>
                                </p:cTn>
                              </p:par>
                            </p:childTnLst>
                          </p:cTn>
                        </p:par>
                        <p:par>
                          <p:cTn id="42" fill="hold">
                            <p:stCondLst>
                              <p:cond delay="4000"/>
                            </p:stCondLst>
                            <p:childTnLst>
                              <p:par>
                                <p:cTn id="43" presetID="22" presetClass="entr" presetSubtype="2" fill="hold" nodeType="afterEffect">
                                  <p:stCondLst>
                                    <p:cond delay="0"/>
                                  </p:stCondLst>
                                  <p:childTnLst>
                                    <p:set>
                                      <p:cBhvr>
                                        <p:cTn id="44" dur="1" fill="hold">
                                          <p:stCondLst>
                                            <p:cond delay="0"/>
                                          </p:stCondLst>
                                        </p:cTn>
                                        <p:tgtEl>
                                          <p:spTgt spid="76"/>
                                        </p:tgtEl>
                                        <p:attrNameLst>
                                          <p:attrName>style.visibility</p:attrName>
                                        </p:attrNameLst>
                                      </p:cBhvr>
                                      <p:to>
                                        <p:strVal val="visible"/>
                                      </p:to>
                                    </p:set>
                                    <p:animEffect transition="in" filter="wipe(right)">
                                      <p:cBhvr>
                                        <p:cTn id="45" dur="500"/>
                                        <p:tgtEl>
                                          <p:spTgt spid="76"/>
                                        </p:tgtEl>
                                      </p:cBhvr>
                                    </p:animEffect>
                                  </p:childTnLst>
                                </p:cTn>
                              </p:par>
                            </p:childTnLst>
                          </p:cTn>
                        </p:par>
                        <p:par>
                          <p:cTn id="46" fill="hold">
                            <p:stCondLst>
                              <p:cond delay="4500"/>
                            </p:stCondLst>
                            <p:childTnLst>
                              <p:par>
                                <p:cTn id="47" presetID="22" presetClass="entr" presetSubtype="4" fill="hold" nodeType="afterEffect">
                                  <p:stCondLst>
                                    <p:cond delay="0"/>
                                  </p:stCondLst>
                                  <p:childTnLst>
                                    <p:set>
                                      <p:cBhvr>
                                        <p:cTn id="48" dur="1" fill="hold">
                                          <p:stCondLst>
                                            <p:cond delay="0"/>
                                          </p:stCondLst>
                                        </p:cTn>
                                        <p:tgtEl>
                                          <p:spTgt spid="81"/>
                                        </p:tgtEl>
                                        <p:attrNameLst>
                                          <p:attrName>style.visibility</p:attrName>
                                        </p:attrNameLst>
                                      </p:cBhvr>
                                      <p:to>
                                        <p:strVal val="visible"/>
                                      </p:to>
                                    </p:set>
                                    <p:animEffect transition="in" filter="wipe(down)">
                                      <p:cBhvr>
                                        <p:cTn id="49" dur="500"/>
                                        <p:tgtEl>
                                          <p:spTgt spid="81"/>
                                        </p:tgtEl>
                                      </p:cBhvr>
                                    </p:animEffect>
                                  </p:childTnLst>
                                </p:cTn>
                              </p:par>
                            </p:childTnLst>
                          </p:cTn>
                        </p:par>
                        <p:par>
                          <p:cTn id="50" fill="hold">
                            <p:stCondLst>
                              <p:cond delay="5000"/>
                            </p:stCondLst>
                            <p:childTnLst>
                              <p:par>
                                <p:cTn id="51" presetID="10" presetClass="entr" presetSubtype="0" fill="hold" grpId="0" nodeType="afterEffect">
                                  <p:stCondLst>
                                    <p:cond delay="0"/>
                                  </p:stCondLst>
                                  <p:childTnLst>
                                    <p:set>
                                      <p:cBhvr>
                                        <p:cTn id="52" dur="1" fill="hold">
                                          <p:stCondLst>
                                            <p:cond delay="0"/>
                                          </p:stCondLst>
                                        </p:cTn>
                                        <p:tgtEl>
                                          <p:spTgt spid="24"/>
                                        </p:tgtEl>
                                        <p:attrNameLst>
                                          <p:attrName>style.visibility</p:attrName>
                                        </p:attrNameLst>
                                      </p:cBhvr>
                                      <p:to>
                                        <p:strVal val="visible"/>
                                      </p:to>
                                    </p:set>
                                    <p:animEffect transition="in" filter="fade">
                                      <p:cBhvr>
                                        <p:cTn id="53"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3" grpId="0" animBg="1"/>
      <p:bldP spid="45" grpId="0" animBg="1"/>
      <p:bldP spid="46" grpId="0" animBg="1"/>
      <p:bldP spid="47" grpId="0" animBg="1"/>
      <p:bldP spid="48" grpId="0" animBg="1"/>
      <p:bldP spid="49"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1897" y="359415"/>
            <a:ext cx="8652294" cy="1143000"/>
          </a:xfrm>
        </p:spPr>
        <p:txBody>
          <a:bodyPr/>
          <a:lstStyle/>
          <a:p>
            <a:r>
              <a:rPr lang="en-US" dirty="0"/>
              <a:t>Withheld information</a:t>
            </a:r>
          </a:p>
        </p:txBody>
      </p:sp>
      <p:sp>
        <p:nvSpPr>
          <p:cNvPr id="3" name="Content Placeholder 2"/>
          <p:cNvSpPr>
            <a:spLocks noGrp="1"/>
          </p:cNvSpPr>
          <p:nvPr>
            <p:ph idx="1"/>
          </p:nvPr>
        </p:nvSpPr>
        <p:spPr>
          <a:xfrm>
            <a:off x="1685884" y="1769545"/>
            <a:ext cx="9679359" cy="3700206"/>
          </a:xfrm>
        </p:spPr>
        <p:txBody>
          <a:bodyPr/>
          <a:lstStyle/>
          <a:p>
            <a:r>
              <a:rPr lang="en-US" sz="2400" b="1" dirty="0"/>
              <a:t>Parties are negotiating a contract</a:t>
            </a:r>
          </a:p>
          <a:p>
            <a:pPr lvl="1"/>
            <a:r>
              <a:rPr lang="en-US" dirty="0"/>
              <a:t>Company A wants to sell a bakery to company B</a:t>
            </a:r>
          </a:p>
          <a:p>
            <a:r>
              <a:rPr lang="en-US" sz="2400" b="1" dirty="0"/>
              <a:t>One party withholds certain information</a:t>
            </a:r>
          </a:p>
          <a:p>
            <a:pPr lvl="1" algn="just"/>
            <a:r>
              <a:rPr lang="en-US" dirty="0"/>
              <a:t>The building can no longer be used as a bakery; though B never asked about this, nor discussed the purpose, A knew it was likely they want to use it this way</a:t>
            </a:r>
          </a:p>
          <a:p>
            <a:r>
              <a:rPr lang="en-US" sz="2400" b="1" dirty="0"/>
              <a:t>Contract is concluded, interests of one party are negatively impacted</a:t>
            </a:r>
          </a:p>
          <a:p>
            <a:pPr lvl="1"/>
            <a:r>
              <a:rPr lang="en-US" dirty="0"/>
              <a:t>B can’t use the building as a bakery</a:t>
            </a:r>
            <a:endParaRPr lang="sr-Latn-ME" dirty="0"/>
          </a:p>
        </p:txBody>
      </p:sp>
      <p:sp>
        <p:nvSpPr>
          <p:cNvPr id="4" name="Rectangle 3">
            <a:extLst>
              <a:ext uri="{FF2B5EF4-FFF2-40B4-BE49-F238E27FC236}">
                <a16:creationId xmlns:a16="http://schemas.microsoft.com/office/drawing/2014/main" id="{F3DE9C3C-33EB-4121-89B0-2B8E174DDDD7}"/>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5DE0DC95-19ED-44D7-B434-4AC2BBC8CBD8}"/>
              </a:ext>
            </a:extLst>
          </p:cNvPr>
          <p:cNvSpPr/>
          <p:nvPr/>
        </p:nvSpPr>
        <p:spPr>
          <a:xfrm rot="16200000">
            <a:off x="4785414" y="5547413"/>
            <a:ext cx="589173"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8EBBD57A-6792-41E5-B57D-A66AC4B11F68}"/>
              </a:ext>
            </a:extLst>
          </p:cNvPr>
          <p:cNvSpPr/>
          <p:nvPr/>
        </p:nvSpPr>
        <p:spPr>
          <a:xfrm rot="16200000">
            <a:off x="6680724" y="5410723"/>
            <a:ext cx="862554"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E18C0629-321C-4904-97BF-DD4399A8008B}"/>
              </a:ext>
            </a:extLst>
          </p:cNvPr>
          <p:cNvSpPr/>
          <p:nvPr/>
        </p:nvSpPr>
        <p:spPr>
          <a:xfrm rot="16200000">
            <a:off x="8594272" y="5292271"/>
            <a:ext cx="1099457"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1FCEF8EF-7772-4117-B11E-A87F3156772C}"/>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33B93679-641C-46CB-A476-1E90FFA5A81A}"/>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9C9A15C5-AEAF-4978-AED4-088D18321305}"/>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FC221E5A-9C86-40EA-B800-7148B8E8543F}"/>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CD7AFCB1-69DB-446B-94B8-135F4D36F06B}"/>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2FE3BF65-6290-477A-9805-34BF3BF2F8CC}"/>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85FAD8C1-515E-4CAA-A177-18365E96A3AD}"/>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B461F9BE-9551-4A04-A4E9-5B7F59B50C4E}"/>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7A58776C-47DC-4E1D-8E3E-956E4B56F670}"/>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B3E9788A-2A54-413E-AB7A-F96C1CC01F4A}"/>
              </a:ext>
            </a:extLst>
          </p:cNvPr>
          <p:cNvCxnSpPr/>
          <p:nvPr/>
        </p:nvCxnSpPr>
        <p:spPr>
          <a:xfrm>
            <a:off x="669303" y="5812915"/>
            <a:ext cx="4402317"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03A646B-4C43-4490-86E8-7C6796675A90}"/>
              </a:ext>
            </a:extLst>
          </p:cNvPr>
          <p:cNvCxnSpPr>
            <a:cxnSpLocks/>
          </p:cNvCxnSpPr>
          <p:nvPr/>
        </p:nvCxnSpPr>
        <p:spPr>
          <a:xfrm>
            <a:off x="5071620" y="5812915"/>
            <a:ext cx="9763" cy="455911"/>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1B69940-BE75-4382-B46D-C4950E162A68}"/>
              </a:ext>
            </a:extLst>
          </p:cNvPr>
          <p:cNvCxnSpPr>
            <a:cxnSpLocks/>
          </p:cNvCxnSpPr>
          <p:nvPr/>
        </p:nvCxnSpPr>
        <p:spPr>
          <a:xfrm>
            <a:off x="669303" y="838986"/>
            <a:ext cx="0" cy="4973929"/>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0999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additive="base">
                                        <p:cTn id="16" dur="500" fill="hold"/>
                                        <p:tgtEl>
                                          <p:spTgt spid="4"/>
                                        </p:tgtEl>
                                        <p:attrNameLst>
                                          <p:attrName>ppt_x</p:attrName>
                                        </p:attrNameLst>
                                      </p:cBhvr>
                                      <p:tavLst>
                                        <p:tav tm="0">
                                          <p:val>
                                            <p:strVal val="#ppt_x"/>
                                          </p:val>
                                        </p:tav>
                                        <p:tav tm="100000">
                                          <p:val>
                                            <p:strVal val="#ppt_x"/>
                                          </p:val>
                                        </p:tav>
                                      </p:tavLst>
                                    </p:anim>
                                    <p:anim calcmode="lin" valueType="num">
                                      <p:cBhvr additive="base">
                                        <p:cTn id="17" dur="500" fill="hold"/>
                                        <p:tgtEl>
                                          <p:spTgt spid="4"/>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additive="base">
                                        <p:cTn id="26" dur="500" fill="hold"/>
                                        <p:tgtEl>
                                          <p:spTgt spid="6"/>
                                        </p:tgtEl>
                                        <p:attrNameLst>
                                          <p:attrName>ppt_x</p:attrName>
                                        </p:attrNameLst>
                                      </p:cBhvr>
                                      <p:tavLst>
                                        <p:tav tm="0">
                                          <p:val>
                                            <p:strVal val="#ppt_x"/>
                                          </p:val>
                                        </p:tav>
                                        <p:tav tm="100000">
                                          <p:val>
                                            <p:strVal val="#ppt_x"/>
                                          </p:val>
                                        </p:tav>
                                      </p:tavLst>
                                    </p:anim>
                                    <p:anim calcmode="lin" valueType="num">
                                      <p:cBhvr additive="base">
                                        <p:cTn id="27" dur="500" fill="hold"/>
                                        <p:tgtEl>
                                          <p:spTgt spid="6"/>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ppt_x"/>
                                          </p:val>
                                        </p:tav>
                                        <p:tav tm="100000">
                                          <p:val>
                                            <p:strVal val="#ppt_x"/>
                                          </p:val>
                                        </p:tav>
                                      </p:tavLst>
                                    </p:anim>
                                    <p:anim calcmode="lin" valueType="num">
                                      <p:cBhvr additive="base">
                                        <p:cTn id="32" dur="500" fill="hold"/>
                                        <p:tgtEl>
                                          <p:spTgt spid="7"/>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ntr" presetSubtype="4" fill="hold" grpId="0" nodeType="after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additive="base">
                                        <p:cTn id="36" dur="500" fill="hold"/>
                                        <p:tgtEl>
                                          <p:spTgt spid="8"/>
                                        </p:tgtEl>
                                        <p:attrNameLst>
                                          <p:attrName>ppt_x</p:attrName>
                                        </p:attrNameLst>
                                      </p:cBhvr>
                                      <p:tavLst>
                                        <p:tav tm="0">
                                          <p:val>
                                            <p:strVal val="#ppt_x"/>
                                          </p:val>
                                        </p:tav>
                                        <p:tav tm="100000">
                                          <p:val>
                                            <p:strVal val="#ppt_x"/>
                                          </p:val>
                                        </p:tav>
                                      </p:tavLst>
                                    </p:anim>
                                    <p:anim calcmode="lin" valueType="num">
                                      <p:cBhvr additive="base">
                                        <p:cTn id="37" dur="500" fill="hold"/>
                                        <p:tgtEl>
                                          <p:spTgt spid="8"/>
                                        </p:tgtEl>
                                        <p:attrNameLst>
                                          <p:attrName>ppt_y</p:attrName>
                                        </p:attrNameLst>
                                      </p:cBhvr>
                                      <p:tavLst>
                                        <p:tav tm="0">
                                          <p:val>
                                            <p:strVal val="1+#ppt_h/2"/>
                                          </p:val>
                                        </p:tav>
                                        <p:tav tm="100000">
                                          <p:val>
                                            <p:strVal val="#ppt_y"/>
                                          </p:val>
                                        </p:tav>
                                      </p:tavLst>
                                    </p:anim>
                                  </p:childTnLst>
                                </p:cTn>
                              </p:par>
                            </p:childTnLst>
                          </p:cTn>
                        </p:par>
                        <p:par>
                          <p:cTn id="38" fill="hold">
                            <p:stCondLst>
                              <p:cond delay="3500"/>
                            </p:stCondLst>
                            <p:childTnLst>
                              <p:par>
                                <p:cTn id="39" presetID="22" presetClass="entr" presetSubtype="4" fill="hold" nodeType="after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wipe(down)">
                                      <p:cBhvr>
                                        <p:cTn id="41" dur="500"/>
                                        <p:tgtEl>
                                          <p:spTgt spid="18"/>
                                        </p:tgtEl>
                                      </p:cBhvr>
                                    </p:animEffect>
                                  </p:childTnLst>
                                </p:cTn>
                              </p:par>
                            </p:childTnLst>
                          </p:cTn>
                        </p:par>
                        <p:par>
                          <p:cTn id="42" fill="hold">
                            <p:stCondLst>
                              <p:cond delay="4000"/>
                            </p:stCondLst>
                            <p:childTnLst>
                              <p:par>
                                <p:cTn id="43" presetID="22" presetClass="entr" presetSubtype="2" fill="hold" nodeType="after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wipe(right)">
                                      <p:cBhvr>
                                        <p:cTn id="45" dur="500"/>
                                        <p:tgtEl>
                                          <p:spTgt spid="17"/>
                                        </p:tgtEl>
                                      </p:cBhvr>
                                    </p:animEffect>
                                  </p:childTnLst>
                                </p:cTn>
                              </p:par>
                            </p:childTnLst>
                          </p:cTn>
                        </p:par>
                        <p:par>
                          <p:cTn id="46" fill="hold">
                            <p:stCondLst>
                              <p:cond delay="4500"/>
                            </p:stCondLst>
                            <p:childTnLst>
                              <p:par>
                                <p:cTn id="47" presetID="22" presetClass="entr" presetSubtype="4" fill="hold" nodeType="after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wipe(down)">
                                      <p:cBhvr>
                                        <p:cTn id="49" dur="500"/>
                                        <p:tgtEl>
                                          <p:spTgt spid="19"/>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3">
                                            <p:txEl>
                                              <p:pRg st="0" end="0"/>
                                            </p:txEl>
                                          </p:spTgt>
                                        </p:tgtEl>
                                        <p:attrNameLst>
                                          <p:attrName>style.visibility</p:attrName>
                                        </p:attrNameLst>
                                      </p:cBhvr>
                                      <p:to>
                                        <p:strVal val="visible"/>
                                      </p:to>
                                    </p:set>
                                    <p:animEffect transition="in" filter="fade">
                                      <p:cBhvr>
                                        <p:cTn id="54" dur="500"/>
                                        <p:tgtEl>
                                          <p:spTgt spid="3">
                                            <p:txEl>
                                              <p:pRg st="0" end="0"/>
                                            </p:txEl>
                                          </p:spTgt>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
                                            <p:txEl>
                                              <p:pRg st="1" end="1"/>
                                            </p:txEl>
                                          </p:spTgt>
                                        </p:tgtEl>
                                        <p:attrNameLst>
                                          <p:attrName>style.visibility</p:attrName>
                                        </p:attrNameLst>
                                      </p:cBhvr>
                                      <p:to>
                                        <p:strVal val="visible"/>
                                      </p:to>
                                    </p:set>
                                    <p:animEffect transition="in" filter="fade">
                                      <p:cBhvr>
                                        <p:cTn id="57" dur="500"/>
                                        <p:tgtEl>
                                          <p:spTgt spid="3">
                                            <p:txEl>
                                              <p:pRg st="1" end="1"/>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2" end="2"/>
                                            </p:txEl>
                                          </p:spTgt>
                                        </p:tgtEl>
                                        <p:attrNameLst>
                                          <p:attrName>style.visibility</p:attrName>
                                        </p:attrNameLst>
                                      </p:cBhvr>
                                      <p:to>
                                        <p:strVal val="visible"/>
                                      </p:to>
                                    </p:set>
                                    <p:animEffect transition="in" filter="fade">
                                      <p:cBhvr>
                                        <p:cTn id="62" dur="500"/>
                                        <p:tgtEl>
                                          <p:spTgt spid="3">
                                            <p:txEl>
                                              <p:pRg st="2" end="2"/>
                                            </p:txEl>
                                          </p:spTgt>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3">
                                            <p:txEl>
                                              <p:pRg st="3" end="3"/>
                                            </p:txEl>
                                          </p:spTgt>
                                        </p:tgtEl>
                                        <p:attrNameLst>
                                          <p:attrName>style.visibility</p:attrName>
                                        </p:attrNameLst>
                                      </p:cBhvr>
                                      <p:to>
                                        <p:strVal val="visible"/>
                                      </p:to>
                                    </p:set>
                                    <p:animEffect transition="in" filter="fade">
                                      <p:cBhvr>
                                        <p:cTn id="65" dur="500"/>
                                        <p:tgtEl>
                                          <p:spTgt spid="3">
                                            <p:txEl>
                                              <p:pRg st="3" end="3"/>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3">
                                            <p:txEl>
                                              <p:pRg st="4" end="4"/>
                                            </p:txEl>
                                          </p:spTgt>
                                        </p:tgtEl>
                                        <p:attrNameLst>
                                          <p:attrName>style.visibility</p:attrName>
                                        </p:attrNameLst>
                                      </p:cBhvr>
                                      <p:to>
                                        <p:strVal val="visible"/>
                                      </p:to>
                                    </p:set>
                                    <p:animEffect transition="in" filter="fade">
                                      <p:cBhvr>
                                        <p:cTn id="70" dur="500"/>
                                        <p:tgtEl>
                                          <p:spTgt spid="3">
                                            <p:txEl>
                                              <p:pRg st="4" end="4"/>
                                            </p:txEl>
                                          </p:spTgt>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
                                            <p:txEl>
                                              <p:pRg st="5" end="5"/>
                                            </p:txEl>
                                          </p:spTgt>
                                        </p:tgtEl>
                                        <p:attrNameLst>
                                          <p:attrName>style.visibility</p:attrName>
                                        </p:attrNameLst>
                                      </p:cBhvr>
                                      <p:to>
                                        <p:strVal val="visible"/>
                                      </p:to>
                                    </p:set>
                                    <p:animEffect transition="in" filter="fade">
                                      <p:cBhvr>
                                        <p:cTn id="73"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5" grpId="0" animBg="1"/>
      <p:bldP spid="6" grpId="0" animBg="1"/>
      <p:bldP spid="7" grpId="0" animBg="1"/>
      <p:bldP spid="8" grpId="0" animBg="1"/>
      <p:bldP spid="9"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59139" y="448727"/>
            <a:ext cx="8652294" cy="1143000"/>
          </a:xfrm>
        </p:spPr>
        <p:txBody>
          <a:bodyPr/>
          <a:lstStyle/>
          <a:p>
            <a:r>
              <a:rPr lang="en-US" dirty="0"/>
              <a:t>Undue influence</a:t>
            </a:r>
          </a:p>
        </p:txBody>
      </p:sp>
      <p:sp>
        <p:nvSpPr>
          <p:cNvPr id="3" name="Content Placeholder 2"/>
          <p:cNvSpPr>
            <a:spLocks noGrp="1"/>
          </p:cNvSpPr>
          <p:nvPr>
            <p:ph idx="1"/>
          </p:nvPr>
        </p:nvSpPr>
        <p:spPr/>
        <p:txBody>
          <a:bodyPr>
            <a:normAutofit/>
          </a:bodyPr>
          <a:lstStyle/>
          <a:p>
            <a:r>
              <a:rPr lang="en-US" sz="2400" b="1" dirty="0"/>
              <a:t>Parties enter into a contract </a:t>
            </a:r>
          </a:p>
          <a:p>
            <a:pPr lvl="1"/>
            <a:r>
              <a:rPr lang="en-US" dirty="0"/>
              <a:t>Company A licenses songs to company B; B pays percentage of what it gets from distribution companies</a:t>
            </a:r>
          </a:p>
          <a:p>
            <a:r>
              <a:rPr lang="en-US" sz="2400" b="1" dirty="0"/>
              <a:t>One party exercises certain rights which influence the contract in an undue manner</a:t>
            </a:r>
          </a:p>
          <a:p>
            <a:pPr lvl="1" algn="just"/>
            <a:r>
              <a:rPr lang="en-US" dirty="0"/>
              <a:t>B starts a company C as a subsidiary, enters into a distribution agreement with that company, licensing them A’s song at a very low price, and using that as a basis to calculate A’s royalties</a:t>
            </a:r>
          </a:p>
          <a:p>
            <a:pPr lvl="1" algn="just"/>
            <a:r>
              <a:rPr lang="en-US" dirty="0"/>
              <a:t>C then distributes song at a much higher price to consumers, making huge profits</a:t>
            </a:r>
            <a:endParaRPr lang="sr-Latn-ME" dirty="0"/>
          </a:p>
        </p:txBody>
      </p:sp>
      <p:sp>
        <p:nvSpPr>
          <p:cNvPr id="4" name="Rectangle 3">
            <a:extLst>
              <a:ext uri="{FF2B5EF4-FFF2-40B4-BE49-F238E27FC236}">
                <a16:creationId xmlns:a16="http://schemas.microsoft.com/office/drawing/2014/main" id="{FD9D2972-A307-4810-9C13-DBDC5DAFF31D}"/>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FF5F8028-D871-4F68-BEF5-05AF31DABEB3}"/>
              </a:ext>
            </a:extLst>
          </p:cNvPr>
          <p:cNvSpPr/>
          <p:nvPr/>
        </p:nvSpPr>
        <p:spPr>
          <a:xfrm rot="16200000">
            <a:off x="4785414" y="5547413"/>
            <a:ext cx="589173"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4A2A8AC1-C463-421A-8CFD-D90FB8E6FA22}"/>
              </a:ext>
            </a:extLst>
          </p:cNvPr>
          <p:cNvSpPr/>
          <p:nvPr/>
        </p:nvSpPr>
        <p:spPr>
          <a:xfrm rot="16200000">
            <a:off x="6680724" y="5410723"/>
            <a:ext cx="862554"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CE5E94BB-2ED9-4DB2-923C-05522F37E5EF}"/>
              </a:ext>
            </a:extLst>
          </p:cNvPr>
          <p:cNvSpPr/>
          <p:nvPr/>
        </p:nvSpPr>
        <p:spPr>
          <a:xfrm rot="16200000">
            <a:off x="8594272" y="5292271"/>
            <a:ext cx="1099457"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41DD990A-2685-4F7E-8FFE-95B21C7F054F}"/>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2F78E0F3-A13C-4170-96CF-11B05541A75C}"/>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651E9A16-1B22-44F6-9086-2E78541BF04F}"/>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8F62AC4C-7E5F-4EDA-86A2-9DC39CBADB35}"/>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E4707DEC-EDDE-4099-917E-287A51B7B52F}"/>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60574D3D-EC4A-4A69-9700-B8203052894C}"/>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330988E0-9951-47B8-8930-53A5B4D81662}"/>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2B9DEAE0-5810-4152-AEDF-66132124A517}"/>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2CFAA255-CC93-4759-8956-C5EB0B62F5FB}"/>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6C97747F-A167-49D6-8FC1-BA2DCC86FC56}"/>
              </a:ext>
            </a:extLst>
          </p:cNvPr>
          <p:cNvCxnSpPr/>
          <p:nvPr/>
        </p:nvCxnSpPr>
        <p:spPr>
          <a:xfrm>
            <a:off x="669303" y="5812915"/>
            <a:ext cx="4402317"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C016124-C311-4D9B-87CC-0487CD33BBBD}"/>
              </a:ext>
            </a:extLst>
          </p:cNvPr>
          <p:cNvCxnSpPr>
            <a:cxnSpLocks/>
          </p:cNvCxnSpPr>
          <p:nvPr/>
        </p:nvCxnSpPr>
        <p:spPr>
          <a:xfrm>
            <a:off x="5071620" y="5812915"/>
            <a:ext cx="9763" cy="455911"/>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C09A86B2-F017-4F3D-8B9C-D4588D751923}"/>
              </a:ext>
            </a:extLst>
          </p:cNvPr>
          <p:cNvCxnSpPr>
            <a:cxnSpLocks/>
          </p:cNvCxnSpPr>
          <p:nvPr/>
        </p:nvCxnSpPr>
        <p:spPr>
          <a:xfrm>
            <a:off x="669303" y="838986"/>
            <a:ext cx="0" cy="4973929"/>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14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additive="base">
                                        <p:cTn id="16" dur="500" fill="hold"/>
                                        <p:tgtEl>
                                          <p:spTgt spid="4"/>
                                        </p:tgtEl>
                                        <p:attrNameLst>
                                          <p:attrName>ppt_x</p:attrName>
                                        </p:attrNameLst>
                                      </p:cBhvr>
                                      <p:tavLst>
                                        <p:tav tm="0">
                                          <p:val>
                                            <p:strVal val="#ppt_x"/>
                                          </p:val>
                                        </p:tav>
                                        <p:tav tm="100000">
                                          <p:val>
                                            <p:strVal val="#ppt_x"/>
                                          </p:val>
                                        </p:tav>
                                      </p:tavLst>
                                    </p:anim>
                                    <p:anim calcmode="lin" valueType="num">
                                      <p:cBhvr additive="base">
                                        <p:cTn id="17" dur="500" fill="hold"/>
                                        <p:tgtEl>
                                          <p:spTgt spid="4"/>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additive="base">
                                        <p:cTn id="26" dur="500" fill="hold"/>
                                        <p:tgtEl>
                                          <p:spTgt spid="6"/>
                                        </p:tgtEl>
                                        <p:attrNameLst>
                                          <p:attrName>ppt_x</p:attrName>
                                        </p:attrNameLst>
                                      </p:cBhvr>
                                      <p:tavLst>
                                        <p:tav tm="0">
                                          <p:val>
                                            <p:strVal val="#ppt_x"/>
                                          </p:val>
                                        </p:tav>
                                        <p:tav tm="100000">
                                          <p:val>
                                            <p:strVal val="#ppt_x"/>
                                          </p:val>
                                        </p:tav>
                                      </p:tavLst>
                                    </p:anim>
                                    <p:anim calcmode="lin" valueType="num">
                                      <p:cBhvr additive="base">
                                        <p:cTn id="27" dur="500" fill="hold"/>
                                        <p:tgtEl>
                                          <p:spTgt spid="6"/>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ppt_x"/>
                                          </p:val>
                                        </p:tav>
                                        <p:tav tm="100000">
                                          <p:val>
                                            <p:strVal val="#ppt_x"/>
                                          </p:val>
                                        </p:tav>
                                      </p:tavLst>
                                    </p:anim>
                                    <p:anim calcmode="lin" valueType="num">
                                      <p:cBhvr additive="base">
                                        <p:cTn id="32" dur="500" fill="hold"/>
                                        <p:tgtEl>
                                          <p:spTgt spid="7"/>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ntr" presetSubtype="4" fill="hold" grpId="0" nodeType="after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additive="base">
                                        <p:cTn id="36" dur="500" fill="hold"/>
                                        <p:tgtEl>
                                          <p:spTgt spid="8"/>
                                        </p:tgtEl>
                                        <p:attrNameLst>
                                          <p:attrName>ppt_x</p:attrName>
                                        </p:attrNameLst>
                                      </p:cBhvr>
                                      <p:tavLst>
                                        <p:tav tm="0">
                                          <p:val>
                                            <p:strVal val="#ppt_x"/>
                                          </p:val>
                                        </p:tav>
                                        <p:tav tm="100000">
                                          <p:val>
                                            <p:strVal val="#ppt_x"/>
                                          </p:val>
                                        </p:tav>
                                      </p:tavLst>
                                    </p:anim>
                                    <p:anim calcmode="lin" valueType="num">
                                      <p:cBhvr additive="base">
                                        <p:cTn id="37" dur="500" fill="hold"/>
                                        <p:tgtEl>
                                          <p:spTgt spid="8"/>
                                        </p:tgtEl>
                                        <p:attrNameLst>
                                          <p:attrName>ppt_y</p:attrName>
                                        </p:attrNameLst>
                                      </p:cBhvr>
                                      <p:tavLst>
                                        <p:tav tm="0">
                                          <p:val>
                                            <p:strVal val="1+#ppt_h/2"/>
                                          </p:val>
                                        </p:tav>
                                        <p:tav tm="100000">
                                          <p:val>
                                            <p:strVal val="#ppt_y"/>
                                          </p:val>
                                        </p:tav>
                                      </p:tavLst>
                                    </p:anim>
                                  </p:childTnLst>
                                </p:cTn>
                              </p:par>
                            </p:childTnLst>
                          </p:cTn>
                        </p:par>
                        <p:par>
                          <p:cTn id="38" fill="hold">
                            <p:stCondLst>
                              <p:cond delay="3500"/>
                            </p:stCondLst>
                            <p:childTnLst>
                              <p:par>
                                <p:cTn id="39" presetID="22" presetClass="entr" presetSubtype="4" fill="hold" nodeType="after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wipe(down)">
                                      <p:cBhvr>
                                        <p:cTn id="41" dur="500"/>
                                        <p:tgtEl>
                                          <p:spTgt spid="18"/>
                                        </p:tgtEl>
                                      </p:cBhvr>
                                    </p:animEffect>
                                  </p:childTnLst>
                                </p:cTn>
                              </p:par>
                            </p:childTnLst>
                          </p:cTn>
                        </p:par>
                        <p:par>
                          <p:cTn id="42" fill="hold">
                            <p:stCondLst>
                              <p:cond delay="4000"/>
                            </p:stCondLst>
                            <p:childTnLst>
                              <p:par>
                                <p:cTn id="43" presetID="22" presetClass="entr" presetSubtype="2" fill="hold" nodeType="after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wipe(right)">
                                      <p:cBhvr>
                                        <p:cTn id="45" dur="500"/>
                                        <p:tgtEl>
                                          <p:spTgt spid="17"/>
                                        </p:tgtEl>
                                      </p:cBhvr>
                                    </p:animEffect>
                                  </p:childTnLst>
                                </p:cTn>
                              </p:par>
                            </p:childTnLst>
                          </p:cTn>
                        </p:par>
                        <p:par>
                          <p:cTn id="46" fill="hold">
                            <p:stCondLst>
                              <p:cond delay="4500"/>
                            </p:stCondLst>
                            <p:childTnLst>
                              <p:par>
                                <p:cTn id="47" presetID="22" presetClass="entr" presetSubtype="4" fill="hold" nodeType="after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wipe(down)">
                                      <p:cBhvr>
                                        <p:cTn id="49" dur="500"/>
                                        <p:tgtEl>
                                          <p:spTgt spid="19"/>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3">
                                            <p:txEl>
                                              <p:pRg st="0" end="0"/>
                                            </p:txEl>
                                          </p:spTgt>
                                        </p:tgtEl>
                                        <p:attrNameLst>
                                          <p:attrName>style.visibility</p:attrName>
                                        </p:attrNameLst>
                                      </p:cBhvr>
                                      <p:to>
                                        <p:strVal val="visible"/>
                                      </p:to>
                                    </p:set>
                                    <p:animEffect transition="in" filter="fade">
                                      <p:cBhvr>
                                        <p:cTn id="54" dur="500"/>
                                        <p:tgtEl>
                                          <p:spTgt spid="3">
                                            <p:txEl>
                                              <p:pRg st="0" end="0"/>
                                            </p:txEl>
                                          </p:spTgt>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
                                            <p:txEl>
                                              <p:pRg st="1" end="1"/>
                                            </p:txEl>
                                          </p:spTgt>
                                        </p:tgtEl>
                                        <p:attrNameLst>
                                          <p:attrName>style.visibility</p:attrName>
                                        </p:attrNameLst>
                                      </p:cBhvr>
                                      <p:to>
                                        <p:strVal val="visible"/>
                                      </p:to>
                                    </p:set>
                                    <p:animEffect transition="in" filter="fade">
                                      <p:cBhvr>
                                        <p:cTn id="57" dur="500"/>
                                        <p:tgtEl>
                                          <p:spTgt spid="3">
                                            <p:txEl>
                                              <p:pRg st="1" end="1"/>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2" end="2"/>
                                            </p:txEl>
                                          </p:spTgt>
                                        </p:tgtEl>
                                        <p:attrNameLst>
                                          <p:attrName>style.visibility</p:attrName>
                                        </p:attrNameLst>
                                      </p:cBhvr>
                                      <p:to>
                                        <p:strVal val="visible"/>
                                      </p:to>
                                    </p:set>
                                    <p:animEffect transition="in" filter="fade">
                                      <p:cBhvr>
                                        <p:cTn id="62" dur="500"/>
                                        <p:tgtEl>
                                          <p:spTgt spid="3">
                                            <p:txEl>
                                              <p:pRg st="2" end="2"/>
                                            </p:txEl>
                                          </p:spTgt>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3">
                                            <p:txEl>
                                              <p:pRg st="3" end="3"/>
                                            </p:txEl>
                                          </p:spTgt>
                                        </p:tgtEl>
                                        <p:attrNameLst>
                                          <p:attrName>style.visibility</p:attrName>
                                        </p:attrNameLst>
                                      </p:cBhvr>
                                      <p:to>
                                        <p:strVal val="visible"/>
                                      </p:to>
                                    </p:set>
                                    <p:animEffect transition="in" filter="fade">
                                      <p:cBhvr>
                                        <p:cTn id="65" dur="500"/>
                                        <p:tgtEl>
                                          <p:spTgt spid="3">
                                            <p:txEl>
                                              <p:pRg st="3" end="3"/>
                                            </p:txEl>
                                          </p:spTgt>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
                                            <p:txEl>
                                              <p:pRg st="4" end="4"/>
                                            </p:txEl>
                                          </p:spTgt>
                                        </p:tgtEl>
                                        <p:attrNameLst>
                                          <p:attrName>style.visibility</p:attrName>
                                        </p:attrNameLst>
                                      </p:cBhvr>
                                      <p:to>
                                        <p:strVal val="visible"/>
                                      </p:to>
                                    </p:set>
                                    <p:animEffect transition="in" filter="fade">
                                      <p:cBhvr>
                                        <p:cTn id="68"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5" grpId="0" animBg="1"/>
      <p:bldP spid="6" grpId="0" animBg="1"/>
      <p:bldP spid="7" grpId="0" animBg="1"/>
      <p:bldP spid="8" grpId="0" animBg="1"/>
      <p:bldP spid="9"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1897" y="415734"/>
            <a:ext cx="8652294" cy="1143000"/>
          </a:xfrm>
        </p:spPr>
        <p:txBody>
          <a:bodyPr/>
          <a:lstStyle/>
          <a:p>
            <a:r>
              <a:rPr lang="en-US" dirty="0"/>
              <a:t>Norwegian law</a:t>
            </a:r>
          </a:p>
        </p:txBody>
      </p:sp>
      <p:sp>
        <p:nvSpPr>
          <p:cNvPr id="3" name="Content Placeholder 2"/>
          <p:cNvSpPr>
            <a:spLocks noGrp="1"/>
          </p:cNvSpPr>
          <p:nvPr>
            <p:ph idx="1"/>
          </p:nvPr>
        </p:nvSpPr>
        <p:spPr/>
        <p:txBody>
          <a:bodyPr/>
          <a:lstStyle/>
          <a:p>
            <a:r>
              <a:rPr lang="en-US" dirty="0"/>
              <a:t>Recurring principle of good faith and fair dealing, both during negotiations and performance</a:t>
            </a:r>
          </a:p>
          <a:p>
            <a:r>
              <a:rPr lang="en-US" dirty="0"/>
              <a:t> § 33: a contractual provision is not binding on a party, if enforcement thereof would be unfair because of circumstances that were known to the other party at the moment of conclusion of the contract.</a:t>
            </a:r>
          </a:p>
          <a:p>
            <a:r>
              <a:rPr lang="en-US" dirty="0"/>
              <a:t>Extends to “as is” sales</a:t>
            </a:r>
          </a:p>
          <a:p>
            <a:endParaRPr lang="sr-Latn-ME" dirty="0"/>
          </a:p>
        </p:txBody>
      </p:sp>
      <p:sp>
        <p:nvSpPr>
          <p:cNvPr id="4" name="Rectangle 3">
            <a:extLst>
              <a:ext uri="{FF2B5EF4-FFF2-40B4-BE49-F238E27FC236}">
                <a16:creationId xmlns:a16="http://schemas.microsoft.com/office/drawing/2014/main" id="{D6796777-F1B7-4BB1-95A8-D4BCDFB60EA4}"/>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AA305B27-121C-4B16-8127-9A2562C500EB}"/>
              </a:ext>
            </a:extLst>
          </p:cNvPr>
          <p:cNvSpPr/>
          <p:nvPr/>
        </p:nvSpPr>
        <p:spPr>
          <a:xfrm rot="16200000">
            <a:off x="4785414" y="5547413"/>
            <a:ext cx="589173"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D250309F-5AD5-4037-B73D-BA08B3440506}"/>
              </a:ext>
            </a:extLst>
          </p:cNvPr>
          <p:cNvSpPr/>
          <p:nvPr/>
        </p:nvSpPr>
        <p:spPr>
          <a:xfrm rot="16200000">
            <a:off x="6680724" y="5410723"/>
            <a:ext cx="862554"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9978AADA-9828-4DD7-BFB7-4A5F9C6AFB6F}"/>
              </a:ext>
            </a:extLst>
          </p:cNvPr>
          <p:cNvSpPr/>
          <p:nvPr/>
        </p:nvSpPr>
        <p:spPr>
          <a:xfrm rot="16200000">
            <a:off x="8594272" y="5292271"/>
            <a:ext cx="1099457"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37096114-ED7A-4B3D-99E4-90CACFCCD754}"/>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1515208E-DF9D-4FB3-8DA1-E41F40E9FEEB}"/>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64518B97-5252-41F3-AA6E-D57DDAAE55D1}"/>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2E727968-EC1C-4E31-BC9A-80ADF9D35ABF}"/>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91EA2949-2A18-421A-8EE6-25BF8CD2DCF4}"/>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1B1B942B-71C0-4CA1-B31D-EE8556D4A92F}"/>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00023182-BFBF-4F30-A938-B8F701DF6D87}"/>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4BBD829B-2358-4350-ACC5-FC9B6AFFF0AB}"/>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CC2F7509-D754-4A6A-AF7F-ECFB7E848B63}"/>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33433A84-DEE5-4149-BC28-5945655A6D9C}"/>
              </a:ext>
            </a:extLst>
          </p:cNvPr>
          <p:cNvCxnSpPr/>
          <p:nvPr/>
        </p:nvCxnSpPr>
        <p:spPr>
          <a:xfrm>
            <a:off x="669303" y="5812915"/>
            <a:ext cx="4402317"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94A3D9DF-4E46-4397-A935-8532ED1C09D1}"/>
              </a:ext>
            </a:extLst>
          </p:cNvPr>
          <p:cNvCxnSpPr>
            <a:cxnSpLocks/>
          </p:cNvCxnSpPr>
          <p:nvPr/>
        </p:nvCxnSpPr>
        <p:spPr>
          <a:xfrm>
            <a:off x="5071620" y="5812915"/>
            <a:ext cx="9763" cy="455911"/>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0E63483-E1AE-4946-AFC3-3C57D1242C86}"/>
              </a:ext>
            </a:extLst>
          </p:cNvPr>
          <p:cNvCxnSpPr>
            <a:cxnSpLocks/>
          </p:cNvCxnSpPr>
          <p:nvPr/>
        </p:nvCxnSpPr>
        <p:spPr>
          <a:xfrm>
            <a:off x="669303" y="838986"/>
            <a:ext cx="0" cy="4973929"/>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5530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additive="base">
                                        <p:cTn id="16" dur="500" fill="hold"/>
                                        <p:tgtEl>
                                          <p:spTgt spid="4"/>
                                        </p:tgtEl>
                                        <p:attrNameLst>
                                          <p:attrName>ppt_x</p:attrName>
                                        </p:attrNameLst>
                                      </p:cBhvr>
                                      <p:tavLst>
                                        <p:tav tm="0">
                                          <p:val>
                                            <p:strVal val="#ppt_x"/>
                                          </p:val>
                                        </p:tav>
                                        <p:tav tm="100000">
                                          <p:val>
                                            <p:strVal val="#ppt_x"/>
                                          </p:val>
                                        </p:tav>
                                      </p:tavLst>
                                    </p:anim>
                                    <p:anim calcmode="lin" valueType="num">
                                      <p:cBhvr additive="base">
                                        <p:cTn id="17" dur="500" fill="hold"/>
                                        <p:tgtEl>
                                          <p:spTgt spid="4"/>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additive="base">
                                        <p:cTn id="26" dur="500" fill="hold"/>
                                        <p:tgtEl>
                                          <p:spTgt spid="6"/>
                                        </p:tgtEl>
                                        <p:attrNameLst>
                                          <p:attrName>ppt_x</p:attrName>
                                        </p:attrNameLst>
                                      </p:cBhvr>
                                      <p:tavLst>
                                        <p:tav tm="0">
                                          <p:val>
                                            <p:strVal val="#ppt_x"/>
                                          </p:val>
                                        </p:tav>
                                        <p:tav tm="100000">
                                          <p:val>
                                            <p:strVal val="#ppt_x"/>
                                          </p:val>
                                        </p:tav>
                                      </p:tavLst>
                                    </p:anim>
                                    <p:anim calcmode="lin" valueType="num">
                                      <p:cBhvr additive="base">
                                        <p:cTn id="27" dur="500" fill="hold"/>
                                        <p:tgtEl>
                                          <p:spTgt spid="6"/>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ppt_x"/>
                                          </p:val>
                                        </p:tav>
                                        <p:tav tm="100000">
                                          <p:val>
                                            <p:strVal val="#ppt_x"/>
                                          </p:val>
                                        </p:tav>
                                      </p:tavLst>
                                    </p:anim>
                                    <p:anim calcmode="lin" valueType="num">
                                      <p:cBhvr additive="base">
                                        <p:cTn id="32" dur="500" fill="hold"/>
                                        <p:tgtEl>
                                          <p:spTgt spid="7"/>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ntr" presetSubtype="4" fill="hold" grpId="0" nodeType="after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additive="base">
                                        <p:cTn id="36" dur="500" fill="hold"/>
                                        <p:tgtEl>
                                          <p:spTgt spid="8"/>
                                        </p:tgtEl>
                                        <p:attrNameLst>
                                          <p:attrName>ppt_x</p:attrName>
                                        </p:attrNameLst>
                                      </p:cBhvr>
                                      <p:tavLst>
                                        <p:tav tm="0">
                                          <p:val>
                                            <p:strVal val="#ppt_x"/>
                                          </p:val>
                                        </p:tav>
                                        <p:tav tm="100000">
                                          <p:val>
                                            <p:strVal val="#ppt_x"/>
                                          </p:val>
                                        </p:tav>
                                      </p:tavLst>
                                    </p:anim>
                                    <p:anim calcmode="lin" valueType="num">
                                      <p:cBhvr additive="base">
                                        <p:cTn id="37" dur="500" fill="hold"/>
                                        <p:tgtEl>
                                          <p:spTgt spid="8"/>
                                        </p:tgtEl>
                                        <p:attrNameLst>
                                          <p:attrName>ppt_y</p:attrName>
                                        </p:attrNameLst>
                                      </p:cBhvr>
                                      <p:tavLst>
                                        <p:tav tm="0">
                                          <p:val>
                                            <p:strVal val="1+#ppt_h/2"/>
                                          </p:val>
                                        </p:tav>
                                        <p:tav tm="100000">
                                          <p:val>
                                            <p:strVal val="#ppt_y"/>
                                          </p:val>
                                        </p:tav>
                                      </p:tavLst>
                                    </p:anim>
                                  </p:childTnLst>
                                </p:cTn>
                              </p:par>
                            </p:childTnLst>
                          </p:cTn>
                        </p:par>
                        <p:par>
                          <p:cTn id="38" fill="hold">
                            <p:stCondLst>
                              <p:cond delay="3500"/>
                            </p:stCondLst>
                            <p:childTnLst>
                              <p:par>
                                <p:cTn id="39" presetID="22" presetClass="entr" presetSubtype="4" fill="hold" nodeType="after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wipe(down)">
                                      <p:cBhvr>
                                        <p:cTn id="41" dur="500"/>
                                        <p:tgtEl>
                                          <p:spTgt spid="18"/>
                                        </p:tgtEl>
                                      </p:cBhvr>
                                    </p:animEffect>
                                  </p:childTnLst>
                                </p:cTn>
                              </p:par>
                            </p:childTnLst>
                          </p:cTn>
                        </p:par>
                        <p:par>
                          <p:cTn id="42" fill="hold">
                            <p:stCondLst>
                              <p:cond delay="4000"/>
                            </p:stCondLst>
                            <p:childTnLst>
                              <p:par>
                                <p:cTn id="43" presetID="22" presetClass="entr" presetSubtype="2" fill="hold" nodeType="after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wipe(right)">
                                      <p:cBhvr>
                                        <p:cTn id="45" dur="500"/>
                                        <p:tgtEl>
                                          <p:spTgt spid="17"/>
                                        </p:tgtEl>
                                      </p:cBhvr>
                                    </p:animEffect>
                                  </p:childTnLst>
                                </p:cTn>
                              </p:par>
                            </p:childTnLst>
                          </p:cTn>
                        </p:par>
                        <p:par>
                          <p:cTn id="46" fill="hold">
                            <p:stCondLst>
                              <p:cond delay="4500"/>
                            </p:stCondLst>
                            <p:childTnLst>
                              <p:par>
                                <p:cTn id="47" presetID="22" presetClass="entr" presetSubtype="4" fill="hold" nodeType="after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wipe(down)">
                                      <p:cBhvr>
                                        <p:cTn id="4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2128" y="516394"/>
            <a:ext cx="8652294" cy="1143000"/>
          </a:xfrm>
        </p:spPr>
        <p:txBody>
          <a:bodyPr/>
          <a:lstStyle/>
          <a:p>
            <a:r>
              <a:rPr lang="en-US" dirty="0"/>
              <a:t>German law</a:t>
            </a:r>
          </a:p>
        </p:txBody>
      </p:sp>
      <p:sp>
        <p:nvSpPr>
          <p:cNvPr id="3" name="Content Placeholder 2"/>
          <p:cNvSpPr>
            <a:spLocks noGrp="1"/>
          </p:cNvSpPr>
          <p:nvPr>
            <p:ph idx="1"/>
          </p:nvPr>
        </p:nvSpPr>
        <p:spPr>
          <a:xfrm>
            <a:off x="1175704" y="1880567"/>
            <a:ext cx="10515600" cy="4351338"/>
          </a:xfrm>
        </p:spPr>
        <p:txBody>
          <a:bodyPr/>
          <a:lstStyle/>
          <a:p>
            <a:r>
              <a:rPr lang="en-US" dirty="0"/>
              <a:t>General rule on good faith, extends to both negotiations and performance</a:t>
            </a:r>
          </a:p>
          <a:p>
            <a:r>
              <a:rPr lang="en-US" dirty="0"/>
              <a:t>Duty to inform the other party of material aspects that are relevant to proper understanding of the performance of contract</a:t>
            </a:r>
          </a:p>
          <a:p>
            <a:r>
              <a:rPr lang="en-US" dirty="0"/>
              <a:t>§241(2) BGB provides for a duty of care towards the rights, things and interests of the other party</a:t>
            </a:r>
          </a:p>
          <a:p>
            <a:r>
              <a:rPr lang="en-US" dirty="0"/>
              <a:t>Limits the abuse of rights</a:t>
            </a:r>
          </a:p>
          <a:p>
            <a:endParaRPr lang="sr-Latn-ME" dirty="0"/>
          </a:p>
        </p:txBody>
      </p:sp>
      <p:sp>
        <p:nvSpPr>
          <p:cNvPr id="4" name="Rectangle 3">
            <a:extLst>
              <a:ext uri="{FF2B5EF4-FFF2-40B4-BE49-F238E27FC236}">
                <a16:creationId xmlns:a16="http://schemas.microsoft.com/office/drawing/2014/main" id="{5B372CFB-D95A-4856-9766-ED05FD408F2A}"/>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3EA22175-44C8-4D28-AB8F-B60589A3ABAF}"/>
              </a:ext>
            </a:extLst>
          </p:cNvPr>
          <p:cNvSpPr/>
          <p:nvPr/>
        </p:nvSpPr>
        <p:spPr>
          <a:xfrm rot="16200000">
            <a:off x="4785414" y="5547413"/>
            <a:ext cx="589173"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8081FF90-8607-4140-863B-EC495F22EC72}"/>
              </a:ext>
            </a:extLst>
          </p:cNvPr>
          <p:cNvSpPr/>
          <p:nvPr/>
        </p:nvSpPr>
        <p:spPr>
          <a:xfrm rot="16200000">
            <a:off x="6680724" y="5410723"/>
            <a:ext cx="862554"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B61AC4FF-B2D5-4867-A6BD-407F6C0A6C6B}"/>
              </a:ext>
            </a:extLst>
          </p:cNvPr>
          <p:cNvSpPr/>
          <p:nvPr/>
        </p:nvSpPr>
        <p:spPr>
          <a:xfrm rot="16200000">
            <a:off x="8594272" y="5292271"/>
            <a:ext cx="1099457"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43521A0A-D5BA-4539-8CD8-07D23C59C9FE}"/>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074E60EA-514B-4758-8A64-92A1B99E29B5}"/>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3EDEE496-01B8-491B-B1A6-8A79AF434263}"/>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6CDAFD0E-F19B-453F-BF21-028038D8F529}"/>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EB979847-236D-4566-90B1-6692B1A52F8A}"/>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8B282F28-141F-4731-996D-B840B780B7ED}"/>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AB9DF782-C40A-4418-88E5-2425EC89E082}"/>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01F24BFD-73F7-461E-995F-5866636EAD29}"/>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EDA4AFAA-3435-4A23-BCAB-A72441AE47C4}"/>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51CE9869-4F2F-4311-B01B-3925D48E4A69}"/>
              </a:ext>
            </a:extLst>
          </p:cNvPr>
          <p:cNvCxnSpPr/>
          <p:nvPr/>
        </p:nvCxnSpPr>
        <p:spPr>
          <a:xfrm>
            <a:off x="669303" y="5812915"/>
            <a:ext cx="4402317"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9D938236-6972-4427-A657-A3CD00507066}"/>
              </a:ext>
            </a:extLst>
          </p:cNvPr>
          <p:cNvCxnSpPr>
            <a:cxnSpLocks/>
          </p:cNvCxnSpPr>
          <p:nvPr/>
        </p:nvCxnSpPr>
        <p:spPr>
          <a:xfrm>
            <a:off x="5071620" y="5812915"/>
            <a:ext cx="9763" cy="455911"/>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3EDAFFA-13C9-4B3F-BDEF-E1901E69F161}"/>
              </a:ext>
            </a:extLst>
          </p:cNvPr>
          <p:cNvCxnSpPr>
            <a:cxnSpLocks/>
          </p:cNvCxnSpPr>
          <p:nvPr/>
        </p:nvCxnSpPr>
        <p:spPr>
          <a:xfrm>
            <a:off x="669303" y="838986"/>
            <a:ext cx="0" cy="4973929"/>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4314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additive="base">
                                        <p:cTn id="16" dur="500" fill="hold"/>
                                        <p:tgtEl>
                                          <p:spTgt spid="4"/>
                                        </p:tgtEl>
                                        <p:attrNameLst>
                                          <p:attrName>ppt_x</p:attrName>
                                        </p:attrNameLst>
                                      </p:cBhvr>
                                      <p:tavLst>
                                        <p:tav tm="0">
                                          <p:val>
                                            <p:strVal val="#ppt_x"/>
                                          </p:val>
                                        </p:tav>
                                        <p:tav tm="100000">
                                          <p:val>
                                            <p:strVal val="#ppt_x"/>
                                          </p:val>
                                        </p:tav>
                                      </p:tavLst>
                                    </p:anim>
                                    <p:anim calcmode="lin" valueType="num">
                                      <p:cBhvr additive="base">
                                        <p:cTn id="17" dur="500" fill="hold"/>
                                        <p:tgtEl>
                                          <p:spTgt spid="4"/>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additive="base">
                                        <p:cTn id="26" dur="500" fill="hold"/>
                                        <p:tgtEl>
                                          <p:spTgt spid="6"/>
                                        </p:tgtEl>
                                        <p:attrNameLst>
                                          <p:attrName>ppt_x</p:attrName>
                                        </p:attrNameLst>
                                      </p:cBhvr>
                                      <p:tavLst>
                                        <p:tav tm="0">
                                          <p:val>
                                            <p:strVal val="#ppt_x"/>
                                          </p:val>
                                        </p:tav>
                                        <p:tav tm="100000">
                                          <p:val>
                                            <p:strVal val="#ppt_x"/>
                                          </p:val>
                                        </p:tav>
                                      </p:tavLst>
                                    </p:anim>
                                    <p:anim calcmode="lin" valueType="num">
                                      <p:cBhvr additive="base">
                                        <p:cTn id="27" dur="500" fill="hold"/>
                                        <p:tgtEl>
                                          <p:spTgt spid="6"/>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ppt_x"/>
                                          </p:val>
                                        </p:tav>
                                        <p:tav tm="100000">
                                          <p:val>
                                            <p:strVal val="#ppt_x"/>
                                          </p:val>
                                        </p:tav>
                                      </p:tavLst>
                                    </p:anim>
                                    <p:anim calcmode="lin" valueType="num">
                                      <p:cBhvr additive="base">
                                        <p:cTn id="32" dur="500" fill="hold"/>
                                        <p:tgtEl>
                                          <p:spTgt spid="7"/>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ntr" presetSubtype="4" fill="hold" grpId="0" nodeType="after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additive="base">
                                        <p:cTn id="36" dur="500" fill="hold"/>
                                        <p:tgtEl>
                                          <p:spTgt spid="8"/>
                                        </p:tgtEl>
                                        <p:attrNameLst>
                                          <p:attrName>ppt_x</p:attrName>
                                        </p:attrNameLst>
                                      </p:cBhvr>
                                      <p:tavLst>
                                        <p:tav tm="0">
                                          <p:val>
                                            <p:strVal val="#ppt_x"/>
                                          </p:val>
                                        </p:tav>
                                        <p:tav tm="100000">
                                          <p:val>
                                            <p:strVal val="#ppt_x"/>
                                          </p:val>
                                        </p:tav>
                                      </p:tavLst>
                                    </p:anim>
                                    <p:anim calcmode="lin" valueType="num">
                                      <p:cBhvr additive="base">
                                        <p:cTn id="37" dur="500" fill="hold"/>
                                        <p:tgtEl>
                                          <p:spTgt spid="8"/>
                                        </p:tgtEl>
                                        <p:attrNameLst>
                                          <p:attrName>ppt_y</p:attrName>
                                        </p:attrNameLst>
                                      </p:cBhvr>
                                      <p:tavLst>
                                        <p:tav tm="0">
                                          <p:val>
                                            <p:strVal val="1+#ppt_h/2"/>
                                          </p:val>
                                        </p:tav>
                                        <p:tav tm="100000">
                                          <p:val>
                                            <p:strVal val="#ppt_y"/>
                                          </p:val>
                                        </p:tav>
                                      </p:tavLst>
                                    </p:anim>
                                  </p:childTnLst>
                                </p:cTn>
                              </p:par>
                            </p:childTnLst>
                          </p:cTn>
                        </p:par>
                        <p:par>
                          <p:cTn id="38" fill="hold">
                            <p:stCondLst>
                              <p:cond delay="3500"/>
                            </p:stCondLst>
                            <p:childTnLst>
                              <p:par>
                                <p:cTn id="39" presetID="22" presetClass="entr" presetSubtype="4" fill="hold" nodeType="after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wipe(down)">
                                      <p:cBhvr>
                                        <p:cTn id="41" dur="500"/>
                                        <p:tgtEl>
                                          <p:spTgt spid="18"/>
                                        </p:tgtEl>
                                      </p:cBhvr>
                                    </p:animEffect>
                                  </p:childTnLst>
                                </p:cTn>
                              </p:par>
                            </p:childTnLst>
                          </p:cTn>
                        </p:par>
                        <p:par>
                          <p:cTn id="42" fill="hold">
                            <p:stCondLst>
                              <p:cond delay="4000"/>
                            </p:stCondLst>
                            <p:childTnLst>
                              <p:par>
                                <p:cTn id="43" presetID="22" presetClass="entr" presetSubtype="2" fill="hold" nodeType="after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wipe(right)">
                                      <p:cBhvr>
                                        <p:cTn id="45" dur="500"/>
                                        <p:tgtEl>
                                          <p:spTgt spid="17"/>
                                        </p:tgtEl>
                                      </p:cBhvr>
                                    </p:animEffect>
                                  </p:childTnLst>
                                </p:cTn>
                              </p:par>
                            </p:childTnLst>
                          </p:cTn>
                        </p:par>
                        <p:par>
                          <p:cTn id="46" fill="hold">
                            <p:stCondLst>
                              <p:cond delay="4500"/>
                            </p:stCondLst>
                            <p:childTnLst>
                              <p:par>
                                <p:cTn id="47" presetID="22" presetClass="entr" presetSubtype="4" fill="hold" nodeType="after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wipe(down)">
                                      <p:cBhvr>
                                        <p:cTn id="4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21783" y="802880"/>
            <a:ext cx="8652294" cy="1143000"/>
          </a:xfrm>
        </p:spPr>
        <p:txBody>
          <a:bodyPr/>
          <a:lstStyle/>
          <a:p>
            <a:r>
              <a:rPr lang="en-US" dirty="0"/>
              <a:t>Italian law</a:t>
            </a:r>
          </a:p>
        </p:txBody>
      </p:sp>
      <p:sp>
        <p:nvSpPr>
          <p:cNvPr id="3" name="Content Placeholder 2"/>
          <p:cNvSpPr>
            <a:spLocks noGrp="1"/>
          </p:cNvSpPr>
          <p:nvPr>
            <p:ph idx="1"/>
          </p:nvPr>
        </p:nvSpPr>
        <p:spPr>
          <a:xfrm>
            <a:off x="1517132" y="2261240"/>
            <a:ext cx="10515600" cy="4351338"/>
          </a:xfrm>
        </p:spPr>
        <p:txBody>
          <a:bodyPr/>
          <a:lstStyle/>
          <a:p>
            <a:r>
              <a:rPr lang="en-US" dirty="0"/>
              <a:t>General rule on good faith, specific rules on good faith during negotiations and performance</a:t>
            </a:r>
          </a:p>
          <a:p>
            <a:r>
              <a:rPr lang="en-US" dirty="0"/>
              <a:t>Duty of disclosure, cooperation, protection of other party’s rights and things</a:t>
            </a:r>
          </a:p>
          <a:p>
            <a:r>
              <a:rPr lang="en-US" dirty="0"/>
              <a:t>Only an assumption for performing the contract correctly: not evaluation of content</a:t>
            </a:r>
          </a:p>
          <a:p>
            <a:endParaRPr lang="sr-Latn-ME" dirty="0"/>
          </a:p>
        </p:txBody>
      </p:sp>
      <p:sp>
        <p:nvSpPr>
          <p:cNvPr id="4" name="Rectangle 3">
            <a:extLst>
              <a:ext uri="{FF2B5EF4-FFF2-40B4-BE49-F238E27FC236}">
                <a16:creationId xmlns:a16="http://schemas.microsoft.com/office/drawing/2014/main" id="{D306B1C0-AF45-437B-B978-619192FDCECF}"/>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32C5B400-2FD0-42B7-82AF-037DC55F1F4C}"/>
              </a:ext>
            </a:extLst>
          </p:cNvPr>
          <p:cNvSpPr/>
          <p:nvPr/>
        </p:nvSpPr>
        <p:spPr>
          <a:xfrm rot="16200000">
            <a:off x="4785414" y="5547413"/>
            <a:ext cx="589173"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876ED563-C5D6-4A5A-9451-72126869D075}"/>
              </a:ext>
            </a:extLst>
          </p:cNvPr>
          <p:cNvSpPr/>
          <p:nvPr/>
        </p:nvSpPr>
        <p:spPr>
          <a:xfrm rot="16200000">
            <a:off x="6680724" y="5410723"/>
            <a:ext cx="862554"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DD0C10BC-57AA-4E88-B4CF-28CE351F1F63}"/>
              </a:ext>
            </a:extLst>
          </p:cNvPr>
          <p:cNvSpPr/>
          <p:nvPr/>
        </p:nvSpPr>
        <p:spPr>
          <a:xfrm rot="16200000">
            <a:off x="8594272" y="5292271"/>
            <a:ext cx="1099457"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55BC3837-0C18-4E48-A627-071C8BB32227}"/>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AEF89D32-A283-436A-A1E4-B02C313514C7}"/>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791D1DFF-B732-4561-B7B6-98A35D3FE7CE}"/>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43AFF78D-CF5A-4691-AA5F-F28D5DAE2578}"/>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DCE00BAF-092A-41DF-9BA4-93B04AD840EF}"/>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E0164163-4DEB-4EFB-988B-0963F38C164A}"/>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7F348EB6-2A86-45D6-9EEC-A6B17D2240BA}"/>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6C62AD84-002E-4A5E-B7D3-664597BA73B8}"/>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7C4CF14E-0654-40F9-B464-2C1A42D7C2BD}"/>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00FE5861-05A4-4B93-B672-6E1A2E4A1CDA}"/>
              </a:ext>
            </a:extLst>
          </p:cNvPr>
          <p:cNvCxnSpPr/>
          <p:nvPr/>
        </p:nvCxnSpPr>
        <p:spPr>
          <a:xfrm>
            <a:off x="669303" y="5812915"/>
            <a:ext cx="4402317"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ACE8ED61-0108-4DC1-B8B7-23117153ACD8}"/>
              </a:ext>
            </a:extLst>
          </p:cNvPr>
          <p:cNvCxnSpPr>
            <a:cxnSpLocks/>
          </p:cNvCxnSpPr>
          <p:nvPr/>
        </p:nvCxnSpPr>
        <p:spPr>
          <a:xfrm>
            <a:off x="5071620" y="5812915"/>
            <a:ext cx="9763" cy="455911"/>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906E71E-3D8F-47C0-93CA-EACAB1AD5AF4}"/>
              </a:ext>
            </a:extLst>
          </p:cNvPr>
          <p:cNvCxnSpPr>
            <a:cxnSpLocks/>
          </p:cNvCxnSpPr>
          <p:nvPr/>
        </p:nvCxnSpPr>
        <p:spPr>
          <a:xfrm>
            <a:off x="669303" y="838986"/>
            <a:ext cx="0" cy="4973929"/>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25609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additive="base">
                                        <p:cTn id="16" dur="500" fill="hold"/>
                                        <p:tgtEl>
                                          <p:spTgt spid="4"/>
                                        </p:tgtEl>
                                        <p:attrNameLst>
                                          <p:attrName>ppt_x</p:attrName>
                                        </p:attrNameLst>
                                      </p:cBhvr>
                                      <p:tavLst>
                                        <p:tav tm="0">
                                          <p:val>
                                            <p:strVal val="#ppt_x"/>
                                          </p:val>
                                        </p:tav>
                                        <p:tav tm="100000">
                                          <p:val>
                                            <p:strVal val="#ppt_x"/>
                                          </p:val>
                                        </p:tav>
                                      </p:tavLst>
                                    </p:anim>
                                    <p:anim calcmode="lin" valueType="num">
                                      <p:cBhvr additive="base">
                                        <p:cTn id="17" dur="500" fill="hold"/>
                                        <p:tgtEl>
                                          <p:spTgt spid="4"/>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additive="base">
                                        <p:cTn id="26" dur="500" fill="hold"/>
                                        <p:tgtEl>
                                          <p:spTgt spid="6"/>
                                        </p:tgtEl>
                                        <p:attrNameLst>
                                          <p:attrName>ppt_x</p:attrName>
                                        </p:attrNameLst>
                                      </p:cBhvr>
                                      <p:tavLst>
                                        <p:tav tm="0">
                                          <p:val>
                                            <p:strVal val="#ppt_x"/>
                                          </p:val>
                                        </p:tav>
                                        <p:tav tm="100000">
                                          <p:val>
                                            <p:strVal val="#ppt_x"/>
                                          </p:val>
                                        </p:tav>
                                      </p:tavLst>
                                    </p:anim>
                                    <p:anim calcmode="lin" valueType="num">
                                      <p:cBhvr additive="base">
                                        <p:cTn id="27" dur="500" fill="hold"/>
                                        <p:tgtEl>
                                          <p:spTgt spid="6"/>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ppt_x"/>
                                          </p:val>
                                        </p:tav>
                                        <p:tav tm="100000">
                                          <p:val>
                                            <p:strVal val="#ppt_x"/>
                                          </p:val>
                                        </p:tav>
                                      </p:tavLst>
                                    </p:anim>
                                    <p:anim calcmode="lin" valueType="num">
                                      <p:cBhvr additive="base">
                                        <p:cTn id="32" dur="500" fill="hold"/>
                                        <p:tgtEl>
                                          <p:spTgt spid="7"/>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ntr" presetSubtype="4" fill="hold" grpId="0" nodeType="after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additive="base">
                                        <p:cTn id="36" dur="500" fill="hold"/>
                                        <p:tgtEl>
                                          <p:spTgt spid="8"/>
                                        </p:tgtEl>
                                        <p:attrNameLst>
                                          <p:attrName>ppt_x</p:attrName>
                                        </p:attrNameLst>
                                      </p:cBhvr>
                                      <p:tavLst>
                                        <p:tav tm="0">
                                          <p:val>
                                            <p:strVal val="#ppt_x"/>
                                          </p:val>
                                        </p:tav>
                                        <p:tav tm="100000">
                                          <p:val>
                                            <p:strVal val="#ppt_x"/>
                                          </p:val>
                                        </p:tav>
                                      </p:tavLst>
                                    </p:anim>
                                    <p:anim calcmode="lin" valueType="num">
                                      <p:cBhvr additive="base">
                                        <p:cTn id="37" dur="500" fill="hold"/>
                                        <p:tgtEl>
                                          <p:spTgt spid="8"/>
                                        </p:tgtEl>
                                        <p:attrNameLst>
                                          <p:attrName>ppt_y</p:attrName>
                                        </p:attrNameLst>
                                      </p:cBhvr>
                                      <p:tavLst>
                                        <p:tav tm="0">
                                          <p:val>
                                            <p:strVal val="1+#ppt_h/2"/>
                                          </p:val>
                                        </p:tav>
                                        <p:tav tm="100000">
                                          <p:val>
                                            <p:strVal val="#ppt_y"/>
                                          </p:val>
                                        </p:tav>
                                      </p:tavLst>
                                    </p:anim>
                                  </p:childTnLst>
                                </p:cTn>
                              </p:par>
                            </p:childTnLst>
                          </p:cTn>
                        </p:par>
                        <p:par>
                          <p:cTn id="38" fill="hold">
                            <p:stCondLst>
                              <p:cond delay="3500"/>
                            </p:stCondLst>
                            <p:childTnLst>
                              <p:par>
                                <p:cTn id="39" presetID="22" presetClass="entr" presetSubtype="4" fill="hold" nodeType="after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wipe(down)">
                                      <p:cBhvr>
                                        <p:cTn id="41" dur="500"/>
                                        <p:tgtEl>
                                          <p:spTgt spid="18"/>
                                        </p:tgtEl>
                                      </p:cBhvr>
                                    </p:animEffect>
                                  </p:childTnLst>
                                </p:cTn>
                              </p:par>
                            </p:childTnLst>
                          </p:cTn>
                        </p:par>
                        <p:par>
                          <p:cTn id="42" fill="hold">
                            <p:stCondLst>
                              <p:cond delay="4000"/>
                            </p:stCondLst>
                            <p:childTnLst>
                              <p:par>
                                <p:cTn id="43" presetID="22" presetClass="entr" presetSubtype="2" fill="hold" nodeType="after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wipe(right)">
                                      <p:cBhvr>
                                        <p:cTn id="45" dur="500"/>
                                        <p:tgtEl>
                                          <p:spTgt spid="17"/>
                                        </p:tgtEl>
                                      </p:cBhvr>
                                    </p:animEffect>
                                  </p:childTnLst>
                                </p:cTn>
                              </p:par>
                            </p:childTnLst>
                          </p:cTn>
                        </p:par>
                        <p:par>
                          <p:cTn id="46" fill="hold">
                            <p:stCondLst>
                              <p:cond delay="4500"/>
                            </p:stCondLst>
                            <p:childTnLst>
                              <p:par>
                                <p:cTn id="47" presetID="22" presetClass="entr" presetSubtype="4" fill="hold" nodeType="after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wipe(down)">
                                      <p:cBhvr>
                                        <p:cTn id="4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5046" y="636722"/>
            <a:ext cx="8652294" cy="1143000"/>
          </a:xfrm>
        </p:spPr>
        <p:txBody>
          <a:bodyPr/>
          <a:lstStyle/>
          <a:p>
            <a:r>
              <a:rPr lang="en-US" dirty="0"/>
              <a:t>English law</a:t>
            </a:r>
          </a:p>
        </p:txBody>
      </p:sp>
      <p:sp>
        <p:nvSpPr>
          <p:cNvPr id="3" name="Content Placeholder 2"/>
          <p:cNvSpPr>
            <a:spLocks noGrp="1"/>
          </p:cNvSpPr>
          <p:nvPr>
            <p:ph idx="1"/>
          </p:nvPr>
        </p:nvSpPr>
        <p:spPr>
          <a:xfrm>
            <a:off x="1279902" y="2174336"/>
            <a:ext cx="9379057" cy="4351338"/>
          </a:xfrm>
        </p:spPr>
        <p:txBody>
          <a:bodyPr/>
          <a:lstStyle/>
          <a:p>
            <a:r>
              <a:rPr lang="en-US" dirty="0"/>
              <a:t>No general duty to disclose – caveat emptor</a:t>
            </a:r>
          </a:p>
          <a:p>
            <a:r>
              <a:rPr lang="en-US" dirty="0"/>
              <a:t>Very limited application of implied duties</a:t>
            </a:r>
          </a:p>
          <a:p>
            <a:r>
              <a:rPr lang="en-US" dirty="0"/>
              <a:t>Rules against misrepresentation</a:t>
            </a:r>
          </a:p>
          <a:p>
            <a:r>
              <a:rPr lang="en-US" dirty="0"/>
              <a:t>Specific rules on disclosure in certain sectors</a:t>
            </a:r>
          </a:p>
          <a:p>
            <a:endParaRPr lang="sr-Latn-ME" dirty="0"/>
          </a:p>
        </p:txBody>
      </p:sp>
      <p:sp>
        <p:nvSpPr>
          <p:cNvPr id="4" name="Rectangle 3">
            <a:extLst>
              <a:ext uri="{FF2B5EF4-FFF2-40B4-BE49-F238E27FC236}">
                <a16:creationId xmlns:a16="http://schemas.microsoft.com/office/drawing/2014/main" id="{E40B52DB-14C0-48D3-9E5C-C7CABEFB1EF3}"/>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E0971B5C-7664-4435-A6E2-FA0C3459852B}"/>
              </a:ext>
            </a:extLst>
          </p:cNvPr>
          <p:cNvSpPr/>
          <p:nvPr/>
        </p:nvSpPr>
        <p:spPr>
          <a:xfrm rot="16200000">
            <a:off x="4785414" y="5547413"/>
            <a:ext cx="589173"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F04495AF-3A6D-4E0F-9C89-69673DE32B55}"/>
              </a:ext>
            </a:extLst>
          </p:cNvPr>
          <p:cNvSpPr/>
          <p:nvPr/>
        </p:nvSpPr>
        <p:spPr>
          <a:xfrm rot="16200000">
            <a:off x="6680724" y="5410723"/>
            <a:ext cx="862554"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033AAE79-D515-4AD1-9F66-67F2911E5E09}"/>
              </a:ext>
            </a:extLst>
          </p:cNvPr>
          <p:cNvSpPr/>
          <p:nvPr/>
        </p:nvSpPr>
        <p:spPr>
          <a:xfrm rot="16200000">
            <a:off x="8594272" y="5292271"/>
            <a:ext cx="1099457"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1A70C1AF-56E9-4121-B0F4-1360F35A7BA3}"/>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3806649C-DB15-4ACF-A903-3E2E34FE5179}"/>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C74594CB-F435-447C-8B74-256AC8D0CFE9}"/>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BFFBD4C6-461D-4B9B-93CB-C79883325ABB}"/>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44E2BC56-8906-4334-B75D-8792ECE83707}"/>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A4E2DA40-B022-4B8D-AB81-D17F7A9F98D8}"/>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4751409E-636D-411A-A937-A418B08B1FB9}"/>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3C5D7DD0-8064-4724-A76F-93D37B5F71DC}"/>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D01F90C9-9292-40C1-BFF2-CAA38BA2CADE}"/>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EC1B1D15-E05A-48CF-8689-FF2E4D5D9EDE}"/>
              </a:ext>
            </a:extLst>
          </p:cNvPr>
          <p:cNvCxnSpPr/>
          <p:nvPr/>
        </p:nvCxnSpPr>
        <p:spPr>
          <a:xfrm>
            <a:off x="669303" y="5812915"/>
            <a:ext cx="4402317"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481CA15-C318-41C4-BBE2-8B89100B489F}"/>
              </a:ext>
            </a:extLst>
          </p:cNvPr>
          <p:cNvCxnSpPr>
            <a:cxnSpLocks/>
          </p:cNvCxnSpPr>
          <p:nvPr/>
        </p:nvCxnSpPr>
        <p:spPr>
          <a:xfrm>
            <a:off x="5071620" y="5812915"/>
            <a:ext cx="9763" cy="455911"/>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0FEA1025-CFF7-4AF7-8A94-C9005B61EC51}"/>
              </a:ext>
            </a:extLst>
          </p:cNvPr>
          <p:cNvCxnSpPr>
            <a:cxnSpLocks/>
          </p:cNvCxnSpPr>
          <p:nvPr/>
        </p:nvCxnSpPr>
        <p:spPr>
          <a:xfrm>
            <a:off x="669303" y="838986"/>
            <a:ext cx="0" cy="4973929"/>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45010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additive="base">
                                        <p:cTn id="16" dur="500" fill="hold"/>
                                        <p:tgtEl>
                                          <p:spTgt spid="4"/>
                                        </p:tgtEl>
                                        <p:attrNameLst>
                                          <p:attrName>ppt_x</p:attrName>
                                        </p:attrNameLst>
                                      </p:cBhvr>
                                      <p:tavLst>
                                        <p:tav tm="0">
                                          <p:val>
                                            <p:strVal val="#ppt_x"/>
                                          </p:val>
                                        </p:tav>
                                        <p:tav tm="100000">
                                          <p:val>
                                            <p:strVal val="#ppt_x"/>
                                          </p:val>
                                        </p:tav>
                                      </p:tavLst>
                                    </p:anim>
                                    <p:anim calcmode="lin" valueType="num">
                                      <p:cBhvr additive="base">
                                        <p:cTn id="17" dur="500" fill="hold"/>
                                        <p:tgtEl>
                                          <p:spTgt spid="4"/>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additive="base">
                                        <p:cTn id="26" dur="500" fill="hold"/>
                                        <p:tgtEl>
                                          <p:spTgt spid="6"/>
                                        </p:tgtEl>
                                        <p:attrNameLst>
                                          <p:attrName>ppt_x</p:attrName>
                                        </p:attrNameLst>
                                      </p:cBhvr>
                                      <p:tavLst>
                                        <p:tav tm="0">
                                          <p:val>
                                            <p:strVal val="#ppt_x"/>
                                          </p:val>
                                        </p:tav>
                                        <p:tav tm="100000">
                                          <p:val>
                                            <p:strVal val="#ppt_x"/>
                                          </p:val>
                                        </p:tav>
                                      </p:tavLst>
                                    </p:anim>
                                    <p:anim calcmode="lin" valueType="num">
                                      <p:cBhvr additive="base">
                                        <p:cTn id="27" dur="500" fill="hold"/>
                                        <p:tgtEl>
                                          <p:spTgt spid="6"/>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ppt_x"/>
                                          </p:val>
                                        </p:tav>
                                        <p:tav tm="100000">
                                          <p:val>
                                            <p:strVal val="#ppt_x"/>
                                          </p:val>
                                        </p:tav>
                                      </p:tavLst>
                                    </p:anim>
                                    <p:anim calcmode="lin" valueType="num">
                                      <p:cBhvr additive="base">
                                        <p:cTn id="32" dur="500" fill="hold"/>
                                        <p:tgtEl>
                                          <p:spTgt spid="7"/>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ntr" presetSubtype="4" fill="hold" grpId="0" nodeType="after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additive="base">
                                        <p:cTn id="36" dur="500" fill="hold"/>
                                        <p:tgtEl>
                                          <p:spTgt spid="8"/>
                                        </p:tgtEl>
                                        <p:attrNameLst>
                                          <p:attrName>ppt_x</p:attrName>
                                        </p:attrNameLst>
                                      </p:cBhvr>
                                      <p:tavLst>
                                        <p:tav tm="0">
                                          <p:val>
                                            <p:strVal val="#ppt_x"/>
                                          </p:val>
                                        </p:tav>
                                        <p:tav tm="100000">
                                          <p:val>
                                            <p:strVal val="#ppt_x"/>
                                          </p:val>
                                        </p:tav>
                                      </p:tavLst>
                                    </p:anim>
                                    <p:anim calcmode="lin" valueType="num">
                                      <p:cBhvr additive="base">
                                        <p:cTn id="37" dur="500" fill="hold"/>
                                        <p:tgtEl>
                                          <p:spTgt spid="8"/>
                                        </p:tgtEl>
                                        <p:attrNameLst>
                                          <p:attrName>ppt_y</p:attrName>
                                        </p:attrNameLst>
                                      </p:cBhvr>
                                      <p:tavLst>
                                        <p:tav tm="0">
                                          <p:val>
                                            <p:strVal val="1+#ppt_h/2"/>
                                          </p:val>
                                        </p:tav>
                                        <p:tav tm="100000">
                                          <p:val>
                                            <p:strVal val="#ppt_y"/>
                                          </p:val>
                                        </p:tav>
                                      </p:tavLst>
                                    </p:anim>
                                  </p:childTnLst>
                                </p:cTn>
                              </p:par>
                            </p:childTnLst>
                          </p:cTn>
                        </p:par>
                        <p:par>
                          <p:cTn id="38" fill="hold">
                            <p:stCondLst>
                              <p:cond delay="3500"/>
                            </p:stCondLst>
                            <p:childTnLst>
                              <p:par>
                                <p:cTn id="39" presetID="22" presetClass="entr" presetSubtype="4" fill="hold" nodeType="after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wipe(down)">
                                      <p:cBhvr>
                                        <p:cTn id="41" dur="500"/>
                                        <p:tgtEl>
                                          <p:spTgt spid="18"/>
                                        </p:tgtEl>
                                      </p:cBhvr>
                                    </p:animEffect>
                                  </p:childTnLst>
                                </p:cTn>
                              </p:par>
                            </p:childTnLst>
                          </p:cTn>
                        </p:par>
                        <p:par>
                          <p:cTn id="42" fill="hold">
                            <p:stCondLst>
                              <p:cond delay="4000"/>
                            </p:stCondLst>
                            <p:childTnLst>
                              <p:par>
                                <p:cTn id="43" presetID="22" presetClass="entr" presetSubtype="2" fill="hold" nodeType="after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wipe(right)">
                                      <p:cBhvr>
                                        <p:cTn id="45" dur="500"/>
                                        <p:tgtEl>
                                          <p:spTgt spid="17"/>
                                        </p:tgtEl>
                                      </p:cBhvr>
                                    </p:animEffect>
                                  </p:childTnLst>
                                </p:cTn>
                              </p:par>
                            </p:childTnLst>
                          </p:cTn>
                        </p:par>
                        <p:par>
                          <p:cTn id="46" fill="hold">
                            <p:stCondLst>
                              <p:cond delay="4500"/>
                            </p:stCondLst>
                            <p:childTnLst>
                              <p:par>
                                <p:cTn id="47" presetID="22" presetClass="entr" presetSubtype="4" fill="hold" nodeType="after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wipe(down)">
                                      <p:cBhvr>
                                        <p:cTn id="4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96938" y="838200"/>
            <a:ext cx="8652294" cy="1143000"/>
          </a:xfrm>
        </p:spPr>
        <p:txBody>
          <a:bodyPr/>
          <a:lstStyle/>
          <a:p>
            <a:r>
              <a:rPr lang="en-US" dirty="0"/>
              <a:t>Withheld information</a:t>
            </a:r>
          </a:p>
        </p:txBody>
      </p:sp>
      <p:sp>
        <p:nvSpPr>
          <p:cNvPr id="3" name="Content Placeholder 2"/>
          <p:cNvSpPr>
            <a:spLocks noGrp="1"/>
          </p:cNvSpPr>
          <p:nvPr>
            <p:ph idx="1"/>
          </p:nvPr>
        </p:nvSpPr>
        <p:spPr>
          <a:xfrm>
            <a:off x="1976034" y="2204956"/>
            <a:ext cx="7696200" cy="4114800"/>
          </a:xfrm>
        </p:spPr>
        <p:txBody>
          <a:bodyPr>
            <a:normAutofit/>
          </a:bodyPr>
          <a:lstStyle/>
          <a:p>
            <a:r>
              <a:rPr lang="en-US" sz="2000" dirty="0"/>
              <a:t>Norwegian law</a:t>
            </a:r>
          </a:p>
          <a:p>
            <a:pPr lvl="1"/>
            <a:r>
              <a:rPr lang="en-US" sz="1600" dirty="0"/>
              <a:t>Contract may be successfully challenged</a:t>
            </a:r>
          </a:p>
          <a:p>
            <a:r>
              <a:rPr lang="en-US" sz="2000" dirty="0"/>
              <a:t>German law</a:t>
            </a:r>
          </a:p>
          <a:p>
            <a:pPr lvl="1"/>
            <a:r>
              <a:rPr lang="en-US" sz="1600" dirty="0"/>
              <a:t>Contract may be successfully challenged</a:t>
            </a:r>
          </a:p>
          <a:p>
            <a:r>
              <a:rPr lang="en-US" sz="2000" dirty="0"/>
              <a:t>Italian law</a:t>
            </a:r>
          </a:p>
          <a:p>
            <a:pPr lvl="1"/>
            <a:r>
              <a:rPr lang="en-US" sz="1600" dirty="0"/>
              <a:t>Contract may be successfully challenged</a:t>
            </a:r>
          </a:p>
          <a:p>
            <a:r>
              <a:rPr lang="en-US" sz="2000" dirty="0"/>
              <a:t>English law</a:t>
            </a:r>
          </a:p>
          <a:p>
            <a:pPr lvl="1"/>
            <a:r>
              <a:rPr lang="en-US" sz="1600" dirty="0"/>
              <a:t>Challenge likely unsuccessful</a:t>
            </a:r>
          </a:p>
        </p:txBody>
      </p:sp>
      <p:sp>
        <p:nvSpPr>
          <p:cNvPr id="4" name="Rectangle 3">
            <a:extLst>
              <a:ext uri="{FF2B5EF4-FFF2-40B4-BE49-F238E27FC236}">
                <a16:creationId xmlns:a16="http://schemas.microsoft.com/office/drawing/2014/main" id="{7F6C3AB2-24FA-4343-9D66-C41747A1ED91}"/>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871C1584-0172-47F0-B58E-F6C1DF2ECF31}"/>
              </a:ext>
            </a:extLst>
          </p:cNvPr>
          <p:cNvSpPr/>
          <p:nvPr/>
        </p:nvSpPr>
        <p:spPr>
          <a:xfrm rot="16200000">
            <a:off x="4785414" y="5547413"/>
            <a:ext cx="589173"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009B9173-A19C-478C-91B3-A03C36810AD9}"/>
              </a:ext>
            </a:extLst>
          </p:cNvPr>
          <p:cNvSpPr/>
          <p:nvPr/>
        </p:nvSpPr>
        <p:spPr>
          <a:xfrm rot="16200000">
            <a:off x="6680724" y="5410723"/>
            <a:ext cx="862554"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73505CE3-60F9-4F16-ACEA-CAF4FE5AD200}"/>
              </a:ext>
            </a:extLst>
          </p:cNvPr>
          <p:cNvSpPr/>
          <p:nvPr/>
        </p:nvSpPr>
        <p:spPr>
          <a:xfrm rot="16200000">
            <a:off x="8594272" y="5292271"/>
            <a:ext cx="1099457"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3830EC51-289B-40B7-B719-55C45FFD6226}"/>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7E1CB570-2FAB-48BF-8503-02CC076FD0DD}"/>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94E7C629-9677-49DE-BDB4-839257D4D7AF}"/>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B186E65E-85B8-484D-9D9A-14AADE968CB6}"/>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AE8DF5C0-7D06-4EB4-B942-1C2FA0247B20}"/>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F303AB2B-3B57-48AF-BD01-02EBCD69F345}"/>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FE348BD5-EDE7-49D1-95F0-A93086C7FC85}"/>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41F16377-FE2F-4F31-9265-B3192889C2E5}"/>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C80B6A73-1461-4FA1-9386-AE1980595B25}"/>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A629212C-8F3D-4100-BBA2-A468A3A9342F}"/>
              </a:ext>
            </a:extLst>
          </p:cNvPr>
          <p:cNvCxnSpPr/>
          <p:nvPr/>
        </p:nvCxnSpPr>
        <p:spPr>
          <a:xfrm>
            <a:off x="669303" y="5812915"/>
            <a:ext cx="4402317"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CEA63EE-D204-44D9-9799-3736A073858F}"/>
              </a:ext>
            </a:extLst>
          </p:cNvPr>
          <p:cNvCxnSpPr>
            <a:cxnSpLocks/>
          </p:cNvCxnSpPr>
          <p:nvPr/>
        </p:nvCxnSpPr>
        <p:spPr>
          <a:xfrm>
            <a:off x="5071620" y="5812915"/>
            <a:ext cx="9763" cy="455911"/>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FBB9564-1CFC-4404-8700-4C060A6F0446}"/>
              </a:ext>
            </a:extLst>
          </p:cNvPr>
          <p:cNvCxnSpPr>
            <a:cxnSpLocks/>
          </p:cNvCxnSpPr>
          <p:nvPr/>
        </p:nvCxnSpPr>
        <p:spPr>
          <a:xfrm>
            <a:off x="669303" y="838986"/>
            <a:ext cx="0" cy="4973929"/>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5338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additive="base">
                                        <p:cTn id="16" dur="500" fill="hold"/>
                                        <p:tgtEl>
                                          <p:spTgt spid="4"/>
                                        </p:tgtEl>
                                        <p:attrNameLst>
                                          <p:attrName>ppt_x</p:attrName>
                                        </p:attrNameLst>
                                      </p:cBhvr>
                                      <p:tavLst>
                                        <p:tav tm="0">
                                          <p:val>
                                            <p:strVal val="#ppt_x"/>
                                          </p:val>
                                        </p:tav>
                                        <p:tav tm="100000">
                                          <p:val>
                                            <p:strVal val="#ppt_x"/>
                                          </p:val>
                                        </p:tav>
                                      </p:tavLst>
                                    </p:anim>
                                    <p:anim calcmode="lin" valueType="num">
                                      <p:cBhvr additive="base">
                                        <p:cTn id="17" dur="500" fill="hold"/>
                                        <p:tgtEl>
                                          <p:spTgt spid="4"/>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additive="base">
                                        <p:cTn id="26" dur="500" fill="hold"/>
                                        <p:tgtEl>
                                          <p:spTgt spid="6"/>
                                        </p:tgtEl>
                                        <p:attrNameLst>
                                          <p:attrName>ppt_x</p:attrName>
                                        </p:attrNameLst>
                                      </p:cBhvr>
                                      <p:tavLst>
                                        <p:tav tm="0">
                                          <p:val>
                                            <p:strVal val="#ppt_x"/>
                                          </p:val>
                                        </p:tav>
                                        <p:tav tm="100000">
                                          <p:val>
                                            <p:strVal val="#ppt_x"/>
                                          </p:val>
                                        </p:tav>
                                      </p:tavLst>
                                    </p:anim>
                                    <p:anim calcmode="lin" valueType="num">
                                      <p:cBhvr additive="base">
                                        <p:cTn id="27" dur="500" fill="hold"/>
                                        <p:tgtEl>
                                          <p:spTgt spid="6"/>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ppt_x"/>
                                          </p:val>
                                        </p:tav>
                                        <p:tav tm="100000">
                                          <p:val>
                                            <p:strVal val="#ppt_x"/>
                                          </p:val>
                                        </p:tav>
                                      </p:tavLst>
                                    </p:anim>
                                    <p:anim calcmode="lin" valueType="num">
                                      <p:cBhvr additive="base">
                                        <p:cTn id="32" dur="500" fill="hold"/>
                                        <p:tgtEl>
                                          <p:spTgt spid="7"/>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ntr" presetSubtype="4" fill="hold" grpId="0" nodeType="after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additive="base">
                                        <p:cTn id="36" dur="500" fill="hold"/>
                                        <p:tgtEl>
                                          <p:spTgt spid="8"/>
                                        </p:tgtEl>
                                        <p:attrNameLst>
                                          <p:attrName>ppt_x</p:attrName>
                                        </p:attrNameLst>
                                      </p:cBhvr>
                                      <p:tavLst>
                                        <p:tav tm="0">
                                          <p:val>
                                            <p:strVal val="#ppt_x"/>
                                          </p:val>
                                        </p:tav>
                                        <p:tav tm="100000">
                                          <p:val>
                                            <p:strVal val="#ppt_x"/>
                                          </p:val>
                                        </p:tav>
                                      </p:tavLst>
                                    </p:anim>
                                    <p:anim calcmode="lin" valueType="num">
                                      <p:cBhvr additive="base">
                                        <p:cTn id="37" dur="500" fill="hold"/>
                                        <p:tgtEl>
                                          <p:spTgt spid="8"/>
                                        </p:tgtEl>
                                        <p:attrNameLst>
                                          <p:attrName>ppt_y</p:attrName>
                                        </p:attrNameLst>
                                      </p:cBhvr>
                                      <p:tavLst>
                                        <p:tav tm="0">
                                          <p:val>
                                            <p:strVal val="1+#ppt_h/2"/>
                                          </p:val>
                                        </p:tav>
                                        <p:tav tm="100000">
                                          <p:val>
                                            <p:strVal val="#ppt_y"/>
                                          </p:val>
                                        </p:tav>
                                      </p:tavLst>
                                    </p:anim>
                                  </p:childTnLst>
                                </p:cTn>
                              </p:par>
                            </p:childTnLst>
                          </p:cTn>
                        </p:par>
                        <p:par>
                          <p:cTn id="38" fill="hold">
                            <p:stCondLst>
                              <p:cond delay="3500"/>
                            </p:stCondLst>
                            <p:childTnLst>
                              <p:par>
                                <p:cTn id="39" presetID="22" presetClass="entr" presetSubtype="4" fill="hold" nodeType="after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wipe(down)">
                                      <p:cBhvr>
                                        <p:cTn id="41" dur="500"/>
                                        <p:tgtEl>
                                          <p:spTgt spid="18"/>
                                        </p:tgtEl>
                                      </p:cBhvr>
                                    </p:animEffect>
                                  </p:childTnLst>
                                </p:cTn>
                              </p:par>
                            </p:childTnLst>
                          </p:cTn>
                        </p:par>
                        <p:par>
                          <p:cTn id="42" fill="hold">
                            <p:stCondLst>
                              <p:cond delay="4000"/>
                            </p:stCondLst>
                            <p:childTnLst>
                              <p:par>
                                <p:cTn id="43" presetID="22" presetClass="entr" presetSubtype="2" fill="hold" nodeType="after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wipe(right)">
                                      <p:cBhvr>
                                        <p:cTn id="45" dur="500"/>
                                        <p:tgtEl>
                                          <p:spTgt spid="17"/>
                                        </p:tgtEl>
                                      </p:cBhvr>
                                    </p:animEffect>
                                  </p:childTnLst>
                                </p:cTn>
                              </p:par>
                            </p:childTnLst>
                          </p:cTn>
                        </p:par>
                        <p:par>
                          <p:cTn id="46" fill="hold">
                            <p:stCondLst>
                              <p:cond delay="4500"/>
                            </p:stCondLst>
                            <p:childTnLst>
                              <p:par>
                                <p:cTn id="47" presetID="22" presetClass="entr" presetSubtype="4" fill="hold" nodeType="after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wipe(down)">
                                      <p:cBhvr>
                                        <p:cTn id="4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96938" y="838200"/>
            <a:ext cx="8652294" cy="1143000"/>
          </a:xfrm>
        </p:spPr>
        <p:txBody>
          <a:bodyPr/>
          <a:lstStyle/>
          <a:p>
            <a:r>
              <a:rPr lang="en-US" dirty="0"/>
              <a:t>Undue influence</a:t>
            </a:r>
          </a:p>
        </p:txBody>
      </p:sp>
      <p:sp>
        <p:nvSpPr>
          <p:cNvPr id="3" name="Content Placeholder 2"/>
          <p:cNvSpPr>
            <a:spLocks noGrp="1"/>
          </p:cNvSpPr>
          <p:nvPr>
            <p:ph idx="1"/>
          </p:nvPr>
        </p:nvSpPr>
        <p:spPr>
          <a:xfrm>
            <a:off x="2096938" y="2080538"/>
            <a:ext cx="7696200" cy="4114800"/>
          </a:xfrm>
        </p:spPr>
        <p:txBody>
          <a:bodyPr>
            <a:normAutofit/>
          </a:bodyPr>
          <a:lstStyle/>
          <a:p>
            <a:r>
              <a:rPr lang="en-US" sz="2000" dirty="0"/>
              <a:t>Norwegian law</a:t>
            </a:r>
          </a:p>
          <a:p>
            <a:pPr lvl="1"/>
            <a:r>
              <a:rPr lang="en-US" sz="1600" dirty="0"/>
              <a:t>Contract may be successfully challenged</a:t>
            </a:r>
          </a:p>
          <a:p>
            <a:r>
              <a:rPr lang="en-US" sz="2000" dirty="0"/>
              <a:t>German law</a:t>
            </a:r>
          </a:p>
          <a:p>
            <a:pPr lvl="1"/>
            <a:r>
              <a:rPr lang="en-US" sz="1600" dirty="0"/>
              <a:t>Contract may be successfully challenged</a:t>
            </a:r>
          </a:p>
          <a:p>
            <a:r>
              <a:rPr lang="en-US" sz="2000" dirty="0"/>
              <a:t>Italian law</a:t>
            </a:r>
          </a:p>
          <a:p>
            <a:pPr lvl="1"/>
            <a:r>
              <a:rPr lang="en-US" sz="1600" dirty="0"/>
              <a:t>Contract may be successfully challenged</a:t>
            </a:r>
          </a:p>
          <a:p>
            <a:r>
              <a:rPr lang="en-US" sz="2000" dirty="0"/>
              <a:t>English law</a:t>
            </a:r>
          </a:p>
          <a:p>
            <a:pPr lvl="1"/>
            <a:r>
              <a:rPr lang="en-US" sz="1600" dirty="0"/>
              <a:t>Challenge likely unsuccessful</a:t>
            </a:r>
          </a:p>
        </p:txBody>
      </p:sp>
      <p:sp>
        <p:nvSpPr>
          <p:cNvPr id="4" name="Rectangle 3">
            <a:extLst>
              <a:ext uri="{FF2B5EF4-FFF2-40B4-BE49-F238E27FC236}">
                <a16:creationId xmlns:a16="http://schemas.microsoft.com/office/drawing/2014/main" id="{A921D48E-1E88-41C4-B6BE-8845E259998D}"/>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DEC8BE95-0828-4DCA-B0ED-5006A952A002}"/>
              </a:ext>
            </a:extLst>
          </p:cNvPr>
          <p:cNvSpPr/>
          <p:nvPr/>
        </p:nvSpPr>
        <p:spPr>
          <a:xfrm rot="16200000">
            <a:off x="4785414" y="5547413"/>
            <a:ext cx="589173"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CFA00331-6C92-4A17-B5AD-0D2FC03DF5B1}"/>
              </a:ext>
            </a:extLst>
          </p:cNvPr>
          <p:cNvSpPr/>
          <p:nvPr/>
        </p:nvSpPr>
        <p:spPr>
          <a:xfrm rot="16200000">
            <a:off x="6680724" y="5410723"/>
            <a:ext cx="862554"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51946075-4A06-4093-85DF-53D9404683F6}"/>
              </a:ext>
            </a:extLst>
          </p:cNvPr>
          <p:cNvSpPr/>
          <p:nvPr/>
        </p:nvSpPr>
        <p:spPr>
          <a:xfrm rot="16200000">
            <a:off x="8594272" y="5292271"/>
            <a:ext cx="1099457"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6DE5BD5D-DA15-47C3-A2B1-CD63036561DA}"/>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CEB3E936-D86E-482F-83B5-8E082FC0ADAD}"/>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5CC38C72-125C-4FF8-AF5D-A500D04B0F4D}"/>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1A15F81A-80A6-46A9-8A50-79B849826A23}"/>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F45B736A-3A60-4665-8E80-4A165A497079}"/>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335EB608-A241-425A-863C-3EA29E9FD9D5}"/>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9F211125-9939-440D-9E3E-9902EA662219}"/>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F4647258-D31B-4F69-A18B-BDA7C2FB9995}"/>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4B041A1B-C4BE-437F-BF00-07FF76F85296}"/>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4BC2A092-C2A4-4FFA-807E-B3374ADB9E3C}"/>
              </a:ext>
            </a:extLst>
          </p:cNvPr>
          <p:cNvCxnSpPr/>
          <p:nvPr/>
        </p:nvCxnSpPr>
        <p:spPr>
          <a:xfrm>
            <a:off x="669303" y="5812915"/>
            <a:ext cx="4402317"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AE520F8-4927-4A30-9910-68650CF3061A}"/>
              </a:ext>
            </a:extLst>
          </p:cNvPr>
          <p:cNvCxnSpPr>
            <a:cxnSpLocks/>
          </p:cNvCxnSpPr>
          <p:nvPr/>
        </p:nvCxnSpPr>
        <p:spPr>
          <a:xfrm>
            <a:off x="5071620" y="5812915"/>
            <a:ext cx="9763" cy="455911"/>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A6719FA-1FBB-4094-A92D-F3512EBDFE4E}"/>
              </a:ext>
            </a:extLst>
          </p:cNvPr>
          <p:cNvCxnSpPr>
            <a:cxnSpLocks/>
          </p:cNvCxnSpPr>
          <p:nvPr/>
        </p:nvCxnSpPr>
        <p:spPr>
          <a:xfrm>
            <a:off x="669303" y="838986"/>
            <a:ext cx="0" cy="4973929"/>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0477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additive="base">
                                        <p:cTn id="16" dur="500" fill="hold"/>
                                        <p:tgtEl>
                                          <p:spTgt spid="4"/>
                                        </p:tgtEl>
                                        <p:attrNameLst>
                                          <p:attrName>ppt_x</p:attrName>
                                        </p:attrNameLst>
                                      </p:cBhvr>
                                      <p:tavLst>
                                        <p:tav tm="0">
                                          <p:val>
                                            <p:strVal val="#ppt_x"/>
                                          </p:val>
                                        </p:tav>
                                        <p:tav tm="100000">
                                          <p:val>
                                            <p:strVal val="#ppt_x"/>
                                          </p:val>
                                        </p:tav>
                                      </p:tavLst>
                                    </p:anim>
                                    <p:anim calcmode="lin" valueType="num">
                                      <p:cBhvr additive="base">
                                        <p:cTn id="17" dur="500" fill="hold"/>
                                        <p:tgtEl>
                                          <p:spTgt spid="4"/>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additive="base">
                                        <p:cTn id="26" dur="500" fill="hold"/>
                                        <p:tgtEl>
                                          <p:spTgt spid="6"/>
                                        </p:tgtEl>
                                        <p:attrNameLst>
                                          <p:attrName>ppt_x</p:attrName>
                                        </p:attrNameLst>
                                      </p:cBhvr>
                                      <p:tavLst>
                                        <p:tav tm="0">
                                          <p:val>
                                            <p:strVal val="#ppt_x"/>
                                          </p:val>
                                        </p:tav>
                                        <p:tav tm="100000">
                                          <p:val>
                                            <p:strVal val="#ppt_x"/>
                                          </p:val>
                                        </p:tav>
                                      </p:tavLst>
                                    </p:anim>
                                    <p:anim calcmode="lin" valueType="num">
                                      <p:cBhvr additive="base">
                                        <p:cTn id="27" dur="500" fill="hold"/>
                                        <p:tgtEl>
                                          <p:spTgt spid="6"/>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ppt_x"/>
                                          </p:val>
                                        </p:tav>
                                        <p:tav tm="100000">
                                          <p:val>
                                            <p:strVal val="#ppt_x"/>
                                          </p:val>
                                        </p:tav>
                                      </p:tavLst>
                                    </p:anim>
                                    <p:anim calcmode="lin" valueType="num">
                                      <p:cBhvr additive="base">
                                        <p:cTn id="32" dur="500" fill="hold"/>
                                        <p:tgtEl>
                                          <p:spTgt spid="7"/>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ntr" presetSubtype="4" fill="hold" grpId="0" nodeType="after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additive="base">
                                        <p:cTn id="36" dur="500" fill="hold"/>
                                        <p:tgtEl>
                                          <p:spTgt spid="8"/>
                                        </p:tgtEl>
                                        <p:attrNameLst>
                                          <p:attrName>ppt_x</p:attrName>
                                        </p:attrNameLst>
                                      </p:cBhvr>
                                      <p:tavLst>
                                        <p:tav tm="0">
                                          <p:val>
                                            <p:strVal val="#ppt_x"/>
                                          </p:val>
                                        </p:tav>
                                        <p:tav tm="100000">
                                          <p:val>
                                            <p:strVal val="#ppt_x"/>
                                          </p:val>
                                        </p:tav>
                                      </p:tavLst>
                                    </p:anim>
                                    <p:anim calcmode="lin" valueType="num">
                                      <p:cBhvr additive="base">
                                        <p:cTn id="37" dur="500" fill="hold"/>
                                        <p:tgtEl>
                                          <p:spTgt spid="8"/>
                                        </p:tgtEl>
                                        <p:attrNameLst>
                                          <p:attrName>ppt_y</p:attrName>
                                        </p:attrNameLst>
                                      </p:cBhvr>
                                      <p:tavLst>
                                        <p:tav tm="0">
                                          <p:val>
                                            <p:strVal val="1+#ppt_h/2"/>
                                          </p:val>
                                        </p:tav>
                                        <p:tav tm="100000">
                                          <p:val>
                                            <p:strVal val="#ppt_y"/>
                                          </p:val>
                                        </p:tav>
                                      </p:tavLst>
                                    </p:anim>
                                  </p:childTnLst>
                                </p:cTn>
                              </p:par>
                            </p:childTnLst>
                          </p:cTn>
                        </p:par>
                        <p:par>
                          <p:cTn id="38" fill="hold">
                            <p:stCondLst>
                              <p:cond delay="3500"/>
                            </p:stCondLst>
                            <p:childTnLst>
                              <p:par>
                                <p:cTn id="39" presetID="22" presetClass="entr" presetSubtype="4" fill="hold" nodeType="after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wipe(down)">
                                      <p:cBhvr>
                                        <p:cTn id="41" dur="500"/>
                                        <p:tgtEl>
                                          <p:spTgt spid="18"/>
                                        </p:tgtEl>
                                      </p:cBhvr>
                                    </p:animEffect>
                                  </p:childTnLst>
                                </p:cTn>
                              </p:par>
                            </p:childTnLst>
                          </p:cTn>
                        </p:par>
                        <p:par>
                          <p:cTn id="42" fill="hold">
                            <p:stCondLst>
                              <p:cond delay="4000"/>
                            </p:stCondLst>
                            <p:childTnLst>
                              <p:par>
                                <p:cTn id="43" presetID="22" presetClass="entr" presetSubtype="2" fill="hold" nodeType="after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wipe(right)">
                                      <p:cBhvr>
                                        <p:cTn id="45" dur="500"/>
                                        <p:tgtEl>
                                          <p:spTgt spid="17"/>
                                        </p:tgtEl>
                                      </p:cBhvr>
                                    </p:animEffect>
                                  </p:childTnLst>
                                </p:cTn>
                              </p:par>
                            </p:childTnLst>
                          </p:cTn>
                        </p:par>
                        <p:par>
                          <p:cTn id="46" fill="hold">
                            <p:stCondLst>
                              <p:cond delay="4500"/>
                            </p:stCondLst>
                            <p:childTnLst>
                              <p:par>
                                <p:cTn id="47" presetID="22" presetClass="entr" presetSubtype="4" fill="hold" nodeType="after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wipe(down)">
                                      <p:cBhvr>
                                        <p:cTn id="4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Box 23"/>
          <p:cNvSpPr txBox="1"/>
          <p:nvPr/>
        </p:nvSpPr>
        <p:spPr>
          <a:xfrm>
            <a:off x="4392892" y="2556509"/>
            <a:ext cx="3033203" cy="769441"/>
          </a:xfrm>
          <a:prstGeom prst="rect">
            <a:avLst/>
          </a:prstGeom>
          <a:noFill/>
        </p:spPr>
        <p:txBody>
          <a:bodyPr wrap="none" rtlCol="0">
            <a:spAutoFit/>
          </a:bodyPr>
          <a:lstStyle/>
          <a:p>
            <a:r>
              <a:rPr lang="en-US" sz="4400" dirty="0">
                <a:solidFill>
                  <a:schemeClr val="bg1">
                    <a:lumMod val="50000"/>
                  </a:schemeClr>
                </a:solidFill>
                <a:latin typeface="+mj-lt"/>
                <a:ea typeface="Open Sans" panose="020B0606030504020204" pitchFamily="34" charset="0"/>
                <a:cs typeface="Open Sans" panose="020B0606030504020204" pitchFamily="34" charset="0"/>
              </a:rPr>
              <a:t>Case study 2</a:t>
            </a:r>
          </a:p>
        </p:txBody>
      </p:sp>
      <p:sp>
        <p:nvSpPr>
          <p:cNvPr id="3" name="Rectangle 2"/>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5" name="Rectangle 44"/>
          <p:cNvSpPr/>
          <p:nvPr/>
        </p:nvSpPr>
        <p:spPr>
          <a:xfrm rot="16200000">
            <a:off x="4785414" y="5547413"/>
            <a:ext cx="589173"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6" name="Rectangle 45"/>
          <p:cNvSpPr/>
          <p:nvPr/>
        </p:nvSpPr>
        <p:spPr>
          <a:xfrm rot="16200000">
            <a:off x="6680724" y="5410723"/>
            <a:ext cx="862554"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7" name="Rectangle 46"/>
          <p:cNvSpPr/>
          <p:nvPr/>
        </p:nvSpPr>
        <p:spPr>
          <a:xfrm rot="16200000">
            <a:off x="8594272" y="5292271"/>
            <a:ext cx="1099457"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8" name="Rectangle 47"/>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9" name="Rectangle 48"/>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6" name="Group 5"/>
          <p:cNvGrpSpPr/>
          <p:nvPr/>
        </p:nvGrpSpPr>
        <p:grpSpPr>
          <a:xfrm>
            <a:off x="2" y="6736617"/>
            <a:ext cx="12191999" cy="134339"/>
            <a:chOff x="2" y="2110197"/>
            <a:chExt cx="12191999" cy="134339"/>
          </a:xfrm>
        </p:grpSpPr>
        <p:sp>
          <p:nvSpPr>
            <p:cNvPr id="51" name="Rectangle 50"/>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2" name="Rectangle 51"/>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3" name="Rectangle 52"/>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4" name="Rectangle 53"/>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5" name="Rectangle 54"/>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6" name="Rectangle 55"/>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76" name="Straight Connector 75"/>
          <p:cNvCxnSpPr/>
          <p:nvPr/>
        </p:nvCxnSpPr>
        <p:spPr>
          <a:xfrm>
            <a:off x="669303" y="5812915"/>
            <a:ext cx="4402317"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a:cxnSpLocks/>
          </p:cNvCxnSpPr>
          <p:nvPr/>
        </p:nvCxnSpPr>
        <p:spPr>
          <a:xfrm>
            <a:off x="5071620" y="5812915"/>
            <a:ext cx="9763" cy="455911"/>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a:cxnSpLocks/>
          </p:cNvCxnSpPr>
          <p:nvPr/>
        </p:nvCxnSpPr>
        <p:spPr>
          <a:xfrm>
            <a:off x="669303" y="838986"/>
            <a:ext cx="0" cy="4973929"/>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55555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49"/>
                                        </p:tgtEl>
                                        <p:attrNameLst>
                                          <p:attrName>style.visibility</p:attrName>
                                        </p:attrNameLst>
                                      </p:cBhvr>
                                      <p:to>
                                        <p:strVal val="visible"/>
                                      </p:to>
                                    </p:set>
                                    <p:anim calcmode="lin" valueType="num">
                                      <p:cBhvr additive="base">
                                        <p:cTn id="11" dur="500" fill="hold"/>
                                        <p:tgtEl>
                                          <p:spTgt spid="49"/>
                                        </p:tgtEl>
                                        <p:attrNameLst>
                                          <p:attrName>ppt_x</p:attrName>
                                        </p:attrNameLst>
                                      </p:cBhvr>
                                      <p:tavLst>
                                        <p:tav tm="0">
                                          <p:val>
                                            <p:strVal val="#ppt_x"/>
                                          </p:val>
                                        </p:tav>
                                        <p:tav tm="100000">
                                          <p:val>
                                            <p:strVal val="#ppt_x"/>
                                          </p:val>
                                        </p:tav>
                                      </p:tavLst>
                                    </p:anim>
                                    <p:anim calcmode="lin" valueType="num">
                                      <p:cBhvr additive="base">
                                        <p:cTn id="12" dur="500" fill="hold"/>
                                        <p:tgtEl>
                                          <p:spTgt spid="49"/>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3"/>
                                        </p:tgtEl>
                                        <p:attrNameLst>
                                          <p:attrName>style.visibility</p:attrName>
                                        </p:attrNameLst>
                                      </p:cBhvr>
                                      <p:to>
                                        <p:strVal val="visible"/>
                                      </p:to>
                                    </p:set>
                                    <p:anim calcmode="lin" valueType="num">
                                      <p:cBhvr additive="base">
                                        <p:cTn id="16" dur="500" fill="hold"/>
                                        <p:tgtEl>
                                          <p:spTgt spid="3"/>
                                        </p:tgtEl>
                                        <p:attrNameLst>
                                          <p:attrName>ppt_x</p:attrName>
                                        </p:attrNameLst>
                                      </p:cBhvr>
                                      <p:tavLst>
                                        <p:tav tm="0">
                                          <p:val>
                                            <p:strVal val="#ppt_x"/>
                                          </p:val>
                                        </p:tav>
                                        <p:tav tm="100000">
                                          <p:val>
                                            <p:strVal val="#ppt_x"/>
                                          </p:val>
                                        </p:tav>
                                      </p:tavLst>
                                    </p:anim>
                                    <p:anim calcmode="lin" valueType="num">
                                      <p:cBhvr additive="base">
                                        <p:cTn id="17" dur="500" fill="hold"/>
                                        <p:tgtEl>
                                          <p:spTgt spid="3"/>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45"/>
                                        </p:tgtEl>
                                        <p:attrNameLst>
                                          <p:attrName>style.visibility</p:attrName>
                                        </p:attrNameLst>
                                      </p:cBhvr>
                                      <p:to>
                                        <p:strVal val="visible"/>
                                      </p:to>
                                    </p:set>
                                    <p:anim calcmode="lin" valueType="num">
                                      <p:cBhvr additive="base">
                                        <p:cTn id="21" dur="500" fill="hold"/>
                                        <p:tgtEl>
                                          <p:spTgt spid="45"/>
                                        </p:tgtEl>
                                        <p:attrNameLst>
                                          <p:attrName>ppt_x</p:attrName>
                                        </p:attrNameLst>
                                      </p:cBhvr>
                                      <p:tavLst>
                                        <p:tav tm="0">
                                          <p:val>
                                            <p:strVal val="#ppt_x"/>
                                          </p:val>
                                        </p:tav>
                                        <p:tav tm="100000">
                                          <p:val>
                                            <p:strVal val="#ppt_x"/>
                                          </p:val>
                                        </p:tav>
                                      </p:tavLst>
                                    </p:anim>
                                    <p:anim calcmode="lin" valueType="num">
                                      <p:cBhvr additive="base">
                                        <p:cTn id="22" dur="500" fill="hold"/>
                                        <p:tgtEl>
                                          <p:spTgt spid="45"/>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46"/>
                                        </p:tgtEl>
                                        <p:attrNameLst>
                                          <p:attrName>style.visibility</p:attrName>
                                        </p:attrNameLst>
                                      </p:cBhvr>
                                      <p:to>
                                        <p:strVal val="visible"/>
                                      </p:to>
                                    </p:set>
                                    <p:anim calcmode="lin" valueType="num">
                                      <p:cBhvr additive="base">
                                        <p:cTn id="26" dur="500" fill="hold"/>
                                        <p:tgtEl>
                                          <p:spTgt spid="46"/>
                                        </p:tgtEl>
                                        <p:attrNameLst>
                                          <p:attrName>ppt_x</p:attrName>
                                        </p:attrNameLst>
                                      </p:cBhvr>
                                      <p:tavLst>
                                        <p:tav tm="0">
                                          <p:val>
                                            <p:strVal val="#ppt_x"/>
                                          </p:val>
                                        </p:tav>
                                        <p:tav tm="100000">
                                          <p:val>
                                            <p:strVal val="#ppt_x"/>
                                          </p:val>
                                        </p:tav>
                                      </p:tavLst>
                                    </p:anim>
                                    <p:anim calcmode="lin" valueType="num">
                                      <p:cBhvr additive="base">
                                        <p:cTn id="27" dur="500" fill="hold"/>
                                        <p:tgtEl>
                                          <p:spTgt spid="46"/>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47"/>
                                        </p:tgtEl>
                                        <p:attrNameLst>
                                          <p:attrName>style.visibility</p:attrName>
                                        </p:attrNameLst>
                                      </p:cBhvr>
                                      <p:to>
                                        <p:strVal val="visible"/>
                                      </p:to>
                                    </p:set>
                                    <p:anim calcmode="lin" valueType="num">
                                      <p:cBhvr additive="base">
                                        <p:cTn id="31" dur="500" fill="hold"/>
                                        <p:tgtEl>
                                          <p:spTgt spid="47"/>
                                        </p:tgtEl>
                                        <p:attrNameLst>
                                          <p:attrName>ppt_x</p:attrName>
                                        </p:attrNameLst>
                                      </p:cBhvr>
                                      <p:tavLst>
                                        <p:tav tm="0">
                                          <p:val>
                                            <p:strVal val="#ppt_x"/>
                                          </p:val>
                                        </p:tav>
                                        <p:tav tm="100000">
                                          <p:val>
                                            <p:strVal val="#ppt_x"/>
                                          </p:val>
                                        </p:tav>
                                      </p:tavLst>
                                    </p:anim>
                                    <p:anim calcmode="lin" valueType="num">
                                      <p:cBhvr additive="base">
                                        <p:cTn id="32" dur="500" fill="hold"/>
                                        <p:tgtEl>
                                          <p:spTgt spid="47"/>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ntr" presetSubtype="4" fill="hold" grpId="0" nodeType="afterEffect">
                                  <p:stCondLst>
                                    <p:cond delay="0"/>
                                  </p:stCondLst>
                                  <p:childTnLst>
                                    <p:set>
                                      <p:cBhvr>
                                        <p:cTn id="35" dur="1" fill="hold">
                                          <p:stCondLst>
                                            <p:cond delay="0"/>
                                          </p:stCondLst>
                                        </p:cTn>
                                        <p:tgtEl>
                                          <p:spTgt spid="48"/>
                                        </p:tgtEl>
                                        <p:attrNameLst>
                                          <p:attrName>style.visibility</p:attrName>
                                        </p:attrNameLst>
                                      </p:cBhvr>
                                      <p:to>
                                        <p:strVal val="visible"/>
                                      </p:to>
                                    </p:set>
                                    <p:anim calcmode="lin" valueType="num">
                                      <p:cBhvr additive="base">
                                        <p:cTn id="36" dur="500" fill="hold"/>
                                        <p:tgtEl>
                                          <p:spTgt spid="48"/>
                                        </p:tgtEl>
                                        <p:attrNameLst>
                                          <p:attrName>ppt_x</p:attrName>
                                        </p:attrNameLst>
                                      </p:cBhvr>
                                      <p:tavLst>
                                        <p:tav tm="0">
                                          <p:val>
                                            <p:strVal val="#ppt_x"/>
                                          </p:val>
                                        </p:tav>
                                        <p:tav tm="100000">
                                          <p:val>
                                            <p:strVal val="#ppt_x"/>
                                          </p:val>
                                        </p:tav>
                                      </p:tavLst>
                                    </p:anim>
                                    <p:anim calcmode="lin" valueType="num">
                                      <p:cBhvr additive="base">
                                        <p:cTn id="37" dur="500" fill="hold"/>
                                        <p:tgtEl>
                                          <p:spTgt spid="48"/>
                                        </p:tgtEl>
                                        <p:attrNameLst>
                                          <p:attrName>ppt_y</p:attrName>
                                        </p:attrNameLst>
                                      </p:cBhvr>
                                      <p:tavLst>
                                        <p:tav tm="0">
                                          <p:val>
                                            <p:strVal val="1+#ppt_h/2"/>
                                          </p:val>
                                        </p:tav>
                                        <p:tav tm="100000">
                                          <p:val>
                                            <p:strVal val="#ppt_y"/>
                                          </p:val>
                                        </p:tav>
                                      </p:tavLst>
                                    </p:anim>
                                  </p:childTnLst>
                                </p:cTn>
                              </p:par>
                            </p:childTnLst>
                          </p:cTn>
                        </p:par>
                        <p:par>
                          <p:cTn id="38" fill="hold">
                            <p:stCondLst>
                              <p:cond delay="3500"/>
                            </p:stCondLst>
                            <p:childTnLst>
                              <p:par>
                                <p:cTn id="39" presetID="22" presetClass="entr" presetSubtype="4" fill="hold" nodeType="afterEffect">
                                  <p:stCondLst>
                                    <p:cond delay="0"/>
                                  </p:stCondLst>
                                  <p:childTnLst>
                                    <p:set>
                                      <p:cBhvr>
                                        <p:cTn id="40" dur="1" fill="hold">
                                          <p:stCondLst>
                                            <p:cond delay="0"/>
                                          </p:stCondLst>
                                        </p:cTn>
                                        <p:tgtEl>
                                          <p:spTgt spid="78"/>
                                        </p:tgtEl>
                                        <p:attrNameLst>
                                          <p:attrName>style.visibility</p:attrName>
                                        </p:attrNameLst>
                                      </p:cBhvr>
                                      <p:to>
                                        <p:strVal val="visible"/>
                                      </p:to>
                                    </p:set>
                                    <p:animEffect transition="in" filter="wipe(down)">
                                      <p:cBhvr>
                                        <p:cTn id="41" dur="500"/>
                                        <p:tgtEl>
                                          <p:spTgt spid="78"/>
                                        </p:tgtEl>
                                      </p:cBhvr>
                                    </p:animEffect>
                                  </p:childTnLst>
                                </p:cTn>
                              </p:par>
                            </p:childTnLst>
                          </p:cTn>
                        </p:par>
                        <p:par>
                          <p:cTn id="42" fill="hold">
                            <p:stCondLst>
                              <p:cond delay="4000"/>
                            </p:stCondLst>
                            <p:childTnLst>
                              <p:par>
                                <p:cTn id="43" presetID="22" presetClass="entr" presetSubtype="2" fill="hold" nodeType="afterEffect">
                                  <p:stCondLst>
                                    <p:cond delay="0"/>
                                  </p:stCondLst>
                                  <p:childTnLst>
                                    <p:set>
                                      <p:cBhvr>
                                        <p:cTn id="44" dur="1" fill="hold">
                                          <p:stCondLst>
                                            <p:cond delay="0"/>
                                          </p:stCondLst>
                                        </p:cTn>
                                        <p:tgtEl>
                                          <p:spTgt spid="76"/>
                                        </p:tgtEl>
                                        <p:attrNameLst>
                                          <p:attrName>style.visibility</p:attrName>
                                        </p:attrNameLst>
                                      </p:cBhvr>
                                      <p:to>
                                        <p:strVal val="visible"/>
                                      </p:to>
                                    </p:set>
                                    <p:animEffect transition="in" filter="wipe(right)">
                                      <p:cBhvr>
                                        <p:cTn id="45" dur="500"/>
                                        <p:tgtEl>
                                          <p:spTgt spid="76"/>
                                        </p:tgtEl>
                                      </p:cBhvr>
                                    </p:animEffect>
                                  </p:childTnLst>
                                </p:cTn>
                              </p:par>
                            </p:childTnLst>
                          </p:cTn>
                        </p:par>
                        <p:par>
                          <p:cTn id="46" fill="hold">
                            <p:stCondLst>
                              <p:cond delay="4500"/>
                            </p:stCondLst>
                            <p:childTnLst>
                              <p:par>
                                <p:cTn id="47" presetID="22" presetClass="entr" presetSubtype="4" fill="hold" nodeType="afterEffect">
                                  <p:stCondLst>
                                    <p:cond delay="0"/>
                                  </p:stCondLst>
                                  <p:childTnLst>
                                    <p:set>
                                      <p:cBhvr>
                                        <p:cTn id="48" dur="1" fill="hold">
                                          <p:stCondLst>
                                            <p:cond delay="0"/>
                                          </p:stCondLst>
                                        </p:cTn>
                                        <p:tgtEl>
                                          <p:spTgt spid="81"/>
                                        </p:tgtEl>
                                        <p:attrNameLst>
                                          <p:attrName>style.visibility</p:attrName>
                                        </p:attrNameLst>
                                      </p:cBhvr>
                                      <p:to>
                                        <p:strVal val="visible"/>
                                      </p:to>
                                    </p:set>
                                    <p:animEffect transition="in" filter="wipe(down)">
                                      <p:cBhvr>
                                        <p:cTn id="49" dur="500"/>
                                        <p:tgtEl>
                                          <p:spTgt spid="81"/>
                                        </p:tgtEl>
                                      </p:cBhvr>
                                    </p:animEffect>
                                  </p:childTnLst>
                                </p:cTn>
                              </p:par>
                            </p:childTnLst>
                          </p:cTn>
                        </p:par>
                        <p:par>
                          <p:cTn id="50" fill="hold">
                            <p:stCondLst>
                              <p:cond delay="5000"/>
                            </p:stCondLst>
                            <p:childTnLst>
                              <p:par>
                                <p:cTn id="51" presetID="10" presetClass="entr" presetSubtype="0" fill="hold" grpId="0" nodeType="afterEffect">
                                  <p:stCondLst>
                                    <p:cond delay="0"/>
                                  </p:stCondLst>
                                  <p:childTnLst>
                                    <p:set>
                                      <p:cBhvr>
                                        <p:cTn id="52" dur="1" fill="hold">
                                          <p:stCondLst>
                                            <p:cond delay="0"/>
                                          </p:stCondLst>
                                        </p:cTn>
                                        <p:tgtEl>
                                          <p:spTgt spid="24"/>
                                        </p:tgtEl>
                                        <p:attrNameLst>
                                          <p:attrName>style.visibility</p:attrName>
                                        </p:attrNameLst>
                                      </p:cBhvr>
                                      <p:to>
                                        <p:strVal val="visible"/>
                                      </p:to>
                                    </p:set>
                                    <p:animEffect transition="in" filter="fade">
                                      <p:cBhvr>
                                        <p:cTn id="53"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3" grpId="0" animBg="1"/>
      <p:bldP spid="45" grpId="0" animBg="1"/>
      <p:bldP spid="46" grpId="0" animBg="1"/>
      <p:bldP spid="47" grpId="0" animBg="1"/>
      <p:bldP spid="48" grpId="0" animBg="1"/>
      <p:bldP spid="49"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Box 23"/>
          <p:cNvSpPr txBox="1"/>
          <p:nvPr/>
        </p:nvSpPr>
        <p:spPr>
          <a:xfrm>
            <a:off x="1315359" y="714005"/>
            <a:ext cx="2489784" cy="769441"/>
          </a:xfrm>
          <a:prstGeom prst="rect">
            <a:avLst/>
          </a:prstGeom>
          <a:noFill/>
        </p:spPr>
        <p:txBody>
          <a:bodyPr wrap="none" rtlCol="0">
            <a:spAutoFit/>
          </a:bodyPr>
          <a:lstStyle/>
          <a:p>
            <a:r>
              <a:rPr lang="en-US" sz="4400" dirty="0">
                <a:solidFill>
                  <a:schemeClr val="bg1">
                    <a:lumMod val="50000"/>
                  </a:schemeClr>
                </a:solidFill>
                <a:latin typeface="+mj-lt"/>
                <a:ea typeface="Open Sans" panose="020B0606030504020204" pitchFamily="34" charset="0"/>
                <a:cs typeface="Open Sans" panose="020B0606030504020204" pitchFamily="34" charset="0"/>
              </a:rPr>
              <a:t>Questions</a:t>
            </a:r>
          </a:p>
        </p:txBody>
      </p:sp>
      <p:sp>
        <p:nvSpPr>
          <p:cNvPr id="25" name="Rectangle 24"/>
          <p:cNvSpPr/>
          <p:nvPr/>
        </p:nvSpPr>
        <p:spPr>
          <a:xfrm>
            <a:off x="1980574" y="2191023"/>
            <a:ext cx="8881782" cy="2462213"/>
          </a:xfrm>
          <a:prstGeom prst="rect">
            <a:avLst/>
          </a:prstGeom>
        </p:spPr>
        <p:txBody>
          <a:bodyPr wrap="square">
            <a:spAutoFit/>
          </a:bodyPr>
          <a:lstStyle/>
          <a:p>
            <a:pPr marL="457200" indent="-457200" algn="just">
              <a:buAutoNum type="arabicPeriod"/>
            </a:pPr>
            <a:r>
              <a:rPr lang="en-US" sz="2200" dirty="0">
                <a:solidFill>
                  <a:schemeClr val="tx1">
                    <a:lumMod val="50000"/>
                    <a:lumOff val="50000"/>
                  </a:schemeClr>
                </a:solidFill>
              </a:rPr>
              <a:t>What kind of effects does the emergence of coronavirus have on global economic activity? What kind of consequences can this create for parties in international contracts?</a:t>
            </a:r>
          </a:p>
          <a:p>
            <a:pPr marL="457200" indent="-457200" algn="just">
              <a:buAutoNum type="arabicPeriod"/>
            </a:pPr>
            <a:endParaRPr lang="en-US" sz="2200" dirty="0">
              <a:solidFill>
                <a:schemeClr val="tx1">
                  <a:lumMod val="50000"/>
                  <a:lumOff val="50000"/>
                </a:schemeClr>
              </a:solidFill>
            </a:endParaRPr>
          </a:p>
          <a:p>
            <a:pPr marL="457200" indent="-457200" algn="just">
              <a:buAutoNum type="arabicPeriod"/>
            </a:pPr>
            <a:r>
              <a:rPr lang="en-US" sz="2200" dirty="0">
                <a:solidFill>
                  <a:schemeClr val="tx1">
                    <a:lumMod val="50000"/>
                    <a:lumOff val="50000"/>
                  </a:schemeClr>
                </a:solidFill>
              </a:rPr>
              <a:t>If you were drafting international commercial contracts, how would you prepare for such (unlikely) events? What kind of clause would you draft? Which kind of effects would this clause create?</a:t>
            </a:r>
          </a:p>
        </p:txBody>
      </p:sp>
      <p:sp>
        <p:nvSpPr>
          <p:cNvPr id="3" name="Rectangle 2"/>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5" name="Rectangle 44"/>
          <p:cNvSpPr/>
          <p:nvPr/>
        </p:nvSpPr>
        <p:spPr>
          <a:xfrm rot="16200000">
            <a:off x="4706223" y="5468222"/>
            <a:ext cx="747555"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6" name="Rectangle 45"/>
          <p:cNvSpPr/>
          <p:nvPr/>
        </p:nvSpPr>
        <p:spPr>
          <a:xfrm rot="16200000">
            <a:off x="6605310" y="5335309"/>
            <a:ext cx="1013382"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7" name="Rectangle 46"/>
          <p:cNvSpPr/>
          <p:nvPr/>
        </p:nvSpPr>
        <p:spPr>
          <a:xfrm rot="16200000">
            <a:off x="8816419" y="5514417"/>
            <a:ext cx="65516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8" name="Rectangle 47"/>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9" name="Rectangle 48"/>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6" name="Group 5"/>
          <p:cNvGrpSpPr/>
          <p:nvPr/>
        </p:nvGrpSpPr>
        <p:grpSpPr>
          <a:xfrm>
            <a:off x="2" y="6736617"/>
            <a:ext cx="12191999" cy="134339"/>
            <a:chOff x="2" y="2110197"/>
            <a:chExt cx="12191999" cy="134339"/>
          </a:xfrm>
        </p:grpSpPr>
        <p:sp>
          <p:nvSpPr>
            <p:cNvPr id="51" name="Rectangle 50"/>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2" name="Rectangle 51"/>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3" name="Rectangle 52"/>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4" name="Rectangle 53"/>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5" name="Rectangle 54"/>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6" name="Rectangle 55"/>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81" name="Straight Connector 80"/>
          <p:cNvCxnSpPr>
            <a:cxnSpLocks/>
          </p:cNvCxnSpPr>
          <p:nvPr/>
        </p:nvCxnSpPr>
        <p:spPr>
          <a:xfrm>
            <a:off x="657679" y="1323814"/>
            <a:ext cx="0" cy="4671632"/>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76004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5">
                                            <p:txEl>
                                              <p:pRg st="0" end="0"/>
                                            </p:txEl>
                                          </p:spTgt>
                                        </p:tgtEl>
                                        <p:attrNameLst>
                                          <p:attrName>style.visibility</p:attrName>
                                        </p:attrNameLst>
                                      </p:cBhvr>
                                      <p:to>
                                        <p:strVal val="visible"/>
                                      </p:to>
                                    </p:set>
                                    <p:animEffect transition="in" filter="fade">
                                      <p:cBhvr>
                                        <p:cTn id="10" dur="500"/>
                                        <p:tgtEl>
                                          <p:spTgt spid="25">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5">
                                            <p:txEl>
                                              <p:pRg st="2" end="2"/>
                                            </p:txEl>
                                          </p:spTgt>
                                        </p:tgtEl>
                                        <p:attrNameLst>
                                          <p:attrName>style.visibility</p:attrName>
                                        </p:attrNameLst>
                                      </p:cBhvr>
                                      <p:to>
                                        <p:strVal val="visible"/>
                                      </p:to>
                                    </p:set>
                                    <p:animEffect transition="in" filter="fade">
                                      <p:cBhvr>
                                        <p:cTn id="15" dur="500"/>
                                        <p:tgtEl>
                                          <p:spTgt spid="2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13"/>
          <p:cNvSpPr>
            <a:spLocks/>
          </p:cNvSpPr>
          <p:nvPr/>
        </p:nvSpPr>
        <p:spPr bwMode="auto">
          <a:xfrm>
            <a:off x="10164502" y="3431366"/>
            <a:ext cx="2027498" cy="1482489"/>
          </a:xfrm>
          <a:custGeom>
            <a:avLst/>
            <a:gdLst>
              <a:gd name="T0" fmla="*/ 1230 w 1276"/>
              <a:gd name="T1" fmla="*/ 748 h 933"/>
              <a:gd name="T2" fmla="*/ 1221 w 1276"/>
              <a:gd name="T3" fmla="*/ 748 h 933"/>
              <a:gd name="T4" fmla="*/ 1206 w 1276"/>
              <a:gd name="T5" fmla="*/ 748 h 933"/>
              <a:gd name="T6" fmla="*/ 1211 w 1276"/>
              <a:gd name="T7" fmla="*/ 216 h 933"/>
              <a:gd name="T8" fmla="*/ 1218 w 1276"/>
              <a:gd name="T9" fmla="*/ 216 h 933"/>
              <a:gd name="T10" fmla="*/ 1221 w 1276"/>
              <a:gd name="T11" fmla="*/ 214 h 933"/>
              <a:gd name="T12" fmla="*/ 1218 w 1276"/>
              <a:gd name="T13" fmla="*/ 185 h 933"/>
              <a:gd name="T14" fmla="*/ 1206 w 1276"/>
              <a:gd name="T15" fmla="*/ 182 h 933"/>
              <a:gd name="T16" fmla="*/ 1192 w 1276"/>
              <a:gd name="T17" fmla="*/ 180 h 933"/>
              <a:gd name="T18" fmla="*/ 1182 w 1276"/>
              <a:gd name="T19" fmla="*/ 0 h 933"/>
              <a:gd name="T20" fmla="*/ 1172 w 1276"/>
              <a:gd name="T21" fmla="*/ 180 h 933"/>
              <a:gd name="T22" fmla="*/ 1158 w 1276"/>
              <a:gd name="T23" fmla="*/ 180 h 933"/>
              <a:gd name="T24" fmla="*/ 1143 w 1276"/>
              <a:gd name="T25" fmla="*/ 182 h 933"/>
              <a:gd name="T26" fmla="*/ 1141 w 1276"/>
              <a:gd name="T27" fmla="*/ 212 h 933"/>
              <a:gd name="T28" fmla="*/ 1143 w 1276"/>
              <a:gd name="T29" fmla="*/ 214 h 933"/>
              <a:gd name="T30" fmla="*/ 1151 w 1276"/>
              <a:gd name="T31" fmla="*/ 214 h 933"/>
              <a:gd name="T32" fmla="*/ 1071 w 1276"/>
              <a:gd name="T33" fmla="*/ 659 h 933"/>
              <a:gd name="T34" fmla="*/ 659 w 1276"/>
              <a:gd name="T35" fmla="*/ 496 h 933"/>
              <a:gd name="T36" fmla="*/ 666 w 1276"/>
              <a:gd name="T37" fmla="*/ 491 h 933"/>
              <a:gd name="T38" fmla="*/ 611 w 1276"/>
              <a:gd name="T39" fmla="*/ 430 h 933"/>
              <a:gd name="T40" fmla="*/ 620 w 1276"/>
              <a:gd name="T41" fmla="*/ 425 h 933"/>
              <a:gd name="T42" fmla="*/ 606 w 1276"/>
              <a:gd name="T43" fmla="*/ 420 h 933"/>
              <a:gd name="T44" fmla="*/ 608 w 1276"/>
              <a:gd name="T45" fmla="*/ 406 h 933"/>
              <a:gd name="T46" fmla="*/ 606 w 1276"/>
              <a:gd name="T47" fmla="*/ 389 h 933"/>
              <a:gd name="T48" fmla="*/ 594 w 1276"/>
              <a:gd name="T49" fmla="*/ 379 h 933"/>
              <a:gd name="T50" fmla="*/ 586 w 1276"/>
              <a:gd name="T51" fmla="*/ 377 h 933"/>
              <a:gd name="T52" fmla="*/ 569 w 1276"/>
              <a:gd name="T53" fmla="*/ 377 h 933"/>
              <a:gd name="T54" fmla="*/ 562 w 1276"/>
              <a:gd name="T55" fmla="*/ 379 h 933"/>
              <a:gd name="T56" fmla="*/ 552 w 1276"/>
              <a:gd name="T57" fmla="*/ 391 h 933"/>
              <a:gd name="T58" fmla="*/ 548 w 1276"/>
              <a:gd name="T59" fmla="*/ 399 h 933"/>
              <a:gd name="T60" fmla="*/ 548 w 1276"/>
              <a:gd name="T61" fmla="*/ 413 h 933"/>
              <a:gd name="T62" fmla="*/ 552 w 1276"/>
              <a:gd name="T63" fmla="*/ 423 h 933"/>
              <a:gd name="T64" fmla="*/ 538 w 1276"/>
              <a:gd name="T65" fmla="*/ 425 h 933"/>
              <a:gd name="T66" fmla="*/ 548 w 1276"/>
              <a:gd name="T67" fmla="*/ 430 h 933"/>
              <a:gd name="T68" fmla="*/ 519 w 1276"/>
              <a:gd name="T69" fmla="*/ 491 h 933"/>
              <a:gd name="T70" fmla="*/ 412 w 1276"/>
              <a:gd name="T71" fmla="*/ 491 h 933"/>
              <a:gd name="T72" fmla="*/ 402 w 1276"/>
              <a:gd name="T73" fmla="*/ 491 h 933"/>
              <a:gd name="T74" fmla="*/ 359 w 1276"/>
              <a:gd name="T75" fmla="*/ 464 h 933"/>
              <a:gd name="T76" fmla="*/ 366 w 1276"/>
              <a:gd name="T77" fmla="*/ 459 h 933"/>
              <a:gd name="T78" fmla="*/ 204 w 1276"/>
              <a:gd name="T79" fmla="*/ 447 h 933"/>
              <a:gd name="T80" fmla="*/ 194 w 1276"/>
              <a:gd name="T81" fmla="*/ 416 h 933"/>
              <a:gd name="T82" fmla="*/ 177 w 1276"/>
              <a:gd name="T83" fmla="*/ 391 h 933"/>
              <a:gd name="T84" fmla="*/ 155 w 1276"/>
              <a:gd name="T85" fmla="*/ 369 h 933"/>
              <a:gd name="T86" fmla="*/ 141 w 1276"/>
              <a:gd name="T87" fmla="*/ 360 h 933"/>
              <a:gd name="T88" fmla="*/ 114 w 1276"/>
              <a:gd name="T89" fmla="*/ 350 h 933"/>
              <a:gd name="T90" fmla="*/ 112 w 1276"/>
              <a:gd name="T91" fmla="*/ 348 h 933"/>
              <a:gd name="T92" fmla="*/ 97 w 1276"/>
              <a:gd name="T93" fmla="*/ 345 h 933"/>
              <a:gd name="T94" fmla="*/ 92 w 1276"/>
              <a:gd name="T95" fmla="*/ 345 h 933"/>
              <a:gd name="T96" fmla="*/ 88 w 1276"/>
              <a:gd name="T97" fmla="*/ 345 h 933"/>
              <a:gd name="T98" fmla="*/ 78 w 1276"/>
              <a:gd name="T99" fmla="*/ 263 h 933"/>
              <a:gd name="T100" fmla="*/ 73 w 1276"/>
              <a:gd name="T101" fmla="*/ 345 h 933"/>
              <a:gd name="T102" fmla="*/ 68 w 1276"/>
              <a:gd name="T103" fmla="*/ 345 h 933"/>
              <a:gd name="T104" fmla="*/ 51 w 1276"/>
              <a:gd name="T105" fmla="*/ 348 h 933"/>
              <a:gd name="T106" fmla="*/ 51 w 1276"/>
              <a:gd name="T107" fmla="*/ 348 h 933"/>
              <a:gd name="T108" fmla="*/ 37 w 1276"/>
              <a:gd name="T109" fmla="*/ 355 h 933"/>
              <a:gd name="T110" fmla="*/ 22 w 1276"/>
              <a:gd name="T111" fmla="*/ 360 h 933"/>
              <a:gd name="T112" fmla="*/ 0 w 1276"/>
              <a:gd name="T113" fmla="*/ 374 h 933"/>
              <a:gd name="T114" fmla="*/ 1276 w 1276"/>
              <a:gd name="T115" fmla="*/ 933 h 933"/>
              <a:gd name="T116" fmla="*/ 1233 w 1276"/>
              <a:gd name="T117" fmla="*/ 739 h 9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276" h="933">
                <a:moveTo>
                  <a:pt x="1233" y="746"/>
                </a:moveTo>
                <a:lnTo>
                  <a:pt x="1230" y="748"/>
                </a:lnTo>
                <a:lnTo>
                  <a:pt x="1228" y="748"/>
                </a:lnTo>
                <a:lnTo>
                  <a:pt x="1221" y="748"/>
                </a:lnTo>
                <a:lnTo>
                  <a:pt x="1216" y="748"/>
                </a:lnTo>
                <a:lnTo>
                  <a:pt x="1206" y="748"/>
                </a:lnTo>
                <a:lnTo>
                  <a:pt x="1206" y="741"/>
                </a:lnTo>
                <a:lnTo>
                  <a:pt x="1211" y="216"/>
                </a:lnTo>
                <a:lnTo>
                  <a:pt x="1213" y="216"/>
                </a:lnTo>
                <a:lnTo>
                  <a:pt x="1218" y="216"/>
                </a:lnTo>
                <a:lnTo>
                  <a:pt x="1221" y="214"/>
                </a:lnTo>
                <a:lnTo>
                  <a:pt x="1221" y="214"/>
                </a:lnTo>
                <a:lnTo>
                  <a:pt x="1221" y="185"/>
                </a:lnTo>
                <a:lnTo>
                  <a:pt x="1218" y="185"/>
                </a:lnTo>
                <a:lnTo>
                  <a:pt x="1213" y="182"/>
                </a:lnTo>
                <a:lnTo>
                  <a:pt x="1206" y="182"/>
                </a:lnTo>
                <a:lnTo>
                  <a:pt x="1197" y="180"/>
                </a:lnTo>
                <a:lnTo>
                  <a:pt x="1192" y="180"/>
                </a:lnTo>
                <a:lnTo>
                  <a:pt x="1192" y="93"/>
                </a:lnTo>
                <a:lnTo>
                  <a:pt x="1182" y="0"/>
                </a:lnTo>
                <a:lnTo>
                  <a:pt x="1175" y="90"/>
                </a:lnTo>
                <a:lnTo>
                  <a:pt x="1172" y="180"/>
                </a:lnTo>
                <a:lnTo>
                  <a:pt x="1165" y="180"/>
                </a:lnTo>
                <a:lnTo>
                  <a:pt x="1158" y="180"/>
                </a:lnTo>
                <a:lnTo>
                  <a:pt x="1151" y="180"/>
                </a:lnTo>
                <a:lnTo>
                  <a:pt x="1143" y="182"/>
                </a:lnTo>
                <a:lnTo>
                  <a:pt x="1141" y="182"/>
                </a:lnTo>
                <a:lnTo>
                  <a:pt x="1141" y="212"/>
                </a:lnTo>
                <a:lnTo>
                  <a:pt x="1141" y="212"/>
                </a:lnTo>
                <a:lnTo>
                  <a:pt x="1143" y="214"/>
                </a:lnTo>
                <a:lnTo>
                  <a:pt x="1148" y="214"/>
                </a:lnTo>
                <a:lnTo>
                  <a:pt x="1151" y="214"/>
                </a:lnTo>
                <a:lnTo>
                  <a:pt x="1146" y="714"/>
                </a:lnTo>
                <a:lnTo>
                  <a:pt x="1071" y="659"/>
                </a:lnTo>
                <a:lnTo>
                  <a:pt x="661" y="651"/>
                </a:lnTo>
                <a:lnTo>
                  <a:pt x="659" y="496"/>
                </a:lnTo>
                <a:lnTo>
                  <a:pt x="666" y="496"/>
                </a:lnTo>
                <a:lnTo>
                  <a:pt x="666" y="491"/>
                </a:lnTo>
                <a:lnTo>
                  <a:pt x="611" y="491"/>
                </a:lnTo>
                <a:lnTo>
                  <a:pt x="611" y="430"/>
                </a:lnTo>
                <a:lnTo>
                  <a:pt x="620" y="428"/>
                </a:lnTo>
                <a:lnTo>
                  <a:pt x="620" y="425"/>
                </a:lnTo>
                <a:lnTo>
                  <a:pt x="603" y="423"/>
                </a:lnTo>
                <a:lnTo>
                  <a:pt x="606" y="420"/>
                </a:lnTo>
                <a:lnTo>
                  <a:pt x="608" y="413"/>
                </a:lnTo>
                <a:lnTo>
                  <a:pt x="608" y="406"/>
                </a:lnTo>
                <a:lnTo>
                  <a:pt x="608" y="399"/>
                </a:lnTo>
                <a:lnTo>
                  <a:pt x="606" y="389"/>
                </a:lnTo>
                <a:lnTo>
                  <a:pt x="601" y="384"/>
                </a:lnTo>
                <a:lnTo>
                  <a:pt x="594" y="379"/>
                </a:lnTo>
                <a:lnTo>
                  <a:pt x="586" y="377"/>
                </a:lnTo>
                <a:lnTo>
                  <a:pt x="586" y="377"/>
                </a:lnTo>
                <a:lnTo>
                  <a:pt x="577" y="374"/>
                </a:lnTo>
                <a:lnTo>
                  <a:pt x="569" y="377"/>
                </a:lnTo>
                <a:lnTo>
                  <a:pt x="569" y="377"/>
                </a:lnTo>
                <a:lnTo>
                  <a:pt x="562" y="379"/>
                </a:lnTo>
                <a:lnTo>
                  <a:pt x="557" y="384"/>
                </a:lnTo>
                <a:lnTo>
                  <a:pt x="552" y="391"/>
                </a:lnTo>
                <a:lnTo>
                  <a:pt x="548" y="399"/>
                </a:lnTo>
                <a:lnTo>
                  <a:pt x="548" y="399"/>
                </a:lnTo>
                <a:lnTo>
                  <a:pt x="548" y="406"/>
                </a:lnTo>
                <a:lnTo>
                  <a:pt x="548" y="413"/>
                </a:lnTo>
                <a:lnTo>
                  <a:pt x="552" y="420"/>
                </a:lnTo>
                <a:lnTo>
                  <a:pt x="552" y="423"/>
                </a:lnTo>
                <a:lnTo>
                  <a:pt x="552" y="423"/>
                </a:lnTo>
                <a:lnTo>
                  <a:pt x="538" y="425"/>
                </a:lnTo>
                <a:lnTo>
                  <a:pt x="538" y="430"/>
                </a:lnTo>
                <a:lnTo>
                  <a:pt x="548" y="430"/>
                </a:lnTo>
                <a:lnTo>
                  <a:pt x="550" y="491"/>
                </a:lnTo>
                <a:lnTo>
                  <a:pt x="519" y="491"/>
                </a:lnTo>
                <a:lnTo>
                  <a:pt x="509" y="491"/>
                </a:lnTo>
                <a:lnTo>
                  <a:pt x="412" y="491"/>
                </a:lnTo>
                <a:lnTo>
                  <a:pt x="412" y="491"/>
                </a:lnTo>
                <a:lnTo>
                  <a:pt x="402" y="491"/>
                </a:lnTo>
                <a:lnTo>
                  <a:pt x="359" y="491"/>
                </a:lnTo>
                <a:lnTo>
                  <a:pt x="359" y="464"/>
                </a:lnTo>
                <a:lnTo>
                  <a:pt x="366" y="464"/>
                </a:lnTo>
                <a:lnTo>
                  <a:pt x="366" y="459"/>
                </a:lnTo>
                <a:lnTo>
                  <a:pt x="206" y="459"/>
                </a:lnTo>
                <a:lnTo>
                  <a:pt x="204" y="447"/>
                </a:lnTo>
                <a:lnTo>
                  <a:pt x="201" y="430"/>
                </a:lnTo>
                <a:lnTo>
                  <a:pt x="194" y="416"/>
                </a:lnTo>
                <a:lnTo>
                  <a:pt x="187" y="403"/>
                </a:lnTo>
                <a:lnTo>
                  <a:pt x="177" y="391"/>
                </a:lnTo>
                <a:lnTo>
                  <a:pt x="167" y="379"/>
                </a:lnTo>
                <a:lnTo>
                  <a:pt x="155" y="369"/>
                </a:lnTo>
                <a:lnTo>
                  <a:pt x="141" y="362"/>
                </a:lnTo>
                <a:lnTo>
                  <a:pt x="141" y="360"/>
                </a:lnTo>
                <a:lnTo>
                  <a:pt x="126" y="355"/>
                </a:lnTo>
                <a:lnTo>
                  <a:pt x="114" y="350"/>
                </a:lnTo>
                <a:lnTo>
                  <a:pt x="114" y="348"/>
                </a:lnTo>
                <a:lnTo>
                  <a:pt x="112" y="348"/>
                </a:lnTo>
                <a:lnTo>
                  <a:pt x="112" y="348"/>
                </a:lnTo>
                <a:lnTo>
                  <a:pt x="97" y="345"/>
                </a:lnTo>
                <a:lnTo>
                  <a:pt x="95" y="345"/>
                </a:lnTo>
                <a:lnTo>
                  <a:pt x="92" y="345"/>
                </a:lnTo>
                <a:lnTo>
                  <a:pt x="90" y="345"/>
                </a:lnTo>
                <a:lnTo>
                  <a:pt x="88" y="345"/>
                </a:lnTo>
                <a:lnTo>
                  <a:pt x="90" y="263"/>
                </a:lnTo>
                <a:lnTo>
                  <a:pt x="78" y="263"/>
                </a:lnTo>
                <a:lnTo>
                  <a:pt x="75" y="345"/>
                </a:lnTo>
                <a:lnTo>
                  <a:pt x="73" y="345"/>
                </a:lnTo>
                <a:lnTo>
                  <a:pt x="71" y="345"/>
                </a:lnTo>
                <a:lnTo>
                  <a:pt x="68" y="345"/>
                </a:lnTo>
                <a:lnTo>
                  <a:pt x="54" y="348"/>
                </a:lnTo>
                <a:lnTo>
                  <a:pt x="51" y="348"/>
                </a:lnTo>
                <a:lnTo>
                  <a:pt x="51" y="348"/>
                </a:lnTo>
                <a:lnTo>
                  <a:pt x="51" y="348"/>
                </a:lnTo>
                <a:lnTo>
                  <a:pt x="51" y="350"/>
                </a:lnTo>
                <a:lnTo>
                  <a:pt x="37" y="355"/>
                </a:lnTo>
                <a:lnTo>
                  <a:pt x="22" y="360"/>
                </a:lnTo>
                <a:lnTo>
                  <a:pt x="22" y="360"/>
                </a:lnTo>
                <a:lnTo>
                  <a:pt x="8" y="369"/>
                </a:lnTo>
                <a:lnTo>
                  <a:pt x="0" y="374"/>
                </a:lnTo>
                <a:lnTo>
                  <a:pt x="0" y="933"/>
                </a:lnTo>
                <a:lnTo>
                  <a:pt x="1276" y="933"/>
                </a:lnTo>
                <a:lnTo>
                  <a:pt x="1276" y="739"/>
                </a:lnTo>
                <a:lnTo>
                  <a:pt x="1233" y="739"/>
                </a:lnTo>
                <a:lnTo>
                  <a:pt x="1233" y="746"/>
                </a:lnTo>
                <a:close/>
              </a:path>
            </a:pathLst>
          </a:custGeom>
          <a:solidFill>
            <a:schemeClr val="accent6"/>
          </a:solidFill>
          <a:ln>
            <a:noFill/>
          </a:ln>
        </p:spPr>
        <p:txBody>
          <a:bodyPr vert="horz" wrap="square" lIns="91440" tIns="45720" rIns="91440" bIns="45720" numCol="1" anchor="t" anchorCtr="0" compatLnSpc="1">
            <a:prstTxWarp prst="textNoShape">
              <a:avLst/>
            </a:prstTxWarp>
          </a:bodyPr>
          <a:lstStyle/>
          <a:p>
            <a:endParaRPr lang="id-ID"/>
          </a:p>
        </p:txBody>
      </p:sp>
      <p:sp>
        <p:nvSpPr>
          <p:cNvPr id="5" name="Freeform 14"/>
          <p:cNvSpPr>
            <a:spLocks noEditPoints="1"/>
          </p:cNvSpPr>
          <p:nvPr/>
        </p:nvSpPr>
        <p:spPr bwMode="auto">
          <a:xfrm>
            <a:off x="8129058" y="2409672"/>
            <a:ext cx="2035444" cy="2504183"/>
          </a:xfrm>
          <a:custGeom>
            <a:avLst/>
            <a:gdLst>
              <a:gd name="T0" fmla="*/ 1247 w 1281"/>
              <a:gd name="T1" fmla="*/ 1059 h 1576"/>
              <a:gd name="T2" fmla="*/ 1063 w 1281"/>
              <a:gd name="T3" fmla="*/ 1107 h 1576"/>
              <a:gd name="T4" fmla="*/ 1010 w 1281"/>
              <a:gd name="T5" fmla="*/ 634 h 1576"/>
              <a:gd name="T6" fmla="*/ 879 w 1281"/>
              <a:gd name="T7" fmla="*/ 801 h 1576"/>
              <a:gd name="T8" fmla="*/ 831 w 1281"/>
              <a:gd name="T9" fmla="*/ 306 h 1576"/>
              <a:gd name="T10" fmla="*/ 882 w 1281"/>
              <a:gd name="T11" fmla="*/ 296 h 1576"/>
              <a:gd name="T12" fmla="*/ 882 w 1281"/>
              <a:gd name="T13" fmla="*/ 264 h 1576"/>
              <a:gd name="T14" fmla="*/ 884 w 1281"/>
              <a:gd name="T15" fmla="*/ 245 h 1576"/>
              <a:gd name="T16" fmla="*/ 879 w 1281"/>
              <a:gd name="T17" fmla="*/ 89 h 1576"/>
              <a:gd name="T18" fmla="*/ 877 w 1281"/>
              <a:gd name="T19" fmla="*/ 143 h 1576"/>
              <a:gd name="T20" fmla="*/ 795 w 1281"/>
              <a:gd name="T21" fmla="*/ 111 h 1576"/>
              <a:gd name="T22" fmla="*/ 790 w 1281"/>
              <a:gd name="T23" fmla="*/ 145 h 1576"/>
              <a:gd name="T24" fmla="*/ 710 w 1281"/>
              <a:gd name="T25" fmla="*/ 114 h 1576"/>
              <a:gd name="T26" fmla="*/ 703 w 1281"/>
              <a:gd name="T27" fmla="*/ 89 h 1576"/>
              <a:gd name="T28" fmla="*/ 623 w 1281"/>
              <a:gd name="T29" fmla="*/ 153 h 1576"/>
              <a:gd name="T30" fmla="*/ 615 w 1281"/>
              <a:gd name="T31" fmla="*/ 153 h 1576"/>
              <a:gd name="T32" fmla="*/ 615 w 1281"/>
              <a:gd name="T33" fmla="*/ 89 h 1576"/>
              <a:gd name="T34" fmla="*/ 536 w 1281"/>
              <a:gd name="T35" fmla="*/ 153 h 1576"/>
              <a:gd name="T36" fmla="*/ 528 w 1281"/>
              <a:gd name="T37" fmla="*/ 153 h 1576"/>
              <a:gd name="T38" fmla="*/ 526 w 1281"/>
              <a:gd name="T39" fmla="*/ 0 h 1576"/>
              <a:gd name="T40" fmla="*/ 521 w 1281"/>
              <a:gd name="T41" fmla="*/ 145 h 1576"/>
              <a:gd name="T42" fmla="*/ 499 w 1281"/>
              <a:gd name="T43" fmla="*/ 189 h 1576"/>
              <a:gd name="T44" fmla="*/ 468 w 1281"/>
              <a:gd name="T45" fmla="*/ 191 h 1576"/>
              <a:gd name="T46" fmla="*/ 448 w 1281"/>
              <a:gd name="T47" fmla="*/ 191 h 1576"/>
              <a:gd name="T48" fmla="*/ 429 w 1281"/>
              <a:gd name="T49" fmla="*/ 194 h 1576"/>
              <a:gd name="T50" fmla="*/ 412 w 1281"/>
              <a:gd name="T51" fmla="*/ 196 h 1576"/>
              <a:gd name="T52" fmla="*/ 395 w 1281"/>
              <a:gd name="T53" fmla="*/ 199 h 1576"/>
              <a:gd name="T54" fmla="*/ 366 w 1281"/>
              <a:gd name="T55" fmla="*/ 206 h 1576"/>
              <a:gd name="T56" fmla="*/ 354 w 1281"/>
              <a:gd name="T57" fmla="*/ 208 h 1576"/>
              <a:gd name="T58" fmla="*/ 347 w 1281"/>
              <a:gd name="T59" fmla="*/ 213 h 1576"/>
              <a:gd name="T60" fmla="*/ 342 w 1281"/>
              <a:gd name="T61" fmla="*/ 216 h 1576"/>
              <a:gd name="T62" fmla="*/ 342 w 1281"/>
              <a:gd name="T63" fmla="*/ 216 h 1576"/>
              <a:gd name="T64" fmla="*/ 337 w 1281"/>
              <a:gd name="T65" fmla="*/ 221 h 1576"/>
              <a:gd name="T66" fmla="*/ 339 w 1281"/>
              <a:gd name="T67" fmla="*/ 228 h 1576"/>
              <a:gd name="T68" fmla="*/ 337 w 1281"/>
              <a:gd name="T69" fmla="*/ 223 h 1576"/>
              <a:gd name="T70" fmla="*/ 337 w 1281"/>
              <a:gd name="T71" fmla="*/ 228 h 1576"/>
              <a:gd name="T72" fmla="*/ 339 w 1281"/>
              <a:gd name="T73" fmla="*/ 230 h 1576"/>
              <a:gd name="T74" fmla="*/ 342 w 1281"/>
              <a:gd name="T75" fmla="*/ 233 h 1576"/>
              <a:gd name="T76" fmla="*/ 344 w 1281"/>
              <a:gd name="T77" fmla="*/ 238 h 1576"/>
              <a:gd name="T78" fmla="*/ 352 w 1281"/>
              <a:gd name="T79" fmla="*/ 240 h 1576"/>
              <a:gd name="T80" fmla="*/ 359 w 1281"/>
              <a:gd name="T81" fmla="*/ 242 h 1576"/>
              <a:gd name="T82" fmla="*/ 368 w 1281"/>
              <a:gd name="T83" fmla="*/ 245 h 1576"/>
              <a:gd name="T84" fmla="*/ 378 w 1281"/>
              <a:gd name="T85" fmla="*/ 247 h 1576"/>
              <a:gd name="T86" fmla="*/ 390 w 1281"/>
              <a:gd name="T87" fmla="*/ 250 h 1576"/>
              <a:gd name="T88" fmla="*/ 400 w 1281"/>
              <a:gd name="T89" fmla="*/ 252 h 1576"/>
              <a:gd name="T90" fmla="*/ 402 w 1281"/>
              <a:gd name="T91" fmla="*/ 310 h 1576"/>
              <a:gd name="T92" fmla="*/ 402 w 1281"/>
              <a:gd name="T93" fmla="*/ 371 h 1576"/>
              <a:gd name="T94" fmla="*/ 402 w 1281"/>
              <a:gd name="T95" fmla="*/ 400 h 1576"/>
              <a:gd name="T96" fmla="*/ 400 w 1281"/>
              <a:gd name="T97" fmla="*/ 1260 h 1576"/>
              <a:gd name="T98" fmla="*/ 90 w 1281"/>
              <a:gd name="T99" fmla="*/ 383 h 1576"/>
              <a:gd name="T100" fmla="*/ 10 w 1281"/>
              <a:gd name="T101" fmla="*/ 1224 h 1576"/>
              <a:gd name="T102" fmla="*/ 1281 w 1281"/>
              <a:gd name="T103" fmla="*/ 1576 h 1576"/>
              <a:gd name="T104" fmla="*/ 352 w 1281"/>
              <a:gd name="T105" fmla="*/ 228 h 1576"/>
              <a:gd name="T106" fmla="*/ 342 w 1281"/>
              <a:gd name="T107" fmla="*/ 225 h 1576"/>
              <a:gd name="T108" fmla="*/ 342 w 1281"/>
              <a:gd name="T109" fmla="*/ 228 h 1576"/>
              <a:gd name="T110" fmla="*/ 410 w 1281"/>
              <a:gd name="T111" fmla="*/ 199 h 1576"/>
              <a:gd name="T112" fmla="*/ 412 w 1281"/>
              <a:gd name="T113" fmla="*/ 206 h 1576"/>
              <a:gd name="T114" fmla="*/ 419 w 1281"/>
              <a:gd name="T115" fmla="*/ 211 h 1576"/>
              <a:gd name="T116" fmla="*/ 427 w 1281"/>
              <a:gd name="T117" fmla="*/ 196 h 1576"/>
              <a:gd name="T118" fmla="*/ 429 w 1281"/>
              <a:gd name="T119" fmla="*/ 204 h 1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281" h="1576">
                <a:moveTo>
                  <a:pt x="1281" y="1017"/>
                </a:moveTo>
                <a:lnTo>
                  <a:pt x="1277" y="1022"/>
                </a:lnTo>
                <a:lnTo>
                  <a:pt x="1264" y="1032"/>
                </a:lnTo>
                <a:lnTo>
                  <a:pt x="1255" y="1044"/>
                </a:lnTo>
                <a:lnTo>
                  <a:pt x="1247" y="1059"/>
                </a:lnTo>
                <a:lnTo>
                  <a:pt x="1240" y="1073"/>
                </a:lnTo>
                <a:lnTo>
                  <a:pt x="1235" y="1090"/>
                </a:lnTo>
                <a:lnTo>
                  <a:pt x="1235" y="1102"/>
                </a:lnTo>
                <a:lnTo>
                  <a:pt x="1063" y="1102"/>
                </a:lnTo>
                <a:lnTo>
                  <a:pt x="1063" y="1107"/>
                </a:lnTo>
                <a:lnTo>
                  <a:pt x="1071" y="1107"/>
                </a:lnTo>
                <a:lnTo>
                  <a:pt x="1071" y="1134"/>
                </a:lnTo>
                <a:lnTo>
                  <a:pt x="1051" y="1134"/>
                </a:lnTo>
                <a:lnTo>
                  <a:pt x="1051" y="634"/>
                </a:lnTo>
                <a:lnTo>
                  <a:pt x="1010" y="634"/>
                </a:lnTo>
                <a:lnTo>
                  <a:pt x="1010" y="602"/>
                </a:lnTo>
                <a:lnTo>
                  <a:pt x="925" y="602"/>
                </a:lnTo>
                <a:lnTo>
                  <a:pt x="925" y="634"/>
                </a:lnTo>
                <a:lnTo>
                  <a:pt x="879" y="634"/>
                </a:lnTo>
                <a:lnTo>
                  <a:pt x="879" y="801"/>
                </a:lnTo>
                <a:lnTo>
                  <a:pt x="848" y="801"/>
                </a:lnTo>
                <a:lnTo>
                  <a:pt x="848" y="825"/>
                </a:lnTo>
                <a:lnTo>
                  <a:pt x="831" y="825"/>
                </a:lnTo>
                <a:lnTo>
                  <a:pt x="831" y="495"/>
                </a:lnTo>
                <a:lnTo>
                  <a:pt x="831" y="306"/>
                </a:lnTo>
                <a:lnTo>
                  <a:pt x="872" y="306"/>
                </a:lnTo>
                <a:lnTo>
                  <a:pt x="872" y="306"/>
                </a:lnTo>
                <a:lnTo>
                  <a:pt x="872" y="306"/>
                </a:lnTo>
                <a:lnTo>
                  <a:pt x="882" y="306"/>
                </a:lnTo>
                <a:lnTo>
                  <a:pt x="882" y="296"/>
                </a:lnTo>
                <a:lnTo>
                  <a:pt x="884" y="296"/>
                </a:lnTo>
                <a:lnTo>
                  <a:pt x="887" y="289"/>
                </a:lnTo>
                <a:lnTo>
                  <a:pt x="887" y="281"/>
                </a:lnTo>
                <a:lnTo>
                  <a:pt x="882" y="281"/>
                </a:lnTo>
                <a:lnTo>
                  <a:pt x="882" y="264"/>
                </a:lnTo>
                <a:lnTo>
                  <a:pt x="884" y="264"/>
                </a:lnTo>
                <a:lnTo>
                  <a:pt x="884" y="262"/>
                </a:lnTo>
                <a:lnTo>
                  <a:pt x="884" y="247"/>
                </a:lnTo>
                <a:lnTo>
                  <a:pt x="884" y="247"/>
                </a:lnTo>
                <a:lnTo>
                  <a:pt x="884" y="245"/>
                </a:lnTo>
                <a:lnTo>
                  <a:pt x="884" y="143"/>
                </a:lnTo>
                <a:lnTo>
                  <a:pt x="882" y="143"/>
                </a:lnTo>
                <a:lnTo>
                  <a:pt x="882" y="89"/>
                </a:lnTo>
                <a:lnTo>
                  <a:pt x="879" y="89"/>
                </a:lnTo>
                <a:lnTo>
                  <a:pt x="879" y="89"/>
                </a:lnTo>
                <a:lnTo>
                  <a:pt x="879" y="111"/>
                </a:lnTo>
                <a:lnTo>
                  <a:pt x="877" y="111"/>
                </a:lnTo>
                <a:lnTo>
                  <a:pt x="877" y="111"/>
                </a:lnTo>
                <a:lnTo>
                  <a:pt x="877" y="143"/>
                </a:lnTo>
                <a:lnTo>
                  <a:pt x="877" y="143"/>
                </a:lnTo>
                <a:lnTo>
                  <a:pt x="877" y="145"/>
                </a:lnTo>
                <a:lnTo>
                  <a:pt x="877" y="150"/>
                </a:lnTo>
                <a:lnTo>
                  <a:pt x="795" y="150"/>
                </a:lnTo>
                <a:lnTo>
                  <a:pt x="795" y="114"/>
                </a:lnTo>
                <a:lnTo>
                  <a:pt x="795" y="111"/>
                </a:lnTo>
                <a:lnTo>
                  <a:pt x="792" y="111"/>
                </a:lnTo>
                <a:lnTo>
                  <a:pt x="792" y="89"/>
                </a:lnTo>
                <a:lnTo>
                  <a:pt x="792" y="89"/>
                </a:lnTo>
                <a:lnTo>
                  <a:pt x="790" y="89"/>
                </a:lnTo>
                <a:lnTo>
                  <a:pt x="790" y="145"/>
                </a:lnTo>
                <a:lnTo>
                  <a:pt x="787" y="145"/>
                </a:lnTo>
                <a:lnTo>
                  <a:pt x="787" y="150"/>
                </a:lnTo>
                <a:lnTo>
                  <a:pt x="710" y="150"/>
                </a:lnTo>
                <a:lnTo>
                  <a:pt x="710" y="114"/>
                </a:lnTo>
                <a:lnTo>
                  <a:pt x="710" y="114"/>
                </a:lnTo>
                <a:lnTo>
                  <a:pt x="705" y="114"/>
                </a:lnTo>
                <a:lnTo>
                  <a:pt x="705" y="145"/>
                </a:lnTo>
                <a:lnTo>
                  <a:pt x="705" y="145"/>
                </a:lnTo>
                <a:lnTo>
                  <a:pt x="705" y="89"/>
                </a:lnTo>
                <a:lnTo>
                  <a:pt x="703" y="89"/>
                </a:lnTo>
                <a:lnTo>
                  <a:pt x="700" y="89"/>
                </a:lnTo>
                <a:lnTo>
                  <a:pt x="700" y="145"/>
                </a:lnTo>
                <a:lnTo>
                  <a:pt x="698" y="145"/>
                </a:lnTo>
                <a:lnTo>
                  <a:pt x="698" y="150"/>
                </a:lnTo>
                <a:lnTo>
                  <a:pt x="623" y="153"/>
                </a:lnTo>
                <a:lnTo>
                  <a:pt x="623" y="114"/>
                </a:lnTo>
                <a:lnTo>
                  <a:pt x="623" y="114"/>
                </a:lnTo>
                <a:lnTo>
                  <a:pt x="618" y="114"/>
                </a:lnTo>
                <a:lnTo>
                  <a:pt x="618" y="153"/>
                </a:lnTo>
                <a:lnTo>
                  <a:pt x="615" y="153"/>
                </a:lnTo>
                <a:lnTo>
                  <a:pt x="615" y="148"/>
                </a:lnTo>
                <a:lnTo>
                  <a:pt x="615" y="145"/>
                </a:lnTo>
                <a:lnTo>
                  <a:pt x="615" y="145"/>
                </a:lnTo>
                <a:lnTo>
                  <a:pt x="615" y="92"/>
                </a:lnTo>
                <a:lnTo>
                  <a:pt x="615" y="89"/>
                </a:lnTo>
                <a:lnTo>
                  <a:pt x="611" y="89"/>
                </a:lnTo>
                <a:lnTo>
                  <a:pt x="611" y="145"/>
                </a:lnTo>
                <a:lnTo>
                  <a:pt x="608" y="145"/>
                </a:lnTo>
                <a:lnTo>
                  <a:pt x="608" y="153"/>
                </a:lnTo>
                <a:lnTo>
                  <a:pt x="536" y="153"/>
                </a:lnTo>
                <a:lnTo>
                  <a:pt x="536" y="114"/>
                </a:lnTo>
                <a:lnTo>
                  <a:pt x="536" y="114"/>
                </a:lnTo>
                <a:lnTo>
                  <a:pt x="533" y="114"/>
                </a:lnTo>
                <a:lnTo>
                  <a:pt x="533" y="153"/>
                </a:lnTo>
                <a:lnTo>
                  <a:pt x="528" y="153"/>
                </a:lnTo>
                <a:lnTo>
                  <a:pt x="528" y="148"/>
                </a:lnTo>
                <a:lnTo>
                  <a:pt x="526" y="145"/>
                </a:lnTo>
                <a:lnTo>
                  <a:pt x="526" y="145"/>
                </a:lnTo>
                <a:lnTo>
                  <a:pt x="526" y="2"/>
                </a:lnTo>
                <a:lnTo>
                  <a:pt x="526" y="0"/>
                </a:lnTo>
                <a:lnTo>
                  <a:pt x="521" y="0"/>
                </a:lnTo>
                <a:lnTo>
                  <a:pt x="521" y="92"/>
                </a:lnTo>
                <a:lnTo>
                  <a:pt x="521" y="92"/>
                </a:lnTo>
                <a:lnTo>
                  <a:pt x="521" y="145"/>
                </a:lnTo>
                <a:lnTo>
                  <a:pt x="521" y="145"/>
                </a:lnTo>
                <a:lnTo>
                  <a:pt x="521" y="187"/>
                </a:lnTo>
                <a:lnTo>
                  <a:pt x="511" y="189"/>
                </a:lnTo>
                <a:lnTo>
                  <a:pt x="511" y="189"/>
                </a:lnTo>
                <a:lnTo>
                  <a:pt x="509" y="189"/>
                </a:lnTo>
                <a:lnTo>
                  <a:pt x="499" y="189"/>
                </a:lnTo>
                <a:lnTo>
                  <a:pt x="490" y="189"/>
                </a:lnTo>
                <a:lnTo>
                  <a:pt x="490" y="189"/>
                </a:lnTo>
                <a:lnTo>
                  <a:pt x="487" y="189"/>
                </a:lnTo>
                <a:lnTo>
                  <a:pt x="477" y="189"/>
                </a:lnTo>
                <a:lnTo>
                  <a:pt x="468" y="191"/>
                </a:lnTo>
                <a:lnTo>
                  <a:pt x="468" y="191"/>
                </a:lnTo>
                <a:lnTo>
                  <a:pt x="465" y="191"/>
                </a:lnTo>
                <a:lnTo>
                  <a:pt x="465" y="191"/>
                </a:lnTo>
                <a:lnTo>
                  <a:pt x="456" y="191"/>
                </a:lnTo>
                <a:lnTo>
                  <a:pt x="448" y="191"/>
                </a:lnTo>
                <a:lnTo>
                  <a:pt x="448" y="191"/>
                </a:lnTo>
                <a:lnTo>
                  <a:pt x="446" y="191"/>
                </a:lnTo>
                <a:lnTo>
                  <a:pt x="439" y="194"/>
                </a:lnTo>
                <a:lnTo>
                  <a:pt x="429" y="194"/>
                </a:lnTo>
                <a:lnTo>
                  <a:pt x="429" y="194"/>
                </a:lnTo>
                <a:lnTo>
                  <a:pt x="429" y="194"/>
                </a:lnTo>
                <a:lnTo>
                  <a:pt x="419" y="196"/>
                </a:lnTo>
                <a:lnTo>
                  <a:pt x="412" y="196"/>
                </a:lnTo>
                <a:lnTo>
                  <a:pt x="412" y="196"/>
                </a:lnTo>
                <a:lnTo>
                  <a:pt x="412" y="196"/>
                </a:lnTo>
                <a:lnTo>
                  <a:pt x="412" y="196"/>
                </a:lnTo>
                <a:lnTo>
                  <a:pt x="412" y="196"/>
                </a:lnTo>
                <a:lnTo>
                  <a:pt x="405" y="199"/>
                </a:lnTo>
                <a:lnTo>
                  <a:pt x="398" y="199"/>
                </a:lnTo>
                <a:lnTo>
                  <a:pt x="395" y="199"/>
                </a:lnTo>
                <a:lnTo>
                  <a:pt x="390" y="201"/>
                </a:lnTo>
                <a:lnTo>
                  <a:pt x="383" y="201"/>
                </a:lnTo>
                <a:lnTo>
                  <a:pt x="383" y="201"/>
                </a:lnTo>
                <a:lnTo>
                  <a:pt x="376" y="204"/>
                </a:lnTo>
                <a:lnTo>
                  <a:pt x="366" y="206"/>
                </a:lnTo>
                <a:lnTo>
                  <a:pt x="356" y="208"/>
                </a:lnTo>
                <a:lnTo>
                  <a:pt x="354" y="208"/>
                </a:lnTo>
                <a:lnTo>
                  <a:pt x="354" y="208"/>
                </a:lnTo>
                <a:lnTo>
                  <a:pt x="354" y="208"/>
                </a:lnTo>
                <a:lnTo>
                  <a:pt x="354" y="208"/>
                </a:lnTo>
                <a:lnTo>
                  <a:pt x="354" y="208"/>
                </a:lnTo>
                <a:lnTo>
                  <a:pt x="349" y="211"/>
                </a:lnTo>
                <a:lnTo>
                  <a:pt x="349" y="211"/>
                </a:lnTo>
                <a:lnTo>
                  <a:pt x="347" y="213"/>
                </a:lnTo>
                <a:lnTo>
                  <a:pt x="347" y="213"/>
                </a:lnTo>
                <a:lnTo>
                  <a:pt x="347" y="213"/>
                </a:lnTo>
                <a:lnTo>
                  <a:pt x="344" y="213"/>
                </a:lnTo>
                <a:lnTo>
                  <a:pt x="342" y="216"/>
                </a:lnTo>
                <a:lnTo>
                  <a:pt x="342" y="216"/>
                </a:lnTo>
                <a:lnTo>
                  <a:pt x="342" y="216"/>
                </a:lnTo>
                <a:lnTo>
                  <a:pt x="339" y="218"/>
                </a:lnTo>
                <a:lnTo>
                  <a:pt x="339" y="218"/>
                </a:lnTo>
                <a:lnTo>
                  <a:pt x="339" y="218"/>
                </a:lnTo>
                <a:lnTo>
                  <a:pt x="342" y="216"/>
                </a:lnTo>
                <a:lnTo>
                  <a:pt x="342" y="216"/>
                </a:lnTo>
                <a:lnTo>
                  <a:pt x="342" y="216"/>
                </a:lnTo>
                <a:lnTo>
                  <a:pt x="339" y="218"/>
                </a:lnTo>
                <a:lnTo>
                  <a:pt x="339" y="218"/>
                </a:lnTo>
                <a:lnTo>
                  <a:pt x="337" y="221"/>
                </a:lnTo>
                <a:lnTo>
                  <a:pt x="337" y="221"/>
                </a:lnTo>
                <a:lnTo>
                  <a:pt x="337" y="223"/>
                </a:lnTo>
                <a:lnTo>
                  <a:pt x="337" y="223"/>
                </a:lnTo>
                <a:lnTo>
                  <a:pt x="337" y="225"/>
                </a:lnTo>
                <a:lnTo>
                  <a:pt x="337" y="225"/>
                </a:lnTo>
                <a:lnTo>
                  <a:pt x="339" y="228"/>
                </a:lnTo>
                <a:lnTo>
                  <a:pt x="337" y="225"/>
                </a:lnTo>
                <a:lnTo>
                  <a:pt x="337" y="225"/>
                </a:lnTo>
                <a:lnTo>
                  <a:pt x="337" y="223"/>
                </a:lnTo>
                <a:lnTo>
                  <a:pt x="337" y="223"/>
                </a:lnTo>
                <a:lnTo>
                  <a:pt x="337" y="223"/>
                </a:lnTo>
                <a:lnTo>
                  <a:pt x="337" y="223"/>
                </a:lnTo>
                <a:lnTo>
                  <a:pt x="337" y="223"/>
                </a:lnTo>
                <a:lnTo>
                  <a:pt x="337" y="225"/>
                </a:lnTo>
                <a:lnTo>
                  <a:pt x="337" y="225"/>
                </a:lnTo>
                <a:lnTo>
                  <a:pt x="337" y="228"/>
                </a:lnTo>
                <a:lnTo>
                  <a:pt x="337" y="228"/>
                </a:lnTo>
                <a:lnTo>
                  <a:pt x="337" y="228"/>
                </a:lnTo>
                <a:lnTo>
                  <a:pt x="337" y="228"/>
                </a:lnTo>
                <a:lnTo>
                  <a:pt x="337" y="230"/>
                </a:lnTo>
                <a:lnTo>
                  <a:pt x="339" y="230"/>
                </a:lnTo>
                <a:lnTo>
                  <a:pt x="339" y="233"/>
                </a:lnTo>
                <a:lnTo>
                  <a:pt x="339" y="233"/>
                </a:lnTo>
                <a:lnTo>
                  <a:pt x="339" y="233"/>
                </a:lnTo>
                <a:lnTo>
                  <a:pt x="339" y="233"/>
                </a:lnTo>
                <a:lnTo>
                  <a:pt x="342" y="233"/>
                </a:lnTo>
                <a:lnTo>
                  <a:pt x="342" y="235"/>
                </a:lnTo>
                <a:lnTo>
                  <a:pt x="342" y="235"/>
                </a:lnTo>
                <a:lnTo>
                  <a:pt x="344" y="238"/>
                </a:lnTo>
                <a:lnTo>
                  <a:pt x="344" y="238"/>
                </a:lnTo>
                <a:lnTo>
                  <a:pt x="344" y="238"/>
                </a:lnTo>
                <a:lnTo>
                  <a:pt x="347" y="238"/>
                </a:lnTo>
                <a:lnTo>
                  <a:pt x="347" y="238"/>
                </a:lnTo>
                <a:lnTo>
                  <a:pt x="349" y="238"/>
                </a:lnTo>
                <a:lnTo>
                  <a:pt x="352" y="240"/>
                </a:lnTo>
                <a:lnTo>
                  <a:pt x="352" y="240"/>
                </a:lnTo>
                <a:lnTo>
                  <a:pt x="352" y="240"/>
                </a:lnTo>
                <a:lnTo>
                  <a:pt x="352" y="240"/>
                </a:lnTo>
                <a:lnTo>
                  <a:pt x="352" y="240"/>
                </a:lnTo>
                <a:lnTo>
                  <a:pt x="356" y="242"/>
                </a:lnTo>
                <a:lnTo>
                  <a:pt x="359" y="242"/>
                </a:lnTo>
                <a:lnTo>
                  <a:pt x="359" y="242"/>
                </a:lnTo>
                <a:lnTo>
                  <a:pt x="359" y="242"/>
                </a:lnTo>
                <a:lnTo>
                  <a:pt x="359" y="242"/>
                </a:lnTo>
                <a:lnTo>
                  <a:pt x="364" y="245"/>
                </a:lnTo>
                <a:lnTo>
                  <a:pt x="368" y="245"/>
                </a:lnTo>
                <a:lnTo>
                  <a:pt x="368" y="245"/>
                </a:lnTo>
                <a:lnTo>
                  <a:pt x="368" y="245"/>
                </a:lnTo>
                <a:lnTo>
                  <a:pt x="368" y="245"/>
                </a:lnTo>
                <a:lnTo>
                  <a:pt x="373" y="247"/>
                </a:lnTo>
                <a:lnTo>
                  <a:pt x="378" y="247"/>
                </a:lnTo>
                <a:lnTo>
                  <a:pt x="378" y="247"/>
                </a:lnTo>
                <a:lnTo>
                  <a:pt x="381" y="247"/>
                </a:lnTo>
                <a:lnTo>
                  <a:pt x="381" y="247"/>
                </a:lnTo>
                <a:lnTo>
                  <a:pt x="385" y="250"/>
                </a:lnTo>
                <a:lnTo>
                  <a:pt x="390" y="250"/>
                </a:lnTo>
                <a:lnTo>
                  <a:pt x="390" y="250"/>
                </a:lnTo>
                <a:lnTo>
                  <a:pt x="393" y="250"/>
                </a:lnTo>
                <a:lnTo>
                  <a:pt x="393" y="250"/>
                </a:lnTo>
                <a:lnTo>
                  <a:pt x="398" y="252"/>
                </a:lnTo>
                <a:lnTo>
                  <a:pt x="400" y="252"/>
                </a:lnTo>
                <a:lnTo>
                  <a:pt x="460" y="262"/>
                </a:lnTo>
                <a:lnTo>
                  <a:pt x="460" y="301"/>
                </a:lnTo>
                <a:lnTo>
                  <a:pt x="436" y="303"/>
                </a:lnTo>
                <a:lnTo>
                  <a:pt x="417" y="308"/>
                </a:lnTo>
                <a:lnTo>
                  <a:pt x="402" y="310"/>
                </a:lnTo>
                <a:lnTo>
                  <a:pt x="398" y="315"/>
                </a:lnTo>
                <a:lnTo>
                  <a:pt x="398" y="337"/>
                </a:lnTo>
                <a:lnTo>
                  <a:pt x="402" y="342"/>
                </a:lnTo>
                <a:lnTo>
                  <a:pt x="402" y="342"/>
                </a:lnTo>
                <a:lnTo>
                  <a:pt x="402" y="371"/>
                </a:lnTo>
                <a:lnTo>
                  <a:pt x="398" y="374"/>
                </a:lnTo>
                <a:lnTo>
                  <a:pt x="398" y="376"/>
                </a:lnTo>
                <a:lnTo>
                  <a:pt x="402" y="381"/>
                </a:lnTo>
                <a:lnTo>
                  <a:pt x="402" y="381"/>
                </a:lnTo>
                <a:lnTo>
                  <a:pt x="402" y="400"/>
                </a:lnTo>
                <a:lnTo>
                  <a:pt x="398" y="403"/>
                </a:lnTo>
                <a:lnTo>
                  <a:pt x="398" y="412"/>
                </a:lnTo>
                <a:lnTo>
                  <a:pt x="402" y="417"/>
                </a:lnTo>
                <a:lnTo>
                  <a:pt x="402" y="417"/>
                </a:lnTo>
                <a:lnTo>
                  <a:pt x="400" y="1260"/>
                </a:lnTo>
                <a:lnTo>
                  <a:pt x="378" y="1260"/>
                </a:lnTo>
                <a:lnTo>
                  <a:pt x="376" y="415"/>
                </a:lnTo>
                <a:lnTo>
                  <a:pt x="315" y="415"/>
                </a:lnTo>
                <a:lnTo>
                  <a:pt x="315" y="383"/>
                </a:lnTo>
                <a:lnTo>
                  <a:pt x="90" y="383"/>
                </a:lnTo>
                <a:lnTo>
                  <a:pt x="75" y="415"/>
                </a:lnTo>
                <a:lnTo>
                  <a:pt x="42" y="415"/>
                </a:lnTo>
                <a:lnTo>
                  <a:pt x="17" y="473"/>
                </a:lnTo>
                <a:lnTo>
                  <a:pt x="17" y="1224"/>
                </a:lnTo>
                <a:lnTo>
                  <a:pt x="10" y="1224"/>
                </a:lnTo>
                <a:lnTo>
                  <a:pt x="10" y="1221"/>
                </a:lnTo>
                <a:lnTo>
                  <a:pt x="5" y="1219"/>
                </a:lnTo>
                <a:lnTo>
                  <a:pt x="0" y="1219"/>
                </a:lnTo>
                <a:lnTo>
                  <a:pt x="0" y="1576"/>
                </a:lnTo>
                <a:lnTo>
                  <a:pt x="1281" y="1576"/>
                </a:lnTo>
                <a:lnTo>
                  <a:pt x="1281" y="1017"/>
                </a:lnTo>
                <a:close/>
                <a:moveTo>
                  <a:pt x="342" y="225"/>
                </a:moveTo>
                <a:lnTo>
                  <a:pt x="344" y="225"/>
                </a:lnTo>
                <a:lnTo>
                  <a:pt x="344" y="225"/>
                </a:lnTo>
                <a:lnTo>
                  <a:pt x="352" y="228"/>
                </a:lnTo>
                <a:lnTo>
                  <a:pt x="344" y="225"/>
                </a:lnTo>
                <a:lnTo>
                  <a:pt x="344" y="225"/>
                </a:lnTo>
                <a:lnTo>
                  <a:pt x="342" y="225"/>
                </a:lnTo>
                <a:lnTo>
                  <a:pt x="342" y="223"/>
                </a:lnTo>
                <a:lnTo>
                  <a:pt x="342" y="225"/>
                </a:lnTo>
                <a:close/>
                <a:moveTo>
                  <a:pt x="342" y="228"/>
                </a:moveTo>
                <a:lnTo>
                  <a:pt x="342" y="228"/>
                </a:lnTo>
                <a:lnTo>
                  <a:pt x="339" y="228"/>
                </a:lnTo>
                <a:lnTo>
                  <a:pt x="342" y="228"/>
                </a:lnTo>
                <a:lnTo>
                  <a:pt x="342" y="228"/>
                </a:lnTo>
                <a:lnTo>
                  <a:pt x="361" y="233"/>
                </a:lnTo>
                <a:lnTo>
                  <a:pt x="342" y="228"/>
                </a:lnTo>
                <a:close/>
                <a:moveTo>
                  <a:pt x="410" y="199"/>
                </a:moveTo>
                <a:lnTo>
                  <a:pt x="410" y="201"/>
                </a:lnTo>
                <a:lnTo>
                  <a:pt x="410" y="199"/>
                </a:lnTo>
                <a:lnTo>
                  <a:pt x="410" y="199"/>
                </a:lnTo>
                <a:lnTo>
                  <a:pt x="410" y="199"/>
                </a:lnTo>
                <a:close/>
                <a:moveTo>
                  <a:pt x="414" y="208"/>
                </a:moveTo>
                <a:lnTo>
                  <a:pt x="412" y="206"/>
                </a:lnTo>
                <a:lnTo>
                  <a:pt x="412" y="206"/>
                </a:lnTo>
                <a:lnTo>
                  <a:pt x="412" y="206"/>
                </a:lnTo>
                <a:lnTo>
                  <a:pt x="412" y="206"/>
                </a:lnTo>
                <a:lnTo>
                  <a:pt x="412" y="206"/>
                </a:lnTo>
                <a:lnTo>
                  <a:pt x="414" y="208"/>
                </a:lnTo>
                <a:lnTo>
                  <a:pt x="419" y="211"/>
                </a:lnTo>
                <a:lnTo>
                  <a:pt x="414" y="208"/>
                </a:lnTo>
                <a:close/>
                <a:moveTo>
                  <a:pt x="427" y="199"/>
                </a:moveTo>
                <a:lnTo>
                  <a:pt x="427" y="196"/>
                </a:lnTo>
                <a:lnTo>
                  <a:pt x="429" y="196"/>
                </a:lnTo>
                <a:lnTo>
                  <a:pt x="427" y="196"/>
                </a:lnTo>
                <a:lnTo>
                  <a:pt x="427" y="199"/>
                </a:lnTo>
                <a:close/>
                <a:moveTo>
                  <a:pt x="429" y="206"/>
                </a:moveTo>
                <a:lnTo>
                  <a:pt x="429" y="204"/>
                </a:lnTo>
                <a:lnTo>
                  <a:pt x="429" y="204"/>
                </a:lnTo>
                <a:lnTo>
                  <a:pt x="429" y="204"/>
                </a:lnTo>
                <a:lnTo>
                  <a:pt x="429" y="206"/>
                </a:lnTo>
                <a:lnTo>
                  <a:pt x="431" y="206"/>
                </a:lnTo>
                <a:lnTo>
                  <a:pt x="429" y="206"/>
                </a:lnTo>
                <a:close/>
              </a:path>
            </a:pathLst>
          </a:custGeom>
          <a:solidFill>
            <a:schemeClr val="accent6"/>
          </a:solidFill>
          <a:ln>
            <a:noFill/>
          </a:ln>
        </p:spPr>
        <p:txBody>
          <a:bodyPr vert="horz" wrap="square" lIns="91440" tIns="45720" rIns="91440" bIns="45720" numCol="1" anchor="t" anchorCtr="0" compatLnSpc="1">
            <a:prstTxWarp prst="textNoShape">
              <a:avLst/>
            </a:prstTxWarp>
          </a:bodyPr>
          <a:lstStyle/>
          <a:p>
            <a:endParaRPr lang="id-ID"/>
          </a:p>
        </p:txBody>
      </p:sp>
      <p:sp>
        <p:nvSpPr>
          <p:cNvPr id="6" name="Freeform 15"/>
          <p:cNvSpPr>
            <a:spLocks/>
          </p:cNvSpPr>
          <p:nvPr/>
        </p:nvSpPr>
        <p:spPr bwMode="auto">
          <a:xfrm>
            <a:off x="6098382" y="3018240"/>
            <a:ext cx="2030676" cy="1895615"/>
          </a:xfrm>
          <a:custGeom>
            <a:avLst/>
            <a:gdLst>
              <a:gd name="T0" fmla="*/ 1278 w 1278"/>
              <a:gd name="T1" fmla="*/ 836 h 1193"/>
              <a:gd name="T2" fmla="*/ 1271 w 1278"/>
              <a:gd name="T3" fmla="*/ 819 h 1193"/>
              <a:gd name="T4" fmla="*/ 1252 w 1278"/>
              <a:gd name="T5" fmla="*/ 821 h 1193"/>
              <a:gd name="T6" fmla="*/ 1242 w 1278"/>
              <a:gd name="T7" fmla="*/ 807 h 1193"/>
              <a:gd name="T8" fmla="*/ 1206 w 1278"/>
              <a:gd name="T9" fmla="*/ 700 h 1193"/>
              <a:gd name="T10" fmla="*/ 1167 w 1278"/>
              <a:gd name="T11" fmla="*/ 693 h 1193"/>
              <a:gd name="T12" fmla="*/ 1126 w 1278"/>
              <a:gd name="T13" fmla="*/ 651 h 1193"/>
              <a:gd name="T14" fmla="*/ 1075 w 1278"/>
              <a:gd name="T15" fmla="*/ 598 h 1193"/>
              <a:gd name="T16" fmla="*/ 1068 w 1278"/>
              <a:gd name="T17" fmla="*/ 586 h 1193"/>
              <a:gd name="T18" fmla="*/ 1053 w 1278"/>
              <a:gd name="T19" fmla="*/ 566 h 1193"/>
              <a:gd name="T20" fmla="*/ 1048 w 1278"/>
              <a:gd name="T21" fmla="*/ 581 h 1193"/>
              <a:gd name="T22" fmla="*/ 1034 w 1278"/>
              <a:gd name="T23" fmla="*/ 593 h 1193"/>
              <a:gd name="T24" fmla="*/ 1034 w 1278"/>
              <a:gd name="T25" fmla="*/ 625 h 1193"/>
              <a:gd name="T26" fmla="*/ 956 w 1278"/>
              <a:gd name="T27" fmla="*/ 685 h 1193"/>
              <a:gd name="T28" fmla="*/ 925 w 1278"/>
              <a:gd name="T29" fmla="*/ 695 h 1193"/>
              <a:gd name="T30" fmla="*/ 884 w 1278"/>
              <a:gd name="T31" fmla="*/ 824 h 1193"/>
              <a:gd name="T32" fmla="*/ 864 w 1278"/>
              <a:gd name="T33" fmla="*/ 807 h 1193"/>
              <a:gd name="T34" fmla="*/ 850 w 1278"/>
              <a:gd name="T35" fmla="*/ 838 h 1193"/>
              <a:gd name="T36" fmla="*/ 833 w 1278"/>
              <a:gd name="T37" fmla="*/ 819 h 1193"/>
              <a:gd name="T38" fmla="*/ 814 w 1278"/>
              <a:gd name="T39" fmla="*/ 841 h 1193"/>
              <a:gd name="T40" fmla="*/ 751 w 1278"/>
              <a:gd name="T41" fmla="*/ 32 h 1193"/>
              <a:gd name="T42" fmla="*/ 445 w 1278"/>
              <a:gd name="T43" fmla="*/ 855 h 1193"/>
              <a:gd name="T44" fmla="*/ 431 w 1278"/>
              <a:gd name="T45" fmla="*/ 739 h 1193"/>
              <a:gd name="T46" fmla="*/ 404 w 1278"/>
              <a:gd name="T47" fmla="*/ 756 h 1193"/>
              <a:gd name="T48" fmla="*/ 378 w 1278"/>
              <a:gd name="T49" fmla="*/ 561 h 1193"/>
              <a:gd name="T50" fmla="*/ 375 w 1278"/>
              <a:gd name="T51" fmla="*/ 547 h 1193"/>
              <a:gd name="T52" fmla="*/ 368 w 1278"/>
              <a:gd name="T53" fmla="*/ 569 h 1193"/>
              <a:gd name="T54" fmla="*/ 351 w 1278"/>
              <a:gd name="T55" fmla="*/ 479 h 1193"/>
              <a:gd name="T56" fmla="*/ 341 w 1278"/>
              <a:gd name="T57" fmla="*/ 348 h 1193"/>
              <a:gd name="T58" fmla="*/ 324 w 1278"/>
              <a:gd name="T59" fmla="*/ 372 h 1193"/>
              <a:gd name="T60" fmla="*/ 312 w 1278"/>
              <a:gd name="T61" fmla="*/ 479 h 1193"/>
              <a:gd name="T62" fmla="*/ 295 w 1278"/>
              <a:gd name="T63" fmla="*/ 561 h 1193"/>
              <a:gd name="T64" fmla="*/ 290 w 1278"/>
              <a:gd name="T65" fmla="*/ 547 h 1193"/>
              <a:gd name="T66" fmla="*/ 288 w 1278"/>
              <a:gd name="T67" fmla="*/ 569 h 1193"/>
              <a:gd name="T68" fmla="*/ 269 w 1278"/>
              <a:gd name="T69" fmla="*/ 693 h 1193"/>
              <a:gd name="T70" fmla="*/ 269 w 1278"/>
              <a:gd name="T71" fmla="*/ 695 h 1193"/>
              <a:gd name="T72" fmla="*/ 261 w 1278"/>
              <a:gd name="T73" fmla="*/ 758 h 1193"/>
              <a:gd name="T74" fmla="*/ 244 w 1278"/>
              <a:gd name="T75" fmla="*/ 712 h 1193"/>
              <a:gd name="T76" fmla="*/ 232 w 1278"/>
              <a:gd name="T77" fmla="*/ 574 h 1193"/>
              <a:gd name="T78" fmla="*/ 208 w 1278"/>
              <a:gd name="T79" fmla="*/ 710 h 1193"/>
              <a:gd name="T80" fmla="*/ 194 w 1278"/>
              <a:gd name="T81" fmla="*/ 748 h 1193"/>
              <a:gd name="T82" fmla="*/ 174 w 1278"/>
              <a:gd name="T83" fmla="*/ 688 h 1193"/>
              <a:gd name="T84" fmla="*/ 172 w 1278"/>
              <a:gd name="T85" fmla="*/ 685 h 1193"/>
              <a:gd name="T86" fmla="*/ 169 w 1278"/>
              <a:gd name="T87" fmla="*/ 615 h 1193"/>
              <a:gd name="T88" fmla="*/ 167 w 1278"/>
              <a:gd name="T89" fmla="*/ 610 h 1193"/>
              <a:gd name="T90" fmla="*/ 157 w 1278"/>
              <a:gd name="T91" fmla="*/ 557 h 1193"/>
              <a:gd name="T92" fmla="*/ 148 w 1278"/>
              <a:gd name="T93" fmla="*/ 547 h 1193"/>
              <a:gd name="T94" fmla="*/ 123 w 1278"/>
              <a:gd name="T95" fmla="*/ 479 h 1193"/>
              <a:gd name="T96" fmla="*/ 123 w 1278"/>
              <a:gd name="T97" fmla="*/ 464 h 1193"/>
              <a:gd name="T98" fmla="*/ 121 w 1278"/>
              <a:gd name="T99" fmla="*/ 304 h 1193"/>
              <a:gd name="T100" fmla="*/ 97 w 1278"/>
              <a:gd name="T101" fmla="*/ 464 h 1193"/>
              <a:gd name="T102" fmla="*/ 94 w 1278"/>
              <a:gd name="T103" fmla="*/ 476 h 1193"/>
              <a:gd name="T104" fmla="*/ 70 w 1278"/>
              <a:gd name="T105" fmla="*/ 554 h 1193"/>
              <a:gd name="T106" fmla="*/ 60 w 1278"/>
              <a:gd name="T107" fmla="*/ 549 h 1193"/>
              <a:gd name="T108" fmla="*/ 48 w 1278"/>
              <a:gd name="T109" fmla="*/ 610 h 1193"/>
              <a:gd name="T110" fmla="*/ 41 w 1278"/>
              <a:gd name="T111" fmla="*/ 746 h 1193"/>
              <a:gd name="T112" fmla="*/ 17 w 1278"/>
              <a:gd name="T113" fmla="*/ 739 h 1193"/>
              <a:gd name="T114" fmla="*/ 7 w 1278"/>
              <a:gd name="T115" fmla="*/ 848 h 1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278" h="1193">
                <a:moveTo>
                  <a:pt x="12" y="306"/>
                </a:moveTo>
                <a:lnTo>
                  <a:pt x="0" y="304"/>
                </a:lnTo>
                <a:lnTo>
                  <a:pt x="0" y="1193"/>
                </a:lnTo>
                <a:lnTo>
                  <a:pt x="1278" y="1193"/>
                </a:lnTo>
                <a:lnTo>
                  <a:pt x="1278" y="836"/>
                </a:lnTo>
                <a:lnTo>
                  <a:pt x="1274" y="836"/>
                </a:lnTo>
                <a:lnTo>
                  <a:pt x="1274" y="819"/>
                </a:lnTo>
                <a:lnTo>
                  <a:pt x="1271" y="819"/>
                </a:lnTo>
                <a:lnTo>
                  <a:pt x="1271" y="819"/>
                </a:lnTo>
                <a:lnTo>
                  <a:pt x="1271" y="819"/>
                </a:lnTo>
                <a:lnTo>
                  <a:pt x="1269" y="819"/>
                </a:lnTo>
                <a:lnTo>
                  <a:pt x="1269" y="836"/>
                </a:lnTo>
                <a:lnTo>
                  <a:pt x="1257" y="836"/>
                </a:lnTo>
                <a:lnTo>
                  <a:pt x="1257" y="824"/>
                </a:lnTo>
                <a:lnTo>
                  <a:pt x="1252" y="821"/>
                </a:lnTo>
                <a:lnTo>
                  <a:pt x="1245" y="821"/>
                </a:lnTo>
                <a:lnTo>
                  <a:pt x="1245" y="807"/>
                </a:lnTo>
                <a:lnTo>
                  <a:pt x="1242" y="807"/>
                </a:lnTo>
                <a:lnTo>
                  <a:pt x="1242" y="807"/>
                </a:lnTo>
                <a:lnTo>
                  <a:pt x="1242" y="807"/>
                </a:lnTo>
                <a:lnTo>
                  <a:pt x="1240" y="807"/>
                </a:lnTo>
                <a:lnTo>
                  <a:pt x="1240" y="821"/>
                </a:lnTo>
                <a:lnTo>
                  <a:pt x="1220" y="821"/>
                </a:lnTo>
                <a:lnTo>
                  <a:pt x="1223" y="702"/>
                </a:lnTo>
                <a:lnTo>
                  <a:pt x="1206" y="700"/>
                </a:lnTo>
                <a:lnTo>
                  <a:pt x="1182" y="700"/>
                </a:lnTo>
                <a:lnTo>
                  <a:pt x="1174" y="695"/>
                </a:lnTo>
                <a:lnTo>
                  <a:pt x="1174" y="695"/>
                </a:lnTo>
                <a:lnTo>
                  <a:pt x="1172" y="695"/>
                </a:lnTo>
                <a:lnTo>
                  <a:pt x="1167" y="693"/>
                </a:lnTo>
                <a:lnTo>
                  <a:pt x="1167" y="688"/>
                </a:lnTo>
                <a:lnTo>
                  <a:pt x="1155" y="685"/>
                </a:lnTo>
                <a:lnTo>
                  <a:pt x="1150" y="685"/>
                </a:lnTo>
                <a:lnTo>
                  <a:pt x="1140" y="668"/>
                </a:lnTo>
                <a:lnTo>
                  <a:pt x="1126" y="651"/>
                </a:lnTo>
                <a:lnTo>
                  <a:pt x="1111" y="639"/>
                </a:lnTo>
                <a:lnTo>
                  <a:pt x="1092" y="629"/>
                </a:lnTo>
                <a:lnTo>
                  <a:pt x="1073" y="625"/>
                </a:lnTo>
                <a:lnTo>
                  <a:pt x="1073" y="598"/>
                </a:lnTo>
                <a:lnTo>
                  <a:pt x="1075" y="598"/>
                </a:lnTo>
                <a:lnTo>
                  <a:pt x="1075" y="595"/>
                </a:lnTo>
                <a:lnTo>
                  <a:pt x="1075" y="593"/>
                </a:lnTo>
                <a:lnTo>
                  <a:pt x="1073" y="593"/>
                </a:lnTo>
                <a:lnTo>
                  <a:pt x="1070" y="588"/>
                </a:lnTo>
                <a:lnTo>
                  <a:pt x="1068" y="586"/>
                </a:lnTo>
                <a:lnTo>
                  <a:pt x="1063" y="583"/>
                </a:lnTo>
                <a:lnTo>
                  <a:pt x="1061" y="581"/>
                </a:lnTo>
                <a:lnTo>
                  <a:pt x="1056" y="581"/>
                </a:lnTo>
                <a:lnTo>
                  <a:pt x="1056" y="566"/>
                </a:lnTo>
                <a:lnTo>
                  <a:pt x="1053" y="566"/>
                </a:lnTo>
                <a:lnTo>
                  <a:pt x="1053" y="564"/>
                </a:lnTo>
                <a:lnTo>
                  <a:pt x="1053" y="566"/>
                </a:lnTo>
                <a:lnTo>
                  <a:pt x="1048" y="566"/>
                </a:lnTo>
                <a:lnTo>
                  <a:pt x="1048" y="581"/>
                </a:lnTo>
                <a:lnTo>
                  <a:pt x="1048" y="581"/>
                </a:lnTo>
                <a:lnTo>
                  <a:pt x="1046" y="581"/>
                </a:lnTo>
                <a:lnTo>
                  <a:pt x="1041" y="583"/>
                </a:lnTo>
                <a:lnTo>
                  <a:pt x="1039" y="586"/>
                </a:lnTo>
                <a:lnTo>
                  <a:pt x="1036" y="588"/>
                </a:lnTo>
                <a:lnTo>
                  <a:pt x="1034" y="593"/>
                </a:lnTo>
                <a:lnTo>
                  <a:pt x="1031" y="593"/>
                </a:lnTo>
                <a:lnTo>
                  <a:pt x="1031" y="595"/>
                </a:lnTo>
                <a:lnTo>
                  <a:pt x="1031" y="598"/>
                </a:lnTo>
                <a:lnTo>
                  <a:pt x="1034" y="598"/>
                </a:lnTo>
                <a:lnTo>
                  <a:pt x="1034" y="625"/>
                </a:lnTo>
                <a:lnTo>
                  <a:pt x="1014" y="629"/>
                </a:lnTo>
                <a:lnTo>
                  <a:pt x="995" y="639"/>
                </a:lnTo>
                <a:lnTo>
                  <a:pt x="978" y="651"/>
                </a:lnTo>
                <a:lnTo>
                  <a:pt x="964" y="668"/>
                </a:lnTo>
                <a:lnTo>
                  <a:pt x="956" y="685"/>
                </a:lnTo>
                <a:lnTo>
                  <a:pt x="949" y="685"/>
                </a:lnTo>
                <a:lnTo>
                  <a:pt x="937" y="688"/>
                </a:lnTo>
                <a:lnTo>
                  <a:pt x="937" y="693"/>
                </a:lnTo>
                <a:lnTo>
                  <a:pt x="935" y="695"/>
                </a:lnTo>
                <a:lnTo>
                  <a:pt x="925" y="695"/>
                </a:lnTo>
                <a:lnTo>
                  <a:pt x="925" y="697"/>
                </a:lnTo>
                <a:lnTo>
                  <a:pt x="922" y="700"/>
                </a:lnTo>
                <a:lnTo>
                  <a:pt x="896" y="700"/>
                </a:lnTo>
                <a:lnTo>
                  <a:pt x="881" y="702"/>
                </a:lnTo>
                <a:lnTo>
                  <a:pt x="884" y="824"/>
                </a:lnTo>
                <a:lnTo>
                  <a:pt x="867" y="824"/>
                </a:lnTo>
                <a:lnTo>
                  <a:pt x="867" y="807"/>
                </a:lnTo>
                <a:lnTo>
                  <a:pt x="864" y="807"/>
                </a:lnTo>
                <a:lnTo>
                  <a:pt x="864" y="807"/>
                </a:lnTo>
                <a:lnTo>
                  <a:pt x="864" y="807"/>
                </a:lnTo>
                <a:lnTo>
                  <a:pt x="862" y="807"/>
                </a:lnTo>
                <a:lnTo>
                  <a:pt x="862" y="824"/>
                </a:lnTo>
                <a:lnTo>
                  <a:pt x="855" y="824"/>
                </a:lnTo>
                <a:lnTo>
                  <a:pt x="850" y="826"/>
                </a:lnTo>
                <a:lnTo>
                  <a:pt x="850" y="838"/>
                </a:lnTo>
                <a:lnTo>
                  <a:pt x="850" y="838"/>
                </a:lnTo>
                <a:lnTo>
                  <a:pt x="835" y="838"/>
                </a:lnTo>
                <a:lnTo>
                  <a:pt x="833" y="819"/>
                </a:lnTo>
                <a:lnTo>
                  <a:pt x="833" y="819"/>
                </a:lnTo>
                <a:lnTo>
                  <a:pt x="833" y="819"/>
                </a:lnTo>
                <a:lnTo>
                  <a:pt x="830" y="819"/>
                </a:lnTo>
                <a:lnTo>
                  <a:pt x="828" y="819"/>
                </a:lnTo>
                <a:lnTo>
                  <a:pt x="828" y="838"/>
                </a:lnTo>
                <a:lnTo>
                  <a:pt x="818" y="838"/>
                </a:lnTo>
                <a:lnTo>
                  <a:pt x="814" y="841"/>
                </a:lnTo>
                <a:lnTo>
                  <a:pt x="814" y="841"/>
                </a:lnTo>
                <a:lnTo>
                  <a:pt x="809" y="841"/>
                </a:lnTo>
                <a:lnTo>
                  <a:pt x="811" y="90"/>
                </a:lnTo>
                <a:lnTo>
                  <a:pt x="782" y="32"/>
                </a:lnTo>
                <a:lnTo>
                  <a:pt x="751" y="32"/>
                </a:lnTo>
                <a:lnTo>
                  <a:pt x="734" y="0"/>
                </a:lnTo>
                <a:lnTo>
                  <a:pt x="508" y="0"/>
                </a:lnTo>
                <a:lnTo>
                  <a:pt x="508" y="32"/>
                </a:lnTo>
                <a:lnTo>
                  <a:pt x="448" y="32"/>
                </a:lnTo>
                <a:lnTo>
                  <a:pt x="445" y="855"/>
                </a:lnTo>
                <a:lnTo>
                  <a:pt x="438" y="848"/>
                </a:lnTo>
                <a:lnTo>
                  <a:pt x="438" y="836"/>
                </a:lnTo>
                <a:lnTo>
                  <a:pt x="436" y="746"/>
                </a:lnTo>
                <a:lnTo>
                  <a:pt x="436" y="739"/>
                </a:lnTo>
                <a:lnTo>
                  <a:pt x="431" y="739"/>
                </a:lnTo>
                <a:lnTo>
                  <a:pt x="429" y="739"/>
                </a:lnTo>
                <a:lnTo>
                  <a:pt x="429" y="746"/>
                </a:lnTo>
                <a:lnTo>
                  <a:pt x="429" y="758"/>
                </a:lnTo>
                <a:lnTo>
                  <a:pt x="404" y="758"/>
                </a:lnTo>
                <a:lnTo>
                  <a:pt x="404" y="756"/>
                </a:lnTo>
                <a:lnTo>
                  <a:pt x="399" y="746"/>
                </a:lnTo>
                <a:lnTo>
                  <a:pt x="399" y="693"/>
                </a:lnTo>
                <a:lnTo>
                  <a:pt x="392" y="676"/>
                </a:lnTo>
                <a:lnTo>
                  <a:pt x="392" y="622"/>
                </a:lnTo>
                <a:lnTo>
                  <a:pt x="378" y="561"/>
                </a:lnTo>
                <a:lnTo>
                  <a:pt x="380" y="561"/>
                </a:lnTo>
                <a:lnTo>
                  <a:pt x="380" y="547"/>
                </a:lnTo>
                <a:lnTo>
                  <a:pt x="375" y="547"/>
                </a:lnTo>
                <a:lnTo>
                  <a:pt x="375" y="547"/>
                </a:lnTo>
                <a:lnTo>
                  <a:pt x="375" y="547"/>
                </a:lnTo>
                <a:lnTo>
                  <a:pt x="368" y="547"/>
                </a:lnTo>
                <a:lnTo>
                  <a:pt x="368" y="554"/>
                </a:lnTo>
                <a:lnTo>
                  <a:pt x="366" y="554"/>
                </a:lnTo>
                <a:lnTo>
                  <a:pt x="366" y="569"/>
                </a:lnTo>
                <a:lnTo>
                  <a:pt x="368" y="569"/>
                </a:lnTo>
                <a:lnTo>
                  <a:pt x="358" y="610"/>
                </a:lnTo>
                <a:lnTo>
                  <a:pt x="346" y="481"/>
                </a:lnTo>
                <a:lnTo>
                  <a:pt x="351" y="481"/>
                </a:lnTo>
                <a:lnTo>
                  <a:pt x="351" y="479"/>
                </a:lnTo>
                <a:lnTo>
                  <a:pt x="351" y="479"/>
                </a:lnTo>
                <a:lnTo>
                  <a:pt x="351" y="469"/>
                </a:lnTo>
                <a:lnTo>
                  <a:pt x="344" y="469"/>
                </a:lnTo>
                <a:lnTo>
                  <a:pt x="337" y="372"/>
                </a:lnTo>
                <a:lnTo>
                  <a:pt x="341" y="372"/>
                </a:lnTo>
                <a:lnTo>
                  <a:pt x="341" y="348"/>
                </a:lnTo>
                <a:lnTo>
                  <a:pt x="341" y="309"/>
                </a:lnTo>
                <a:lnTo>
                  <a:pt x="320" y="309"/>
                </a:lnTo>
                <a:lnTo>
                  <a:pt x="320" y="348"/>
                </a:lnTo>
                <a:lnTo>
                  <a:pt x="320" y="372"/>
                </a:lnTo>
                <a:lnTo>
                  <a:pt x="324" y="372"/>
                </a:lnTo>
                <a:lnTo>
                  <a:pt x="324" y="374"/>
                </a:lnTo>
                <a:lnTo>
                  <a:pt x="317" y="469"/>
                </a:lnTo>
                <a:lnTo>
                  <a:pt x="312" y="469"/>
                </a:lnTo>
                <a:lnTo>
                  <a:pt x="312" y="472"/>
                </a:lnTo>
                <a:lnTo>
                  <a:pt x="312" y="479"/>
                </a:lnTo>
                <a:lnTo>
                  <a:pt x="312" y="481"/>
                </a:lnTo>
                <a:lnTo>
                  <a:pt x="317" y="481"/>
                </a:lnTo>
                <a:lnTo>
                  <a:pt x="305" y="610"/>
                </a:lnTo>
                <a:lnTo>
                  <a:pt x="295" y="566"/>
                </a:lnTo>
                <a:lnTo>
                  <a:pt x="295" y="561"/>
                </a:lnTo>
                <a:lnTo>
                  <a:pt x="298" y="561"/>
                </a:lnTo>
                <a:lnTo>
                  <a:pt x="298" y="547"/>
                </a:lnTo>
                <a:lnTo>
                  <a:pt x="290" y="547"/>
                </a:lnTo>
                <a:lnTo>
                  <a:pt x="290" y="547"/>
                </a:lnTo>
                <a:lnTo>
                  <a:pt x="290" y="547"/>
                </a:lnTo>
                <a:lnTo>
                  <a:pt x="286" y="547"/>
                </a:lnTo>
                <a:lnTo>
                  <a:pt x="286" y="554"/>
                </a:lnTo>
                <a:lnTo>
                  <a:pt x="286" y="554"/>
                </a:lnTo>
                <a:lnTo>
                  <a:pt x="286" y="569"/>
                </a:lnTo>
                <a:lnTo>
                  <a:pt x="288" y="569"/>
                </a:lnTo>
                <a:lnTo>
                  <a:pt x="276" y="622"/>
                </a:lnTo>
                <a:lnTo>
                  <a:pt x="276" y="622"/>
                </a:lnTo>
                <a:lnTo>
                  <a:pt x="274" y="627"/>
                </a:lnTo>
                <a:lnTo>
                  <a:pt x="274" y="676"/>
                </a:lnTo>
                <a:lnTo>
                  <a:pt x="269" y="693"/>
                </a:lnTo>
                <a:lnTo>
                  <a:pt x="269" y="693"/>
                </a:lnTo>
                <a:lnTo>
                  <a:pt x="269" y="693"/>
                </a:lnTo>
                <a:lnTo>
                  <a:pt x="269" y="695"/>
                </a:lnTo>
                <a:lnTo>
                  <a:pt x="269" y="695"/>
                </a:lnTo>
                <a:lnTo>
                  <a:pt x="269" y="695"/>
                </a:lnTo>
                <a:lnTo>
                  <a:pt x="269" y="695"/>
                </a:lnTo>
                <a:lnTo>
                  <a:pt x="269" y="746"/>
                </a:lnTo>
                <a:lnTo>
                  <a:pt x="261" y="756"/>
                </a:lnTo>
                <a:lnTo>
                  <a:pt x="261" y="756"/>
                </a:lnTo>
                <a:lnTo>
                  <a:pt x="261" y="758"/>
                </a:lnTo>
                <a:lnTo>
                  <a:pt x="261" y="758"/>
                </a:lnTo>
                <a:lnTo>
                  <a:pt x="252" y="758"/>
                </a:lnTo>
                <a:lnTo>
                  <a:pt x="252" y="748"/>
                </a:lnTo>
                <a:lnTo>
                  <a:pt x="244" y="748"/>
                </a:lnTo>
                <a:lnTo>
                  <a:pt x="244" y="712"/>
                </a:lnTo>
                <a:lnTo>
                  <a:pt x="244" y="710"/>
                </a:lnTo>
                <a:lnTo>
                  <a:pt x="240" y="710"/>
                </a:lnTo>
                <a:lnTo>
                  <a:pt x="225" y="574"/>
                </a:lnTo>
                <a:lnTo>
                  <a:pt x="225" y="574"/>
                </a:lnTo>
                <a:lnTo>
                  <a:pt x="232" y="574"/>
                </a:lnTo>
                <a:lnTo>
                  <a:pt x="232" y="537"/>
                </a:lnTo>
                <a:lnTo>
                  <a:pt x="215" y="537"/>
                </a:lnTo>
                <a:lnTo>
                  <a:pt x="215" y="574"/>
                </a:lnTo>
                <a:lnTo>
                  <a:pt x="220" y="574"/>
                </a:lnTo>
                <a:lnTo>
                  <a:pt x="208" y="710"/>
                </a:lnTo>
                <a:lnTo>
                  <a:pt x="208" y="710"/>
                </a:lnTo>
                <a:lnTo>
                  <a:pt x="208" y="710"/>
                </a:lnTo>
                <a:lnTo>
                  <a:pt x="201" y="710"/>
                </a:lnTo>
                <a:lnTo>
                  <a:pt x="201" y="748"/>
                </a:lnTo>
                <a:lnTo>
                  <a:pt x="194" y="748"/>
                </a:lnTo>
                <a:lnTo>
                  <a:pt x="194" y="758"/>
                </a:lnTo>
                <a:lnTo>
                  <a:pt x="179" y="758"/>
                </a:lnTo>
                <a:lnTo>
                  <a:pt x="179" y="758"/>
                </a:lnTo>
                <a:lnTo>
                  <a:pt x="174" y="746"/>
                </a:lnTo>
                <a:lnTo>
                  <a:pt x="174" y="688"/>
                </a:lnTo>
                <a:lnTo>
                  <a:pt x="174" y="688"/>
                </a:lnTo>
                <a:lnTo>
                  <a:pt x="174" y="688"/>
                </a:lnTo>
                <a:lnTo>
                  <a:pt x="172" y="688"/>
                </a:lnTo>
                <a:lnTo>
                  <a:pt x="172" y="685"/>
                </a:lnTo>
                <a:lnTo>
                  <a:pt x="172" y="685"/>
                </a:lnTo>
                <a:lnTo>
                  <a:pt x="172" y="685"/>
                </a:lnTo>
                <a:lnTo>
                  <a:pt x="169" y="683"/>
                </a:lnTo>
                <a:lnTo>
                  <a:pt x="169" y="617"/>
                </a:lnTo>
                <a:lnTo>
                  <a:pt x="169" y="617"/>
                </a:lnTo>
                <a:lnTo>
                  <a:pt x="169" y="615"/>
                </a:lnTo>
                <a:lnTo>
                  <a:pt x="167" y="615"/>
                </a:lnTo>
                <a:lnTo>
                  <a:pt x="167" y="615"/>
                </a:lnTo>
                <a:lnTo>
                  <a:pt x="167" y="610"/>
                </a:lnTo>
                <a:lnTo>
                  <a:pt x="167" y="610"/>
                </a:lnTo>
                <a:lnTo>
                  <a:pt x="167" y="610"/>
                </a:lnTo>
                <a:lnTo>
                  <a:pt x="165" y="610"/>
                </a:lnTo>
                <a:lnTo>
                  <a:pt x="165" y="610"/>
                </a:lnTo>
                <a:lnTo>
                  <a:pt x="155" y="569"/>
                </a:lnTo>
                <a:lnTo>
                  <a:pt x="157" y="569"/>
                </a:lnTo>
                <a:lnTo>
                  <a:pt x="157" y="557"/>
                </a:lnTo>
                <a:lnTo>
                  <a:pt x="155" y="557"/>
                </a:lnTo>
                <a:lnTo>
                  <a:pt x="155" y="547"/>
                </a:lnTo>
                <a:lnTo>
                  <a:pt x="148" y="547"/>
                </a:lnTo>
                <a:lnTo>
                  <a:pt x="148" y="547"/>
                </a:lnTo>
                <a:lnTo>
                  <a:pt x="148" y="547"/>
                </a:lnTo>
                <a:lnTo>
                  <a:pt x="143" y="547"/>
                </a:lnTo>
                <a:lnTo>
                  <a:pt x="143" y="561"/>
                </a:lnTo>
                <a:lnTo>
                  <a:pt x="145" y="561"/>
                </a:lnTo>
                <a:lnTo>
                  <a:pt x="136" y="603"/>
                </a:lnTo>
                <a:lnTo>
                  <a:pt x="123" y="479"/>
                </a:lnTo>
                <a:lnTo>
                  <a:pt x="131" y="476"/>
                </a:lnTo>
                <a:lnTo>
                  <a:pt x="131" y="476"/>
                </a:lnTo>
                <a:lnTo>
                  <a:pt x="131" y="467"/>
                </a:lnTo>
                <a:lnTo>
                  <a:pt x="128" y="464"/>
                </a:lnTo>
                <a:lnTo>
                  <a:pt x="123" y="464"/>
                </a:lnTo>
                <a:lnTo>
                  <a:pt x="116" y="370"/>
                </a:lnTo>
                <a:lnTo>
                  <a:pt x="116" y="370"/>
                </a:lnTo>
                <a:lnTo>
                  <a:pt x="121" y="370"/>
                </a:lnTo>
                <a:lnTo>
                  <a:pt x="121" y="343"/>
                </a:lnTo>
                <a:lnTo>
                  <a:pt x="121" y="304"/>
                </a:lnTo>
                <a:lnTo>
                  <a:pt x="99" y="304"/>
                </a:lnTo>
                <a:lnTo>
                  <a:pt x="99" y="343"/>
                </a:lnTo>
                <a:lnTo>
                  <a:pt x="99" y="370"/>
                </a:lnTo>
                <a:lnTo>
                  <a:pt x="104" y="370"/>
                </a:lnTo>
                <a:lnTo>
                  <a:pt x="97" y="464"/>
                </a:lnTo>
                <a:lnTo>
                  <a:pt x="90" y="464"/>
                </a:lnTo>
                <a:lnTo>
                  <a:pt x="90" y="474"/>
                </a:lnTo>
                <a:lnTo>
                  <a:pt x="90" y="474"/>
                </a:lnTo>
                <a:lnTo>
                  <a:pt x="90" y="476"/>
                </a:lnTo>
                <a:lnTo>
                  <a:pt x="94" y="476"/>
                </a:lnTo>
                <a:lnTo>
                  <a:pt x="82" y="603"/>
                </a:lnTo>
                <a:lnTo>
                  <a:pt x="75" y="569"/>
                </a:lnTo>
                <a:lnTo>
                  <a:pt x="75" y="569"/>
                </a:lnTo>
                <a:lnTo>
                  <a:pt x="75" y="554"/>
                </a:lnTo>
                <a:lnTo>
                  <a:pt x="70" y="554"/>
                </a:lnTo>
                <a:lnTo>
                  <a:pt x="70" y="549"/>
                </a:lnTo>
                <a:lnTo>
                  <a:pt x="65" y="549"/>
                </a:lnTo>
                <a:lnTo>
                  <a:pt x="65" y="547"/>
                </a:lnTo>
                <a:lnTo>
                  <a:pt x="65" y="549"/>
                </a:lnTo>
                <a:lnTo>
                  <a:pt x="60" y="549"/>
                </a:lnTo>
                <a:lnTo>
                  <a:pt x="60" y="561"/>
                </a:lnTo>
                <a:lnTo>
                  <a:pt x="63" y="561"/>
                </a:lnTo>
                <a:lnTo>
                  <a:pt x="51" y="610"/>
                </a:lnTo>
                <a:lnTo>
                  <a:pt x="51" y="610"/>
                </a:lnTo>
                <a:lnTo>
                  <a:pt x="48" y="610"/>
                </a:lnTo>
                <a:lnTo>
                  <a:pt x="46" y="610"/>
                </a:lnTo>
                <a:lnTo>
                  <a:pt x="46" y="683"/>
                </a:lnTo>
                <a:lnTo>
                  <a:pt x="41" y="685"/>
                </a:lnTo>
                <a:lnTo>
                  <a:pt x="41" y="700"/>
                </a:lnTo>
                <a:lnTo>
                  <a:pt x="41" y="746"/>
                </a:lnTo>
                <a:lnTo>
                  <a:pt x="34" y="756"/>
                </a:lnTo>
                <a:lnTo>
                  <a:pt x="34" y="758"/>
                </a:lnTo>
                <a:lnTo>
                  <a:pt x="19" y="758"/>
                </a:lnTo>
                <a:lnTo>
                  <a:pt x="17" y="746"/>
                </a:lnTo>
                <a:lnTo>
                  <a:pt x="17" y="739"/>
                </a:lnTo>
                <a:lnTo>
                  <a:pt x="17" y="739"/>
                </a:lnTo>
                <a:lnTo>
                  <a:pt x="12" y="739"/>
                </a:lnTo>
                <a:lnTo>
                  <a:pt x="12" y="746"/>
                </a:lnTo>
                <a:lnTo>
                  <a:pt x="7" y="836"/>
                </a:lnTo>
                <a:lnTo>
                  <a:pt x="7" y="848"/>
                </a:lnTo>
                <a:lnTo>
                  <a:pt x="5" y="851"/>
                </a:lnTo>
                <a:lnTo>
                  <a:pt x="10" y="365"/>
                </a:lnTo>
                <a:lnTo>
                  <a:pt x="12" y="306"/>
                </a:lnTo>
                <a:close/>
              </a:path>
            </a:pathLst>
          </a:custGeom>
          <a:solidFill>
            <a:schemeClr val="accent6"/>
          </a:solidFill>
          <a:ln>
            <a:noFill/>
          </a:ln>
        </p:spPr>
        <p:txBody>
          <a:bodyPr vert="horz" wrap="square" lIns="91440" tIns="45720" rIns="91440" bIns="45720" numCol="1" anchor="t" anchorCtr="0" compatLnSpc="1">
            <a:prstTxWarp prst="textNoShape">
              <a:avLst/>
            </a:prstTxWarp>
          </a:bodyPr>
          <a:lstStyle/>
          <a:p>
            <a:endParaRPr lang="id-ID"/>
          </a:p>
        </p:txBody>
      </p:sp>
      <p:sp>
        <p:nvSpPr>
          <p:cNvPr id="7" name="Freeform 16"/>
          <p:cNvSpPr>
            <a:spLocks/>
          </p:cNvSpPr>
          <p:nvPr/>
        </p:nvSpPr>
        <p:spPr bwMode="auto">
          <a:xfrm>
            <a:off x="4070883" y="2652781"/>
            <a:ext cx="2027498" cy="2261074"/>
          </a:xfrm>
          <a:custGeom>
            <a:avLst/>
            <a:gdLst>
              <a:gd name="T0" fmla="*/ 1242 w 1276"/>
              <a:gd name="T1" fmla="*/ 529 h 1423"/>
              <a:gd name="T2" fmla="*/ 1225 w 1276"/>
              <a:gd name="T3" fmla="*/ 527 h 1423"/>
              <a:gd name="T4" fmla="*/ 1196 w 1276"/>
              <a:gd name="T5" fmla="*/ 505 h 1423"/>
              <a:gd name="T6" fmla="*/ 1172 w 1276"/>
              <a:gd name="T7" fmla="*/ 483 h 1423"/>
              <a:gd name="T8" fmla="*/ 1148 w 1276"/>
              <a:gd name="T9" fmla="*/ 461 h 1423"/>
              <a:gd name="T10" fmla="*/ 1126 w 1276"/>
              <a:gd name="T11" fmla="*/ 439 h 1423"/>
              <a:gd name="T12" fmla="*/ 1043 w 1276"/>
              <a:gd name="T13" fmla="*/ 434 h 1423"/>
              <a:gd name="T14" fmla="*/ 1005 w 1276"/>
              <a:gd name="T15" fmla="*/ 447 h 1423"/>
              <a:gd name="T16" fmla="*/ 985 w 1276"/>
              <a:gd name="T17" fmla="*/ 461 h 1423"/>
              <a:gd name="T18" fmla="*/ 981 w 1276"/>
              <a:gd name="T19" fmla="*/ 481 h 1423"/>
              <a:gd name="T20" fmla="*/ 959 w 1276"/>
              <a:gd name="T21" fmla="*/ 495 h 1423"/>
              <a:gd name="T22" fmla="*/ 939 w 1276"/>
              <a:gd name="T23" fmla="*/ 505 h 1423"/>
              <a:gd name="T24" fmla="*/ 937 w 1276"/>
              <a:gd name="T25" fmla="*/ 524 h 1423"/>
              <a:gd name="T26" fmla="*/ 913 w 1276"/>
              <a:gd name="T27" fmla="*/ 529 h 1423"/>
              <a:gd name="T28" fmla="*/ 840 w 1276"/>
              <a:gd name="T29" fmla="*/ 534 h 1423"/>
              <a:gd name="T30" fmla="*/ 840 w 1276"/>
              <a:gd name="T31" fmla="*/ 595 h 1423"/>
              <a:gd name="T32" fmla="*/ 765 w 1276"/>
              <a:gd name="T33" fmla="*/ 876 h 1423"/>
              <a:gd name="T34" fmla="*/ 763 w 1276"/>
              <a:gd name="T35" fmla="*/ 544 h 1423"/>
              <a:gd name="T36" fmla="*/ 690 w 1276"/>
              <a:gd name="T37" fmla="*/ 539 h 1423"/>
              <a:gd name="T38" fmla="*/ 668 w 1276"/>
              <a:gd name="T39" fmla="*/ 534 h 1423"/>
              <a:gd name="T40" fmla="*/ 661 w 1276"/>
              <a:gd name="T41" fmla="*/ 515 h 1423"/>
              <a:gd name="T42" fmla="*/ 646 w 1276"/>
              <a:gd name="T43" fmla="*/ 502 h 1423"/>
              <a:gd name="T44" fmla="*/ 625 w 1276"/>
              <a:gd name="T45" fmla="*/ 490 h 1423"/>
              <a:gd name="T46" fmla="*/ 617 w 1276"/>
              <a:gd name="T47" fmla="*/ 471 h 1423"/>
              <a:gd name="T48" fmla="*/ 600 w 1276"/>
              <a:gd name="T49" fmla="*/ 456 h 1423"/>
              <a:gd name="T50" fmla="*/ 559 w 1276"/>
              <a:gd name="T51" fmla="*/ 444 h 1423"/>
              <a:gd name="T52" fmla="*/ 482 w 1276"/>
              <a:gd name="T53" fmla="*/ 449 h 1423"/>
              <a:gd name="T54" fmla="*/ 460 w 1276"/>
              <a:gd name="T55" fmla="*/ 471 h 1423"/>
              <a:gd name="T56" fmla="*/ 436 w 1276"/>
              <a:gd name="T57" fmla="*/ 493 h 1423"/>
              <a:gd name="T58" fmla="*/ 411 w 1276"/>
              <a:gd name="T59" fmla="*/ 512 h 1423"/>
              <a:gd name="T60" fmla="*/ 385 w 1276"/>
              <a:gd name="T61" fmla="*/ 534 h 1423"/>
              <a:gd name="T62" fmla="*/ 382 w 1276"/>
              <a:gd name="T63" fmla="*/ 536 h 1423"/>
              <a:gd name="T64" fmla="*/ 322 w 1276"/>
              <a:gd name="T65" fmla="*/ 328 h 1423"/>
              <a:gd name="T66" fmla="*/ 264 w 1276"/>
              <a:gd name="T67" fmla="*/ 274 h 1423"/>
              <a:gd name="T68" fmla="*/ 201 w 1276"/>
              <a:gd name="T69" fmla="*/ 233 h 1423"/>
              <a:gd name="T70" fmla="*/ 179 w 1276"/>
              <a:gd name="T71" fmla="*/ 328 h 1423"/>
              <a:gd name="T72" fmla="*/ 181 w 1276"/>
              <a:gd name="T73" fmla="*/ 255 h 1423"/>
              <a:gd name="T74" fmla="*/ 179 w 1276"/>
              <a:gd name="T75" fmla="*/ 252 h 1423"/>
              <a:gd name="T76" fmla="*/ 181 w 1276"/>
              <a:gd name="T77" fmla="*/ 213 h 1423"/>
              <a:gd name="T78" fmla="*/ 179 w 1276"/>
              <a:gd name="T79" fmla="*/ 213 h 1423"/>
              <a:gd name="T80" fmla="*/ 181 w 1276"/>
              <a:gd name="T81" fmla="*/ 174 h 1423"/>
              <a:gd name="T82" fmla="*/ 179 w 1276"/>
              <a:gd name="T83" fmla="*/ 172 h 1423"/>
              <a:gd name="T84" fmla="*/ 116 w 1276"/>
              <a:gd name="T85" fmla="*/ 109 h 1423"/>
              <a:gd name="T86" fmla="*/ 29 w 1276"/>
              <a:gd name="T87" fmla="*/ 104 h 1423"/>
              <a:gd name="T88" fmla="*/ 29 w 1276"/>
              <a:gd name="T89" fmla="*/ 31 h 1423"/>
              <a:gd name="T90" fmla="*/ 29 w 1276"/>
              <a:gd name="T91" fmla="*/ 9 h 1423"/>
              <a:gd name="T92" fmla="*/ 29 w 1276"/>
              <a:gd name="T93" fmla="*/ 0 h 1423"/>
              <a:gd name="T94" fmla="*/ 0 w 1276"/>
              <a:gd name="T95" fmla="*/ 1423 h 1423"/>
              <a:gd name="T96" fmla="*/ 1276 w 1276"/>
              <a:gd name="T97" fmla="*/ 534 h 14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276" h="1423">
                <a:moveTo>
                  <a:pt x="1276" y="534"/>
                </a:moveTo>
                <a:lnTo>
                  <a:pt x="1242" y="529"/>
                </a:lnTo>
                <a:lnTo>
                  <a:pt x="1223" y="532"/>
                </a:lnTo>
                <a:lnTo>
                  <a:pt x="1225" y="527"/>
                </a:lnTo>
                <a:lnTo>
                  <a:pt x="1196" y="524"/>
                </a:lnTo>
                <a:lnTo>
                  <a:pt x="1196" y="505"/>
                </a:lnTo>
                <a:lnTo>
                  <a:pt x="1172" y="502"/>
                </a:lnTo>
                <a:lnTo>
                  <a:pt x="1172" y="483"/>
                </a:lnTo>
                <a:lnTo>
                  <a:pt x="1148" y="481"/>
                </a:lnTo>
                <a:lnTo>
                  <a:pt x="1148" y="461"/>
                </a:lnTo>
                <a:lnTo>
                  <a:pt x="1123" y="459"/>
                </a:lnTo>
                <a:lnTo>
                  <a:pt x="1126" y="439"/>
                </a:lnTo>
                <a:lnTo>
                  <a:pt x="1094" y="434"/>
                </a:lnTo>
                <a:lnTo>
                  <a:pt x="1043" y="434"/>
                </a:lnTo>
                <a:lnTo>
                  <a:pt x="1007" y="439"/>
                </a:lnTo>
                <a:lnTo>
                  <a:pt x="1005" y="447"/>
                </a:lnTo>
                <a:lnTo>
                  <a:pt x="1005" y="459"/>
                </a:lnTo>
                <a:lnTo>
                  <a:pt x="985" y="461"/>
                </a:lnTo>
                <a:lnTo>
                  <a:pt x="983" y="471"/>
                </a:lnTo>
                <a:lnTo>
                  <a:pt x="981" y="481"/>
                </a:lnTo>
                <a:lnTo>
                  <a:pt x="964" y="483"/>
                </a:lnTo>
                <a:lnTo>
                  <a:pt x="959" y="495"/>
                </a:lnTo>
                <a:lnTo>
                  <a:pt x="959" y="502"/>
                </a:lnTo>
                <a:lnTo>
                  <a:pt x="939" y="505"/>
                </a:lnTo>
                <a:lnTo>
                  <a:pt x="937" y="517"/>
                </a:lnTo>
                <a:lnTo>
                  <a:pt x="937" y="524"/>
                </a:lnTo>
                <a:lnTo>
                  <a:pt x="915" y="527"/>
                </a:lnTo>
                <a:lnTo>
                  <a:pt x="913" y="529"/>
                </a:lnTo>
                <a:lnTo>
                  <a:pt x="893" y="527"/>
                </a:lnTo>
                <a:lnTo>
                  <a:pt x="840" y="534"/>
                </a:lnTo>
                <a:lnTo>
                  <a:pt x="840" y="595"/>
                </a:lnTo>
                <a:lnTo>
                  <a:pt x="840" y="595"/>
                </a:lnTo>
                <a:lnTo>
                  <a:pt x="840" y="876"/>
                </a:lnTo>
                <a:lnTo>
                  <a:pt x="765" y="876"/>
                </a:lnTo>
                <a:lnTo>
                  <a:pt x="763" y="600"/>
                </a:lnTo>
                <a:lnTo>
                  <a:pt x="763" y="544"/>
                </a:lnTo>
                <a:lnTo>
                  <a:pt x="707" y="536"/>
                </a:lnTo>
                <a:lnTo>
                  <a:pt x="690" y="539"/>
                </a:lnTo>
                <a:lnTo>
                  <a:pt x="688" y="536"/>
                </a:lnTo>
                <a:lnTo>
                  <a:pt x="668" y="534"/>
                </a:lnTo>
                <a:lnTo>
                  <a:pt x="668" y="527"/>
                </a:lnTo>
                <a:lnTo>
                  <a:pt x="661" y="515"/>
                </a:lnTo>
                <a:lnTo>
                  <a:pt x="646" y="512"/>
                </a:lnTo>
                <a:lnTo>
                  <a:pt x="646" y="502"/>
                </a:lnTo>
                <a:lnTo>
                  <a:pt x="639" y="493"/>
                </a:lnTo>
                <a:lnTo>
                  <a:pt x="625" y="490"/>
                </a:lnTo>
                <a:lnTo>
                  <a:pt x="625" y="481"/>
                </a:lnTo>
                <a:lnTo>
                  <a:pt x="617" y="471"/>
                </a:lnTo>
                <a:lnTo>
                  <a:pt x="603" y="468"/>
                </a:lnTo>
                <a:lnTo>
                  <a:pt x="600" y="456"/>
                </a:lnTo>
                <a:lnTo>
                  <a:pt x="598" y="449"/>
                </a:lnTo>
                <a:lnTo>
                  <a:pt x="559" y="444"/>
                </a:lnTo>
                <a:lnTo>
                  <a:pt x="511" y="444"/>
                </a:lnTo>
                <a:lnTo>
                  <a:pt x="482" y="449"/>
                </a:lnTo>
                <a:lnTo>
                  <a:pt x="482" y="466"/>
                </a:lnTo>
                <a:lnTo>
                  <a:pt x="460" y="471"/>
                </a:lnTo>
                <a:lnTo>
                  <a:pt x="460" y="488"/>
                </a:lnTo>
                <a:lnTo>
                  <a:pt x="436" y="493"/>
                </a:lnTo>
                <a:lnTo>
                  <a:pt x="436" y="510"/>
                </a:lnTo>
                <a:lnTo>
                  <a:pt x="411" y="512"/>
                </a:lnTo>
                <a:lnTo>
                  <a:pt x="411" y="532"/>
                </a:lnTo>
                <a:lnTo>
                  <a:pt x="385" y="534"/>
                </a:lnTo>
                <a:lnTo>
                  <a:pt x="385" y="536"/>
                </a:lnTo>
                <a:lnTo>
                  <a:pt x="382" y="536"/>
                </a:lnTo>
                <a:lnTo>
                  <a:pt x="382" y="328"/>
                </a:lnTo>
                <a:lnTo>
                  <a:pt x="322" y="328"/>
                </a:lnTo>
                <a:lnTo>
                  <a:pt x="322" y="274"/>
                </a:lnTo>
                <a:lnTo>
                  <a:pt x="264" y="274"/>
                </a:lnTo>
                <a:lnTo>
                  <a:pt x="264" y="233"/>
                </a:lnTo>
                <a:lnTo>
                  <a:pt x="201" y="233"/>
                </a:lnTo>
                <a:lnTo>
                  <a:pt x="201" y="328"/>
                </a:lnTo>
                <a:lnTo>
                  <a:pt x="179" y="328"/>
                </a:lnTo>
                <a:lnTo>
                  <a:pt x="179" y="257"/>
                </a:lnTo>
                <a:lnTo>
                  <a:pt x="181" y="255"/>
                </a:lnTo>
                <a:lnTo>
                  <a:pt x="181" y="252"/>
                </a:lnTo>
                <a:lnTo>
                  <a:pt x="179" y="252"/>
                </a:lnTo>
                <a:lnTo>
                  <a:pt x="179" y="218"/>
                </a:lnTo>
                <a:lnTo>
                  <a:pt x="181" y="213"/>
                </a:lnTo>
                <a:lnTo>
                  <a:pt x="181" y="213"/>
                </a:lnTo>
                <a:lnTo>
                  <a:pt x="179" y="213"/>
                </a:lnTo>
                <a:lnTo>
                  <a:pt x="179" y="177"/>
                </a:lnTo>
                <a:lnTo>
                  <a:pt x="181" y="174"/>
                </a:lnTo>
                <a:lnTo>
                  <a:pt x="181" y="172"/>
                </a:lnTo>
                <a:lnTo>
                  <a:pt x="179" y="172"/>
                </a:lnTo>
                <a:lnTo>
                  <a:pt x="179" y="114"/>
                </a:lnTo>
                <a:lnTo>
                  <a:pt x="116" y="109"/>
                </a:lnTo>
                <a:lnTo>
                  <a:pt x="43" y="104"/>
                </a:lnTo>
                <a:lnTo>
                  <a:pt x="29" y="104"/>
                </a:lnTo>
                <a:lnTo>
                  <a:pt x="29" y="51"/>
                </a:lnTo>
                <a:lnTo>
                  <a:pt x="29" y="31"/>
                </a:lnTo>
                <a:lnTo>
                  <a:pt x="29" y="26"/>
                </a:lnTo>
                <a:lnTo>
                  <a:pt x="29" y="9"/>
                </a:lnTo>
                <a:lnTo>
                  <a:pt x="29" y="4"/>
                </a:lnTo>
                <a:lnTo>
                  <a:pt x="29" y="0"/>
                </a:lnTo>
                <a:lnTo>
                  <a:pt x="0" y="0"/>
                </a:lnTo>
                <a:lnTo>
                  <a:pt x="0" y="1423"/>
                </a:lnTo>
                <a:lnTo>
                  <a:pt x="1276" y="1423"/>
                </a:lnTo>
                <a:lnTo>
                  <a:pt x="1276" y="534"/>
                </a:lnTo>
                <a:close/>
              </a:path>
            </a:pathLst>
          </a:custGeom>
          <a:solidFill>
            <a:schemeClr val="accent6"/>
          </a:solidFill>
          <a:ln>
            <a:noFill/>
          </a:ln>
        </p:spPr>
        <p:txBody>
          <a:bodyPr vert="horz" wrap="square" lIns="91440" tIns="45720" rIns="91440" bIns="45720" numCol="1" anchor="t" anchorCtr="0" compatLnSpc="1">
            <a:prstTxWarp prst="textNoShape">
              <a:avLst/>
            </a:prstTxWarp>
          </a:bodyPr>
          <a:lstStyle/>
          <a:p>
            <a:endParaRPr lang="id-ID"/>
          </a:p>
        </p:txBody>
      </p:sp>
      <p:sp>
        <p:nvSpPr>
          <p:cNvPr id="8" name="Freeform 17"/>
          <p:cNvSpPr>
            <a:spLocks/>
          </p:cNvSpPr>
          <p:nvPr/>
        </p:nvSpPr>
        <p:spPr bwMode="auto">
          <a:xfrm>
            <a:off x="2035441" y="2169741"/>
            <a:ext cx="2035444" cy="2744114"/>
          </a:xfrm>
          <a:custGeom>
            <a:avLst/>
            <a:gdLst>
              <a:gd name="T0" fmla="*/ 1281 w 1281"/>
              <a:gd name="T1" fmla="*/ 1727 h 1727"/>
              <a:gd name="T2" fmla="*/ 1194 w 1281"/>
              <a:gd name="T3" fmla="*/ 304 h 1727"/>
              <a:gd name="T4" fmla="*/ 1194 w 1281"/>
              <a:gd name="T5" fmla="*/ 284 h 1727"/>
              <a:gd name="T6" fmla="*/ 1194 w 1281"/>
              <a:gd name="T7" fmla="*/ 265 h 1727"/>
              <a:gd name="T8" fmla="*/ 1080 w 1281"/>
              <a:gd name="T9" fmla="*/ 126 h 1727"/>
              <a:gd name="T10" fmla="*/ 1073 w 1281"/>
              <a:gd name="T11" fmla="*/ 80 h 1727"/>
              <a:gd name="T12" fmla="*/ 1063 w 1281"/>
              <a:gd name="T13" fmla="*/ 92 h 1727"/>
              <a:gd name="T14" fmla="*/ 1063 w 1281"/>
              <a:gd name="T15" fmla="*/ 12 h 1727"/>
              <a:gd name="T16" fmla="*/ 1061 w 1281"/>
              <a:gd name="T17" fmla="*/ 0 h 1727"/>
              <a:gd name="T18" fmla="*/ 1053 w 1281"/>
              <a:gd name="T19" fmla="*/ 92 h 1727"/>
              <a:gd name="T20" fmla="*/ 1053 w 1281"/>
              <a:gd name="T21" fmla="*/ 12 h 1727"/>
              <a:gd name="T22" fmla="*/ 1048 w 1281"/>
              <a:gd name="T23" fmla="*/ 0 h 1727"/>
              <a:gd name="T24" fmla="*/ 1041 w 1281"/>
              <a:gd name="T25" fmla="*/ 92 h 1727"/>
              <a:gd name="T26" fmla="*/ 1041 w 1281"/>
              <a:gd name="T27" fmla="*/ 12 h 1727"/>
              <a:gd name="T28" fmla="*/ 1039 w 1281"/>
              <a:gd name="T29" fmla="*/ 0 h 1727"/>
              <a:gd name="T30" fmla="*/ 1031 w 1281"/>
              <a:gd name="T31" fmla="*/ 92 h 1727"/>
              <a:gd name="T32" fmla="*/ 1031 w 1281"/>
              <a:gd name="T33" fmla="*/ 12 h 1727"/>
              <a:gd name="T34" fmla="*/ 1027 w 1281"/>
              <a:gd name="T35" fmla="*/ 0 h 1727"/>
              <a:gd name="T36" fmla="*/ 1019 w 1281"/>
              <a:gd name="T37" fmla="*/ 92 h 1727"/>
              <a:gd name="T38" fmla="*/ 1019 w 1281"/>
              <a:gd name="T39" fmla="*/ 12 h 1727"/>
              <a:gd name="T40" fmla="*/ 1017 w 1281"/>
              <a:gd name="T41" fmla="*/ 0 h 1727"/>
              <a:gd name="T42" fmla="*/ 1010 w 1281"/>
              <a:gd name="T43" fmla="*/ 92 h 1727"/>
              <a:gd name="T44" fmla="*/ 1000 w 1281"/>
              <a:gd name="T45" fmla="*/ 80 h 1727"/>
              <a:gd name="T46" fmla="*/ 1000 w 1281"/>
              <a:gd name="T47" fmla="*/ 257 h 1727"/>
              <a:gd name="T48" fmla="*/ 1000 w 1281"/>
              <a:gd name="T49" fmla="*/ 282 h 1727"/>
              <a:gd name="T50" fmla="*/ 971 w 1281"/>
              <a:gd name="T51" fmla="*/ 304 h 1727"/>
              <a:gd name="T52" fmla="*/ 971 w 1281"/>
              <a:gd name="T53" fmla="*/ 313 h 1727"/>
              <a:gd name="T54" fmla="*/ 971 w 1281"/>
              <a:gd name="T55" fmla="*/ 335 h 1727"/>
              <a:gd name="T56" fmla="*/ 971 w 1281"/>
              <a:gd name="T57" fmla="*/ 403 h 1727"/>
              <a:gd name="T58" fmla="*/ 968 w 1281"/>
              <a:gd name="T59" fmla="*/ 413 h 1727"/>
              <a:gd name="T60" fmla="*/ 932 w 1281"/>
              <a:gd name="T61" fmla="*/ 738 h 1727"/>
              <a:gd name="T62" fmla="*/ 814 w 1281"/>
              <a:gd name="T63" fmla="*/ 515 h 1727"/>
              <a:gd name="T64" fmla="*/ 746 w 1281"/>
              <a:gd name="T65" fmla="*/ 386 h 1727"/>
              <a:gd name="T66" fmla="*/ 719 w 1281"/>
              <a:gd name="T67" fmla="*/ 515 h 1727"/>
              <a:gd name="T68" fmla="*/ 608 w 1281"/>
              <a:gd name="T69" fmla="*/ 386 h 1727"/>
              <a:gd name="T70" fmla="*/ 557 w 1281"/>
              <a:gd name="T71" fmla="*/ 515 h 1727"/>
              <a:gd name="T72" fmla="*/ 513 w 1281"/>
              <a:gd name="T73" fmla="*/ 1195 h 1727"/>
              <a:gd name="T74" fmla="*/ 458 w 1281"/>
              <a:gd name="T75" fmla="*/ 1200 h 1727"/>
              <a:gd name="T76" fmla="*/ 431 w 1281"/>
              <a:gd name="T77" fmla="*/ 1202 h 1727"/>
              <a:gd name="T78" fmla="*/ 412 w 1281"/>
              <a:gd name="T79" fmla="*/ 1180 h 1727"/>
              <a:gd name="T80" fmla="*/ 370 w 1281"/>
              <a:gd name="T81" fmla="*/ 1207 h 1727"/>
              <a:gd name="T82" fmla="*/ 370 w 1281"/>
              <a:gd name="T83" fmla="*/ 1210 h 1727"/>
              <a:gd name="T84" fmla="*/ 370 w 1281"/>
              <a:gd name="T85" fmla="*/ 1200 h 1727"/>
              <a:gd name="T86" fmla="*/ 322 w 1281"/>
              <a:gd name="T87" fmla="*/ 1188 h 1727"/>
              <a:gd name="T88" fmla="*/ 312 w 1281"/>
              <a:gd name="T89" fmla="*/ 1202 h 1727"/>
              <a:gd name="T90" fmla="*/ 269 w 1281"/>
              <a:gd name="T91" fmla="*/ 1197 h 1727"/>
              <a:gd name="T92" fmla="*/ 140 w 1281"/>
              <a:gd name="T93" fmla="*/ 1193 h 1727"/>
              <a:gd name="T94" fmla="*/ 0 w 1281"/>
              <a:gd name="T95" fmla="*/ 1210 h 17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81" h="1727">
                <a:moveTo>
                  <a:pt x="0" y="1727"/>
                </a:moveTo>
                <a:lnTo>
                  <a:pt x="1281" y="1727"/>
                </a:lnTo>
                <a:lnTo>
                  <a:pt x="1281" y="304"/>
                </a:lnTo>
                <a:lnTo>
                  <a:pt x="1194" y="304"/>
                </a:lnTo>
                <a:lnTo>
                  <a:pt x="1194" y="291"/>
                </a:lnTo>
                <a:lnTo>
                  <a:pt x="1194" y="284"/>
                </a:lnTo>
                <a:lnTo>
                  <a:pt x="1194" y="267"/>
                </a:lnTo>
                <a:lnTo>
                  <a:pt x="1194" y="265"/>
                </a:lnTo>
                <a:lnTo>
                  <a:pt x="1080" y="265"/>
                </a:lnTo>
                <a:lnTo>
                  <a:pt x="1080" y="126"/>
                </a:lnTo>
                <a:lnTo>
                  <a:pt x="1080" y="80"/>
                </a:lnTo>
                <a:lnTo>
                  <a:pt x="1073" y="80"/>
                </a:lnTo>
                <a:lnTo>
                  <a:pt x="1073" y="92"/>
                </a:lnTo>
                <a:lnTo>
                  <a:pt x="1063" y="92"/>
                </a:lnTo>
                <a:lnTo>
                  <a:pt x="1063" y="12"/>
                </a:lnTo>
                <a:lnTo>
                  <a:pt x="1063" y="12"/>
                </a:lnTo>
                <a:lnTo>
                  <a:pt x="1063" y="0"/>
                </a:lnTo>
                <a:lnTo>
                  <a:pt x="1061" y="0"/>
                </a:lnTo>
                <a:lnTo>
                  <a:pt x="1061" y="92"/>
                </a:lnTo>
                <a:lnTo>
                  <a:pt x="1053" y="92"/>
                </a:lnTo>
                <a:lnTo>
                  <a:pt x="1053" y="12"/>
                </a:lnTo>
                <a:lnTo>
                  <a:pt x="1053" y="12"/>
                </a:lnTo>
                <a:lnTo>
                  <a:pt x="1053" y="0"/>
                </a:lnTo>
                <a:lnTo>
                  <a:pt x="1048" y="0"/>
                </a:lnTo>
                <a:lnTo>
                  <a:pt x="1048" y="92"/>
                </a:lnTo>
                <a:lnTo>
                  <a:pt x="1041" y="92"/>
                </a:lnTo>
                <a:lnTo>
                  <a:pt x="1041" y="12"/>
                </a:lnTo>
                <a:lnTo>
                  <a:pt x="1041" y="12"/>
                </a:lnTo>
                <a:lnTo>
                  <a:pt x="1041" y="0"/>
                </a:lnTo>
                <a:lnTo>
                  <a:pt x="1039" y="0"/>
                </a:lnTo>
                <a:lnTo>
                  <a:pt x="1039" y="92"/>
                </a:lnTo>
                <a:lnTo>
                  <a:pt x="1031" y="92"/>
                </a:lnTo>
                <a:lnTo>
                  <a:pt x="1031" y="12"/>
                </a:lnTo>
                <a:lnTo>
                  <a:pt x="1031" y="12"/>
                </a:lnTo>
                <a:lnTo>
                  <a:pt x="1029" y="0"/>
                </a:lnTo>
                <a:lnTo>
                  <a:pt x="1027" y="0"/>
                </a:lnTo>
                <a:lnTo>
                  <a:pt x="1027" y="92"/>
                </a:lnTo>
                <a:lnTo>
                  <a:pt x="1019" y="92"/>
                </a:lnTo>
                <a:lnTo>
                  <a:pt x="1019" y="12"/>
                </a:lnTo>
                <a:lnTo>
                  <a:pt x="1019" y="12"/>
                </a:lnTo>
                <a:lnTo>
                  <a:pt x="1019" y="0"/>
                </a:lnTo>
                <a:lnTo>
                  <a:pt x="1017" y="0"/>
                </a:lnTo>
                <a:lnTo>
                  <a:pt x="1017" y="92"/>
                </a:lnTo>
                <a:lnTo>
                  <a:pt x="1010" y="92"/>
                </a:lnTo>
                <a:lnTo>
                  <a:pt x="1007" y="80"/>
                </a:lnTo>
                <a:lnTo>
                  <a:pt x="1000" y="80"/>
                </a:lnTo>
                <a:lnTo>
                  <a:pt x="1000" y="253"/>
                </a:lnTo>
                <a:lnTo>
                  <a:pt x="1000" y="257"/>
                </a:lnTo>
                <a:lnTo>
                  <a:pt x="1000" y="274"/>
                </a:lnTo>
                <a:lnTo>
                  <a:pt x="1000" y="282"/>
                </a:lnTo>
                <a:lnTo>
                  <a:pt x="1000" y="304"/>
                </a:lnTo>
                <a:lnTo>
                  <a:pt x="971" y="304"/>
                </a:lnTo>
                <a:lnTo>
                  <a:pt x="971" y="308"/>
                </a:lnTo>
                <a:lnTo>
                  <a:pt x="971" y="313"/>
                </a:lnTo>
                <a:lnTo>
                  <a:pt x="971" y="333"/>
                </a:lnTo>
                <a:lnTo>
                  <a:pt x="971" y="335"/>
                </a:lnTo>
                <a:lnTo>
                  <a:pt x="971" y="355"/>
                </a:lnTo>
                <a:lnTo>
                  <a:pt x="971" y="403"/>
                </a:lnTo>
                <a:lnTo>
                  <a:pt x="968" y="403"/>
                </a:lnTo>
                <a:lnTo>
                  <a:pt x="968" y="413"/>
                </a:lnTo>
                <a:lnTo>
                  <a:pt x="932" y="413"/>
                </a:lnTo>
                <a:lnTo>
                  <a:pt x="932" y="738"/>
                </a:lnTo>
                <a:lnTo>
                  <a:pt x="814" y="738"/>
                </a:lnTo>
                <a:lnTo>
                  <a:pt x="814" y="515"/>
                </a:lnTo>
                <a:lnTo>
                  <a:pt x="746" y="515"/>
                </a:lnTo>
                <a:lnTo>
                  <a:pt x="746" y="386"/>
                </a:lnTo>
                <a:lnTo>
                  <a:pt x="719" y="386"/>
                </a:lnTo>
                <a:lnTo>
                  <a:pt x="719" y="515"/>
                </a:lnTo>
                <a:lnTo>
                  <a:pt x="608" y="515"/>
                </a:lnTo>
                <a:lnTo>
                  <a:pt x="608" y="386"/>
                </a:lnTo>
                <a:lnTo>
                  <a:pt x="557" y="386"/>
                </a:lnTo>
                <a:lnTo>
                  <a:pt x="557" y="515"/>
                </a:lnTo>
                <a:lnTo>
                  <a:pt x="513" y="515"/>
                </a:lnTo>
                <a:lnTo>
                  <a:pt x="513" y="1195"/>
                </a:lnTo>
                <a:lnTo>
                  <a:pt x="475" y="1197"/>
                </a:lnTo>
                <a:lnTo>
                  <a:pt x="458" y="1200"/>
                </a:lnTo>
                <a:lnTo>
                  <a:pt x="433" y="1202"/>
                </a:lnTo>
                <a:lnTo>
                  <a:pt x="431" y="1202"/>
                </a:lnTo>
                <a:lnTo>
                  <a:pt x="421" y="1188"/>
                </a:lnTo>
                <a:lnTo>
                  <a:pt x="412" y="1180"/>
                </a:lnTo>
                <a:lnTo>
                  <a:pt x="373" y="1200"/>
                </a:lnTo>
                <a:lnTo>
                  <a:pt x="370" y="1207"/>
                </a:lnTo>
                <a:lnTo>
                  <a:pt x="370" y="1210"/>
                </a:lnTo>
                <a:lnTo>
                  <a:pt x="370" y="1210"/>
                </a:lnTo>
                <a:lnTo>
                  <a:pt x="370" y="1207"/>
                </a:lnTo>
                <a:lnTo>
                  <a:pt x="370" y="1200"/>
                </a:lnTo>
                <a:lnTo>
                  <a:pt x="332" y="1180"/>
                </a:lnTo>
                <a:lnTo>
                  <a:pt x="322" y="1188"/>
                </a:lnTo>
                <a:lnTo>
                  <a:pt x="312" y="1202"/>
                </a:lnTo>
                <a:lnTo>
                  <a:pt x="312" y="1202"/>
                </a:lnTo>
                <a:lnTo>
                  <a:pt x="288" y="1200"/>
                </a:lnTo>
                <a:lnTo>
                  <a:pt x="269" y="1197"/>
                </a:lnTo>
                <a:lnTo>
                  <a:pt x="160" y="1193"/>
                </a:lnTo>
                <a:lnTo>
                  <a:pt x="140" y="1193"/>
                </a:lnTo>
                <a:lnTo>
                  <a:pt x="22" y="1205"/>
                </a:lnTo>
                <a:lnTo>
                  <a:pt x="0" y="1210"/>
                </a:lnTo>
                <a:lnTo>
                  <a:pt x="0" y="1727"/>
                </a:lnTo>
                <a:close/>
              </a:path>
            </a:pathLst>
          </a:custGeom>
          <a:solidFill>
            <a:schemeClr val="accent6"/>
          </a:solidFill>
          <a:ln>
            <a:noFill/>
          </a:ln>
        </p:spPr>
        <p:txBody>
          <a:bodyPr vert="horz" wrap="square" lIns="91440" tIns="45720" rIns="91440" bIns="45720" numCol="1" anchor="t" anchorCtr="0" compatLnSpc="1">
            <a:prstTxWarp prst="textNoShape">
              <a:avLst/>
            </a:prstTxWarp>
          </a:bodyPr>
          <a:lstStyle/>
          <a:p>
            <a:endParaRPr lang="id-ID"/>
          </a:p>
        </p:txBody>
      </p:sp>
      <p:sp>
        <p:nvSpPr>
          <p:cNvPr id="9" name="Freeform 18"/>
          <p:cNvSpPr>
            <a:spLocks noEditPoints="1"/>
          </p:cNvSpPr>
          <p:nvPr/>
        </p:nvSpPr>
        <p:spPr bwMode="auto">
          <a:xfrm>
            <a:off x="3175" y="2258722"/>
            <a:ext cx="2032266" cy="2655133"/>
          </a:xfrm>
          <a:custGeom>
            <a:avLst/>
            <a:gdLst>
              <a:gd name="T0" fmla="*/ 933 w 1279"/>
              <a:gd name="T1" fmla="*/ 988 h 1671"/>
              <a:gd name="T2" fmla="*/ 712 w 1279"/>
              <a:gd name="T3" fmla="*/ 933 h 1671"/>
              <a:gd name="T4" fmla="*/ 577 w 1279"/>
              <a:gd name="T5" fmla="*/ 1207 h 1671"/>
              <a:gd name="T6" fmla="*/ 303 w 1279"/>
              <a:gd name="T7" fmla="*/ 1336 h 1671"/>
              <a:gd name="T8" fmla="*/ 230 w 1279"/>
              <a:gd name="T9" fmla="*/ 517 h 1671"/>
              <a:gd name="T10" fmla="*/ 194 w 1279"/>
              <a:gd name="T11" fmla="*/ 505 h 1671"/>
              <a:gd name="T12" fmla="*/ 240 w 1279"/>
              <a:gd name="T13" fmla="*/ 498 h 1671"/>
              <a:gd name="T14" fmla="*/ 211 w 1279"/>
              <a:gd name="T15" fmla="*/ 486 h 1671"/>
              <a:gd name="T16" fmla="*/ 194 w 1279"/>
              <a:gd name="T17" fmla="*/ 481 h 1671"/>
              <a:gd name="T18" fmla="*/ 192 w 1279"/>
              <a:gd name="T19" fmla="*/ 432 h 1671"/>
              <a:gd name="T20" fmla="*/ 182 w 1279"/>
              <a:gd name="T21" fmla="*/ 427 h 1671"/>
              <a:gd name="T22" fmla="*/ 204 w 1279"/>
              <a:gd name="T23" fmla="*/ 425 h 1671"/>
              <a:gd name="T24" fmla="*/ 218 w 1279"/>
              <a:gd name="T25" fmla="*/ 425 h 1671"/>
              <a:gd name="T26" fmla="*/ 233 w 1279"/>
              <a:gd name="T27" fmla="*/ 418 h 1671"/>
              <a:gd name="T28" fmla="*/ 235 w 1279"/>
              <a:gd name="T29" fmla="*/ 410 h 1671"/>
              <a:gd name="T30" fmla="*/ 189 w 1279"/>
              <a:gd name="T31" fmla="*/ 398 h 1671"/>
              <a:gd name="T32" fmla="*/ 172 w 1279"/>
              <a:gd name="T33" fmla="*/ 379 h 1671"/>
              <a:gd name="T34" fmla="*/ 168 w 1279"/>
              <a:gd name="T35" fmla="*/ 245 h 1671"/>
              <a:gd name="T36" fmla="*/ 163 w 1279"/>
              <a:gd name="T37" fmla="*/ 146 h 1671"/>
              <a:gd name="T38" fmla="*/ 158 w 1279"/>
              <a:gd name="T39" fmla="*/ 63 h 1671"/>
              <a:gd name="T40" fmla="*/ 155 w 1279"/>
              <a:gd name="T41" fmla="*/ 0 h 1671"/>
              <a:gd name="T42" fmla="*/ 153 w 1279"/>
              <a:gd name="T43" fmla="*/ 0 h 1671"/>
              <a:gd name="T44" fmla="*/ 151 w 1279"/>
              <a:gd name="T45" fmla="*/ 65 h 1671"/>
              <a:gd name="T46" fmla="*/ 148 w 1279"/>
              <a:gd name="T47" fmla="*/ 146 h 1671"/>
              <a:gd name="T48" fmla="*/ 146 w 1279"/>
              <a:gd name="T49" fmla="*/ 374 h 1671"/>
              <a:gd name="T50" fmla="*/ 138 w 1279"/>
              <a:gd name="T51" fmla="*/ 386 h 1671"/>
              <a:gd name="T52" fmla="*/ 117 w 1279"/>
              <a:gd name="T53" fmla="*/ 401 h 1671"/>
              <a:gd name="T54" fmla="*/ 80 w 1279"/>
              <a:gd name="T55" fmla="*/ 418 h 1671"/>
              <a:gd name="T56" fmla="*/ 95 w 1279"/>
              <a:gd name="T57" fmla="*/ 425 h 1671"/>
              <a:gd name="T58" fmla="*/ 112 w 1279"/>
              <a:gd name="T59" fmla="*/ 427 h 1671"/>
              <a:gd name="T60" fmla="*/ 129 w 1279"/>
              <a:gd name="T61" fmla="*/ 427 h 1671"/>
              <a:gd name="T62" fmla="*/ 119 w 1279"/>
              <a:gd name="T63" fmla="*/ 439 h 1671"/>
              <a:gd name="T64" fmla="*/ 121 w 1279"/>
              <a:gd name="T65" fmla="*/ 481 h 1671"/>
              <a:gd name="T66" fmla="*/ 100 w 1279"/>
              <a:gd name="T67" fmla="*/ 486 h 1671"/>
              <a:gd name="T68" fmla="*/ 75 w 1279"/>
              <a:gd name="T69" fmla="*/ 498 h 1671"/>
              <a:gd name="T70" fmla="*/ 121 w 1279"/>
              <a:gd name="T71" fmla="*/ 507 h 1671"/>
              <a:gd name="T72" fmla="*/ 85 w 1279"/>
              <a:gd name="T73" fmla="*/ 520 h 1671"/>
              <a:gd name="T74" fmla="*/ 27 w 1279"/>
              <a:gd name="T75" fmla="*/ 1333 h 1671"/>
              <a:gd name="T76" fmla="*/ 126 w 1279"/>
              <a:gd name="T77" fmla="*/ 498 h 1671"/>
              <a:gd name="T78" fmla="*/ 121 w 1279"/>
              <a:gd name="T79" fmla="*/ 498 h 1671"/>
              <a:gd name="T80" fmla="*/ 121 w 1279"/>
              <a:gd name="T81" fmla="*/ 568 h 1671"/>
              <a:gd name="T82" fmla="*/ 119 w 1279"/>
              <a:gd name="T83" fmla="*/ 656 h 1671"/>
              <a:gd name="T84" fmla="*/ 138 w 1279"/>
              <a:gd name="T85" fmla="*/ 799 h 1671"/>
              <a:gd name="T86" fmla="*/ 124 w 1279"/>
              <a:gd name="T87" fmla="*/ 814 h 1671"/>
              <a:gd name="T88" fmla="*/ 119 w 1279"/>
              <a:gd name="T89" fmla="*/ 937 h 1671"/>
              <a:gd name="T90" fmla="*/ 141 w 1279"/>
              <a:gd name="T91" fmla="*/ 1071 h 1671"/>
              <a:gd name="T92" fmla="*/ 121 w 1279"/>
              <a:gd name="T93" fmla="*/ 1188 h 1671"/>
              <a:gd name="T94" fmla="*/ 129 w 1279"/>
              <a:gd name="T95" fmla="*/ 1185 h 1671"/>
              <a:gd name="T96" fmla="*/ 182 w 1279"/>
              <a:gd name="T97" fmla="*/ 656 h 1671"/>
              <a:gd name="T98" fmla="*/ 189 w 1279"/>
              <a:gd name="T99" fmla="*/ 799 h 1671"/>
              <a:gd name="T100" fmla="*/ 199 w 1279"/>
              <a:gd name="T101" fmla="*/ 937 h 1671"/>
              <a:gd name="T102" fmla="*/ 199 w 1279"/>
              <a:gd name="T103" fmla="*/ 957 h 1671"/>
              <a:gd name="T104" fmla="*/ 184 w 1279"/>
              <a:gd name="T105" fmla="*/ 1185 h 16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279" h="1671">
                <a:moveTo>
                  <a:pt x="1279" y="1154"/>
                </a:moveTo>
                <a:lnTo>
                  <a:pt x="1182" y="1178"/>
                </a:lnTo>
                <a:lnTo>
                  <a:pt x="1100" y="1212"/>
                </a:lnTo>
                <a:lnTo>
                  <a:pt x="1063" y="1212"/>
                </a:lnTo>
                <a:lnTo>
                  <a:pt x="1063" y="988"/>
                </a:lnTo>
                <a:lnTo>
                  <a:pt x="933" y="988"/>
                </a:lnTo>
                <a:lnTo>
                  <a:pt x="933" y="933"/>
                </a:lnTo>
                <a:lnTo>
                  <a:pt x="894" y="933"/>
                </a:lnTo>
                <a:lnTo>
                  <a:pt x="894" y="877"/>
                </a:lnTo>
                <a:lnTo>
                  <a:pt x="783" y="877"/>
                </a:lnTo>
                <a:lnTo>
                  <a:pt x="783" y="933"/>
                </a:lnTo>
                <a:lnTo>
                  <a:pt x="712" y="933"/>
                </a:lnTo>
                <a:lnTo>
                  <a:pt x="712" y="988"/>
                </a:lnTo>
                <a:lnTo>
                  <a:pt x="671" y="988"/>
                </a:lnTo>
                <a:lnTo>
                  <a:pt x="671" y="1183"/>
                </a:lnTo>
                <a:lnTo>
                  <a:pt x="659" y="1180"/>
                </a:lnTo>
                <a:lnTo>
                  <a:pt x="618" y="1188"/>
                </a:lnTo>
                <a:lnTo>
                  <a:pt x="577" y="1207"/>
                </a:lnTo>
                <a:lnTo>
                  <a:pt x="543" y="1236"/>
                </a:lnTo>
                <a:lnTo>
                  <a:pt x="519" y="1275"/>
                </a:lnTo>
                <a:lnTo>
                  <a:pt x="506" y="1309"/>
                </a:lnTo>
                <a:lnTo>
                  <a:pt x="315" y="1309"/>
                </a:lnTo>
                <a:lnTo>
                  <a:pt x="303" y="1314"/>
                </a:lnTo>
                <a:lnTo>
                  <a:pt x="303" y="1336"/>
                </a:lnTo>
                <a:lnTo>
                  <a:pt x="247" y="1333"/>
                </a:lnTo>
                <a:lnTo>
                  <a:pt x="243" y="520"/>
                </a:lnTo>
                <a:lnTo>
                  <a:pt x="243" y="520"/>
                </a:lnTo>
                <a:lnTo>
                  <a:pt x="240" y="520"/>
                </a:lnTo>
                <a:lnTo>
                  <a:pt x="235" y="517"/>
                </a:lnTo>
                <a:lnTo>
                  <a:pt x="230" y="517"/>
                </a:lnTo>
                <a:lnTo>
                  <a:pt x="230" y="517"/>
                </a:lnTo>
                <a:lnTo>
                  <a:pt x="230" y="510"/>
                </a:lnTo>
                <a:lnTo>
                  <a:pt x="228" y="507"/>
                </a:lnTo>
                <a:lnTo>
                  <a:pt x="221" y="507"/>
                </a:lnTo>
                <a:lnTo>
                  <a:pt x="209" y="507"/>
                </a:lnTo>
                <a:lnTo>
                  <a:pt x="194" y="505"/>
                </a:lnTo>
                <a:lnTo>
                  <a:pt x="184" y="505"/>
                </a:lnTo>
                <a:lnTo>
                  <a:pt x="184" y="500"/>
                </a:lnTo>
                <a:lnTo>
                  <a:pt x="192" y="500"/>
                </a:lnTo>
                <a:lnTo>
                  <a:pt x="211" y="500"/>
                </a:lnTo>
                <a:lnTo>
                  <a:pt x="228" y="498"/>
                </a:lnTo>
                <a:lnTo>
                  <a:pt x="240" y="498"/>
                </a:lnTo>
                <a:lnTo>
                  <a:pt x="247" y="495"/>
                </a:lnTo>
                <a:lnTo>
                  <a:pt x="247" y="493"/>
                </a:lnTo>
                <a:lnTo>
                  <a:pt x="247" y="490"/>
                </a:lnTo>
                <a:lnTo>
                  <a:pt x="240" y="488"/>
                </a:lnTo>
                <a:lnTo>
                  <a:pt x="228" y="486"/>
                </a:lnTo>
                <a:lnTo>
                  <a:pt x="211" y="486"/>
                </a:lnTo>
                <a:lnTo>
                  <a:pt x="189" y="486"/>
                </a:lnTo>
                <a:lnTo>
                  <a:pt x="184" y="486"/>
                </a:lnTo>
                <a:lnTo>
                  <a:pt x="184" y="483"/>
                </a:lnTo>
                <a:lnTo>
                  <a:pt x="187" y="483"/>
                </a:lnTo>
                <a:lnTo>
                  <a:pt x="192" y="481"/>
                </a:lnTo>
                <a:lnTo>
                  <a:pt x="194" y="481"/>
                </a:lnTo>
                <a:lnTo>
                  <a:pt x="194" y="478"/>
                </a:lnTo>
                <a:lnTo>
                  <a:pt x="194" y="469"/>
                </a:lnTo>
                <a:lnTo>
                  <a:pt x="192" y="459"/>
                </a:lnTo>
                <a:lnTo>
                  <a:pt x="192" y="449"/>
                </a:lnTo>
                <a:lnTo>
                  <a:pt x="192" y="439"/>
                </a:lnTo>
                <a:lnTo>
                  <a:pt x="192" y="432"/>
                </a:lnTo>
                <a:lnTo>
                  <a:pt x="192" y="430"/>
                </a:lnTo>
                <a:lnTo>
                  <a:pt x="192" y="430"/>
                </a:lnTo>
                <a:lnTo>
                  <a:pt x="189" y="427"/>
                </a:lnTo>
                <a:lnTo>
                  <a:pt x="184" y="427"/>
                </a:lnTo>
                <a:lnTo>
                  <a:pt x="182" y="427"/>
                </a:lnTo>
                <a:lnTo>
                  <a:pt x="182" y="427"/>
                </a:lnTo>
                <a:lnTo>
                  <a:pt x="184" y="427"/>
                </a:lnTo>
                <a:lnTo>
                  <a:pt x="189" y="427"/>
                </a:lnTo>
                <a:lnTo>
                  <a:pt x="189" y="427"/>
                </a:lnTo>
                <a:lnTo>
                  <a:pt x="199" y="427"/>
                </a:lnTo>
                <a:lnTo>
                  <a:pt x="204" y="425"/>
                </a:lnTo>
                <a:lnTo>
                  <a:pt x="204" y="425"/>
                </a:lnTo>
                <a:lnTo>
                  <a:pt x="204" y="425"/>
                </a:lnTo>
                <a:lnTo>
                  <a:pt x="209" y="425"/>
                </a:lnTo>
                <a:lnTo>
                  <a:pt x="214" y="425"/>
                </a:lnTo>
                <a:lnTo>
                  <a:pt x="214" y="425"/>
                </a:lnTo>
                <a:lnTo>
                  <a:pt x="214" y="425"/>
                </a:lnTo>
                <a:lnTo>
                  <a:pt x="218" y="425"/>
                </a:lnTo>
                <a:lnTo>
                  <a:pt x="221" y="422"/>
                </a:lnTo>
                <a:lnTo>
                  <a:pt x="221" y="422"/>
                </a:lnTo>
                <a:lnTo>
                  <a:pt x="221" y="422"/>
                </a:lnTo>
                <a:lnTo>
                  <a:pt x="221" y="422"/>
                </a:lnTo>
                <a:lnTo>
                  <a:pt x="230" y="418"/>
                </a:lnTo>
                <a:lnTo>
                  <a:pt x="233" y="418"/>
                </a:lnTo>
                <a:lnTo>
                  <a:pt x="233" y="418"/>
                </a:lnTo>
                <a:lnTo>
                  <a:pt x="235" y="415"/>
                </a:lnTo>
                <a:lnTo>
                  <a:pt x="235" y="413"/>
                </a:lnTo>
                <a:lnTo>
                  <a:pt x="235" y="413"/>
                </a:lnTo>
                <a:lnTo>
                  <a:pt x="235" y="410"/>
                </a:lnTo>
                <a:lnTo>
                  <a:pt x="235" y="410"/>
                </a:lnTo>
                <a:lnTo>
                  <a:pt x="221" y="403"/>
                </a:lnTo>
                <a:lnTo>
                  <a:pt x="218" y="403"/>
                </a:lnTo>
                <a:lnTo>
                  <a:pt x="209" y="401"/>
                </a:lnTo>
                <a:lnTo>
                  <a:pt x="197" y="401"/>
                </a:lnTo>
                <a:lnTo>
                  <a:pt x="194" y="401"/>
                </a:lnTo>
                <a:lnTo>
                  <a:pt x="189" y="398"/>
                </a:lnTo>
                <a:lnTo>
                  <a:pt x="187" y="396"/>
                </a:lnTo>
                <a:lnTo>
                  <a:pt x="182" y="393"/>
                </a:lnTo>
                <a:lnTo>
                  <a:pt x="180" y="391"/>
                </a:lnTo>
                <a:lnTo>
                  <a:pt x="177" y="386"/>
                </a:lnTo>
                <a:lnTo>
                  <a:pt x="175" y="381"/>
                </a:lnTo>
                <a:lnTo>
                  <a:pt x="172" y="379"/>
                </a:lnTo>
                <a:lnTo>
                  <a:pt x="170" y="374"/>
                </a:lnTo>
                <a:lnTo>
                  <a:pt x="170" y="374"/>
                </a:lnTo>
                <a:lnTo>
                  <a:pt x="168" y="374"/>
                </a:lnTo>
                <a:lnTo>
                  <a:pt x="168" y="374"/>
                </a:lnTo>
                <a:lnTo>
                  <a:pt x="168" y="245"/>
                </a:lnTo>
                <a:lnTo>
                  <a:pt x="168" y="245"/>
                </a:lnTo>
                <a:lnTo>
                  <a:pt x="165" y="243"/>
                </a:lnTo>
                <a:lnTo>
                  <a:pt x="165" y="243"/>
                </a:lnTo>
                <a:lnTo>
                  <a:pt x="163" y="243"/>
                </a:lnTo>
                <a:lnTo>
                  <a:pt x="163" y="146"/>
                </a:lnTo>
                <a:lnTo>
                  <a:pt x="163" y="146"/>
                </a:lnTo>
                <a:lnTo>
                  <a:pt x="163" y="146"/>
                </a:lnTo>
                <a:lnTo>
                  <a:pt x="160" y="146"/>
                </a:lnTo>
                <a:lnTo>
                  <a:pt x="160" y="146"/>
                </a:lnTo>
                <a:lnTo>
                  <a:pt x="160" y="65"/>
                </a:lnTo>
                <a:lnTo>
                  <a:pt x="160" y="63"/>
                </a:lnTo>
                <a:lnTo>
                  <a:pt x="158" y="63"/>
                </a:lnTo>
                <a:lnTo>
                  <a:pt x="158" y="63"/>
                </a:lnTo>
                <a:lnTo>
                  <a:pt x="158" y="63"/>
                </a:lnTo>
                <a:lnTo>
                  <a:pt x="158" y="0"/>
                </a:lnTo>
                <a:lnTo>
                  <a:pt x="158" y="0"/>
                </a:lnTo>
                <a:lnTo>
                  <a:pt x="155" y="0"/>
                </a:lnTo>
                <a:lnTo>
                  <a:pt x="155" y="0"/>
                </a:lnTo>
                <a:lnTo>
                  <a:pt x="155" y="0"/>
                </a:lnTo>
                <a:lnTo>
                  <a:pt x="155" y="0"/>
                </a:lnTo>
                <a:lnTo>
                  <a:pt x="155" y="0"/>
                </a:lnTo>
                <a:lnTo>
                  <a:pt x="155" y="0"/>
                </a:lnTo>
                <a:lnTo>
                  <a:pt x="153" y="0"/>
                </a:lnTo>
                <a:lnTo>
                  <a:pt x="153" y="0"/>
                </a:lnTo>
                <a:lnTo>
                  <a:pt x="153" y="0"/>
                </a:lnTo>
                <a:lnTo>
                  <a:pt x="153" y="2"/>
                </a:lnTo>
                <a:lnTo>
                  <a:pt x="153" y="2"/>
                </a:lnTo>
                <a:lnTo>
                  <a:pt x="153" y="63"/>
                </a:lnTo>
                <a:lnTo>
                  <a:pt x="153" y="63"/>
                </a:lnTo>
                <a:lnTo>
                  <a:pt x="153" y="63"/>
                </a:lnTo>
                <a:lnTo>
                  <a:pt x="151" y="65"/>
                </a:lnTo>
                <a:lnTo>
                  <a:pt x="151" y="65"/>
                </a:lnTo>
                <a:lnTo>
                  <a:pt x="151" y="65"/>
                </a:lnTo>
                <a:lnTo>
                  <a:pt x="151" y="146"/>
                </a:lnTo>
                <a:lnTo>
                  <a:pt x="151" y="146"/>
                </a:lnTo>
                <a:lnTo>
                  <a:pt x="151" y="146"/>
                </a:lnTo>
                <a:lnTo>
                  <a:pt x="148" y="146"/>
                </a:lnTo>
                <a:lnTo>
                  <a:pt x="148" y="146"/>
                </a:lnTo>
                <a:lnTo>
                  <a:pt x="148" y="243"/>
                </a:lnTo>
                <a:lnTo>
                  <a:pt x="148" y="243"/>
                </a:lnTo>
                <a:lnTo>
                  <a:pt x="146" y="245"/>
                </a:lnTo>
                <a:lnTo>
                  <a:pt x="146" y="245"/>
                </a:lnTo>
                <a:lnTo>
                  <a:pt x="146" y="374"/>
                </a:lnTo>
                <a:lnTo>
                  <a:pt x="146" y="374"/>
                </a:lnTo>
                <a:lnTo>
                  <a:pt x="143" y="374"/>
                </a:lnTo>
                <a:lnTo>
                  <a:pt x="143" y="374"/>
                </a:lnTo>
                <a:lnTo>
                  <a:pt x="141" y="379"/>
                </a:lnTo>
                <a:lnTo>
                  <a:pt x="141" y="384"/>
                </a:lnTo>
                <a:lnTo>
                  <a:pt x="138" y="386"/>
                </a:lnTo>
                <a:lnTo>
                  <a:pt x="136" y="391"/>
                </a:lnTo>
                <a:lnTo>
                  <a:pt x="131" y="393"/>
                </a:lnTo>
                <a:lnTo>
                  <a:pt x="129" y="396"/>
                </a:lnTo>
                <a:lnTo>
                  <a:pt x="124" y="398"/>
                </a:lnTo>
                <a:lnTo>
                  <a:pt x="121" y="401"/>
                </a:lnTo>
                <a:lnTo>
                  <a:pt x="117" y="401"/>
                </a:lnTo>
                <a:lnTo>
                  <a:pt x="105" y="403"/>
                </a:lnTo>
                <a:lnTo>
                  <a:pt x="97" y="403"/>
                </a:lnTo>
                <a:lnTo>
                  <a:pt x="92" y="405"/>
                </a:lnTo>
                <a:lnTo>
                  <a:pt x="80" y="413"/>
                </a:lnTo>
                <a:lnTo>
                  <a:pt x="80" y="413"/>
                </a:lnTo>
                <a:lnTo>
                  <a:pt x="80" y="418"/>
                </a:lnTo>
                <a:lnTo>
                  <a:pt x="80" y="418"/>
                </a:lnTo>
                <a:lnTo>
                  <a:pt x="80" y="420"/>
                </a:lnTo>
                <a:lnTo>
                  <a:pt x="85" y="420"/>
                </a:lnTo>
                <a:lnTo>
                  <a:pt x="95" y="425"/>
                </a:lnTo>
                <a:lnTo>
                  <a:pt x="95" y="425"/>
                </a:lnTo>
                <a:lnTo>
                  <a:pt x="95" y="425"/>
                </a:lnTo>
                <a:lnTo>
                  <a:pt x="100" y="425"/>
                </a:lnTo>
                <a:lnTo>
                  <a:pt x="100" y="425"/>
                </a:lnTo>
                <a:lnTo>
                  <a:pt x="102" y="425"/>
                </a:lnTo>
                <a:lnTo>
                  <a:pt x="102" y="425"/>
                </a:lnTo>
                <a:lnTo>
                  <a:pt x="107" y="427"/>
                </a:lnTo>
                <a:lnTo>
                  <a:pt x="112" y="427"/>
                </a:lnTo>
                <a:lnTo>
                  <a:pt x="112" y="427"/>
                </a:lnTo>
                <a:lnTo>
                  <a:pt x="119" y="427"/>
                </a:lnTo>
                <a:lnTo>
                  <a:pt x="124" y="427"/>
                </a:lnTo>
                <a:lnTo>
                  <a:pt x="124" y="427"/>
                </a:lnTo>
                <a:lnTo>
                  <a:pt x="124" y="427"/>
                </a:lnTo>
                <a:lnTo>
                  <a:pt x="129" y="427"/>
                </a:lnTo>
                <a:lnTo>
                  <a:pt x="129" y="427"/>
                </a:lnTo>
                <a:lnTo>
                  <a:pt x="126" y="430"/>
                </a:lnTo>
                <a:lnTo>
                  <a:pt x="121" y="430"/>
                </a:lnTo>
                <a:lnTo>
                  <a:pt x="119" y="430"/>
                </a:lnTo>
                <a:lnTo>
                  <a:pt x="119" y="432"/>
                </a:lnTo>
                <a:lnTo>
                  <a:pt x="119" y="439"/>
                </a:lnTo>
                <a:lnTo>
                  <a:pt x="119" y="449"/>
                </a:lnTo>
                <a:lnTo>
                  <a:pt x="119" y="459"/>
                </a:lnTo>
                <a:lnTo>
                  <a:pt x="119" y="469"/>
                </a:lnTo>
                <a:lnTo>
                  <a:pt x="119" y="478"/>
                </a:lnTo>
                <a:lnTo>
                  <a:pt x="119" y="481"/>
                </a:lnTo>
                <a:lnTo>
                  <a:pt x="121" y="481"/>
                </a:lnTo>
                <a:lnTo>
                  <a:pt x="124" y="483"/>
                </a:lnTo>
                <a:lnTo>
                  <a:pt x="129" y="483"/>
                </a:lnTo>
                <a:lnTo>
                  <a:pt x="131" y="483"/>
                </a:lnTo>
                <a:lnTo>
                  <a:pt x="131" y="486"/>
                </a:lnTo>
                <a:lnTo>
                  <a:pt x="119" y="486"/>
                </a:lnTo>
                <a:lnTo>
                  <a:pt x="100" y="486"/>
                </a:lnTo>
                <a:lnTo>
                  <a:pt x="83" y="488"/>
                </a:lnTo>
                <a:lnTo>
                  <a:pt x="73" y="490"/>
                </a:lnTo>
                <a:lnTo>
                  <a:pt x="66" y="490"/>
                </a:lnTo>
                <a:lnTo>
                  <a:pt x="66" y="495"/>
                </a:lnTo>
                <a:lnTo>
                  <a:pt x="68" y="498"/>
                </a:lnTo>
                <a:lnTo>
                  <a:pt x="75" y="498"/>
                </a:lnTo>
                <a:lnTo>
                  <a:pt x="88" y="500"/>
                </a:lnTo>
                <a:lnTo>
                  <a:pt x="105" y="500"/>
                </a:lnTo>
                <a:lnTo>
                  <a:pt x="124" y="500"/>
                </a:lnTo>
                <a:lnTo>
                  <a:pt x="131" y="500"/>
                </a:lnTo>
                <a:lnTo>
                  <a:pt x="131" y="505"/>
                </a:lnTo>
                <a:lnTo>
                  <a:pt x="121" y="507"/>
                </a:lnTo>
                <a:lnTo>
                  <a:pt x="107" y="507"/>
                </a:lnTo>
                <a:lnTo>
                  <a:pt x="95" y="507"/>
                </a:lnTo>
                <a:lnTo>
                  <a:pt x="88" y="510"/>
                </a:lnTo>
                <a:lnTo>
                  <a:pt x="88" y="510"/>
                </a:lnTo>
                <a:lnTo>
                  <a:pt x="88" y="520"/>
                </a:lnTo>
                <a:lnTo>
                  <a:pt x="85" y="520"/>
                </a:lnTo>
                <a:lnTo>
                  <a:pt x="80" y="520"/>
                </a:lnTo>
                <a:lnTo>
                  <a:pt x="75" y="520"/>
                </a:lnTo>
                <a:lnTo>
                  <a:pt x="73" y="520"/>
                </a:lnTo>
                <a:lnTo>
                  <a:pt x="73" y="520"/>
                </a:lnTo>
                <a:lnTo>
                  <a:pt x="78" y="1331"/>
                </a:lnTo>
                <a:lnTo>
                  <a:pt x="27" y="1333"/>
                </a:lnTo>
                <a:lnTo>
                  <a:pt x="27" y="1350"/>
                </a:lnTo>
                <a:lnTo>
                  <a:pt x="0" y="1353"/>
                </a:lnTo>
                <a:lnTo>
                  <a:pt x="0" y="1671"/>
                </a:lnTo>
                <a:lnTo>
                  <a:pt x="1279" y="1671"/>
                </a:lnTo>
                <a:lnTo>
                  <a:pt x="1279" y="1154"/>
                </a:lnTo>
                <a:close/>
                <a:moveTo>
                  <a:pt x="126" y="498"/>
                </a:moveTo>
                <a:lnTo>
                  <a:pt x="124" y="498"/>
                </a:lnTo>
                <a:lnTo>
                  <a:pt x="121" y="498"/>
                </a:lnTo>
                <a:lnTo>
                  <a:pt x="119" y="498"/>
                </a:lnTo>
                <a:lnTo>
                  <a:pt x="117" y="498"/>
                </a:lnTo>
                <a:lnTo>
                  <a:pt x="119" y="498"/>
                </a:lnTo>
                <a:lnTo>
                  <a:pt x="121" y="498"/>
                </a:lnTo>
                <a:lnTo>
                  <a:pt x="124" y="498"/>
                </a:lnTo>
                <a:lnTo>
                  <a:pt x="126" y="498"/>
                </a:lnTo>
                <a:lnTo>
                  <a:pt x="131" y="498"/>
                </a:lnTo>
                <a:lnTo>
                  <a:pt x="126" y="498"/>
                </a:lnTo>
                <a:close/>
                <a:moveTo>
                  <a:pt x="117" y="568"/>
                </a:moveTo>
                <a:lnTo>
                  <a:pt x="121" y="568"/>
                </a:lnTo>
                <a:lnTo>
                  <a:pt x="131" y="568"/>
                </a:lnTo>
                <a:lnTo>
                  <a:pt x="138" y="568"/>
                </a:lnTo>
                <a:lnTo>
                  <a:pt x="138" y="656"/>
                </a:lnTo>
                <a:lnTo>
                  <a:pt x="134" y="656"/>
                </a:lnTo>
                <a:lnTo>
                  <a:pt x="124" y="656"/>
                </a:lnTo>
                <a:lnTo>
                  <a:pt x="119" y="656"/>
                </a:lnTo>
                <a:lnTo>
                  <a:pt x="117" y="568"/>
                </a:lnTo>
                <a:close/>
                <a:moveTo>
                  <a:pt x="119" y="673"/>
                </a:moveTo>
                <a:lnTo>
                  <a:pt x="126" y="673"/>
                </a:lnTo>
                <a:lnTo>
                  <a:pt x="136" y="673"/>
                </a:lnTo>
                <a:lnTo>
                  <a:pt x="138" y="673"/>
                </a:lnTo>
                <a:lnTo>
                  <a:pt x="138" y="799"/>
                </a:lnTo>
                <a:lnTo>
                  <a:pt x="136" y="799"/>
                </a:lnTo>
                <a:lnTo>
                  <a:pt x="126" y="799"/>
                </a:lnTo>
                <a:lnTo>
                  <a:pt x="119" y="799"/>
                </a:lnTo>
                <a:lnTo>
                  <a:pt x="119" y="673"/>
                </a:lnTo>
                <a:close/>
                <a:moveTo>
                  <a:pt x="119" y="814"/>
                </a:moveTo>
                <a:lnTo>
                  <a:pt x="124" y="814"/>
                </a:lnTo>
                <a:lnTo>
                  <a:pt x="136" y="814"/>
                </a:lnTo>
                <a:lnTo>
                  <a:pt x="141" y="814"/>
                </a:lnTo>
                <a:lnTo>
                  <a:pt x="141" y="937"/>
                </a:lnTo>
                <a:lnTo>
                  <a:pt x="136" y="937"/>
                </a:lnTo>
                <a:lnTo>
                  <a:pt x="129" y="937"/>
                </a:lnTo>
                <a:lnTo>
                  <a:pt x="119" y="937"/>
                </a:lnTo>
                <a:lnTo>
                  <a:pt x="119" y="814"/>
                </a:lnTo>
                <a:close/>
                <a:moveTo>
                  <a:pt x="119" y="957"/>
                </a:moveTo>
                <a:lnTo>
                  <a:pt x="126" y="957"/>
                </a:lnTo>
                <a:lnTo>
                  <a:pt x="136" y="957"/>
                </a:lnTo>
                <a:lnTo>
                  <a:pt x="141" y="957"/>
                </a:lnTo>
                <a:lnTo>
                  <a:pt x="141" y="1071"/>
                </a:lnTo>
                <a:lnTo>
                  <a:pt x="138" y="1071"/>
                </a:lnTo>
                <a:lnTo>
                  <a:pt x="129" y="1071"/>
                </a:lnTo>
                <a:lnTo>
                  <a:pt x="121" y="1073"/>
                </a:lnTo>
                <a:lnTo>
                  <a:pt x="119" y="957"/>
                </a:lnTo>
                <a:close/>
                <a:moveTo>
                  <a:pt x="129" y="1185"/>
                </a:moveTo>
                <a:lnTo>
                  <a:pt x="121" y="1188"/>
                </a:lnTo>
                <a:lnTo>
                  <a:pt x="121" y="1095"/>
                </a:lnTo>
                <a:lnTo>
                  <a:pt x="126" y="1095"/>
                </a:lnTo>
                <a:lnTo>
                  <a:pt x="136" y="1095"/>
                </a:lnTo>
                <a:lnTo>
                  <a:pt x="141" y="1095"/>
                </a:lnTo>
                <a:lnTo>
                  <a:pt x="141" y="1185"/>
                </a:lnTo>
                <a:lnTo>
                  <a:pt x="129" y="1185"/>
                </a:lnTo>
                <a:close/>
                <a:moveTo>
                  <a:pt x="182" y="568"/>
                </a:moveTo>
                <a:lnTo>
                  <a:pt x="189" y="568"/>
                </a:lnTo>
                <a:lnTo>
                  <a:pt x="197" y="568"/>
                </a:lnTo>
                <a:lnTo>
                  <a:pt x="197" y="656"/>
                </a:lnTo>
                <a:lnTo>
                  <a:pt x="194" y="656"/>
                </a:lnTo>
                <a:lnTo>
                  <a:pt x="182" y="656"/>
                </a:lnTo>
                <a:lnTo>
                  <a:pt x="182" y="568"/>
                </a:lnTo>
                <a:close/>
                <a:moveTo>
                  <a:pt x="182" y="673"/>
                </a:moveTo>
                <a:lnTo>
                  <a:pt x="189" y="673"/>
                </a:lnTo>
                <a:lnTo>
                  <a:pt x="197" y="673"/>
                </a:lnTo>
                <a:lnTo>
                  <a:pt x="199" y="799"/>
                </a:lnTo>
                <a:lnTo>
                  <a:pt x="189" y="799"/>
                </a:lnTo>
                <a:lnTo>
                  <a:pt x="182" y="799"/>
                </a:lnTo>
                <a:lnTo>
                  <a:pt x="182" y="673"/>
                </a:lnTo>
                <a:close/>
                <a:moveTo>
                  <a:pt x="182" y="814"/>
                </a:moveTo>
                <a:lnTo>
                  <a:pt x="194" y="814"/>
                </a:lnTo>
                <a:lnTo>
                  <a:pt x="199" y="814"/>
                </a:lnTo>
                <a:lnTo>
                  <a:pt x="199" y="937"/>
                </a:lnTo>
                <a:lnTo>
                  <a:pt x="192" y="937"/>
                </a:lnTo>
                <a:lnTo>
                  <a:pt x="184" y="937"/>
                </a:lnTo>
                <a:lnTo>
                  <a:pt x="182" y="814"/>
                </a:lnTo>
                <a:close/>
                <a:moveTo>
                  <a:pt x="184" y="957"/>
                </a:moveTo>
                <a:lnTo>
                  <a:pt x="194" y="957"/>
                </a:lnTo>
                <a:lnTo>
                  <a:pt x="199" y="957"/>
                </a:lnTo>
                <a:lnTo>
                  <a:pt x="199" y="1071"/>
                </a:lnTo>
                <a:lnTo>
                  <a:pt x="192" y="1071"/>
                </a:lnTo>
                <a:lnTo>
                  <a:pt x="184" y="1071"/>
                </a:lnTo>
                <a:lnTo>
                  <a:pt x="184" y="957"/>
                </a:lnTo>
                <a:close/>
                <a:moveTo>
                  <a:pt x="199" y="1188"/>
                </a:moveTo>
                <a:lnTo>
                  <a:pt x="184" y="1185"/>
                </a:lnTo>
                <a:lnTo>
                  <a:pt x="184" y="1098"/>
                </a:lnTo>
                <a:lnTo>
                  <a:pt x="197" y="1098"/>
                </a:lnTo>
                <a:lnTo>
                  <a:pt x="199" y="1098"/>
                </a:lnTo>
                <a:lnTo>
                  <a:pt x="201" y="1188"/>
                </a:lnTo>
                <a:lnTo>
                  <a:pt x="199" y="1188"/>
                </a:lnTo>
                <a:close/>
              </a:path>
            </a:pathLst>
          </a:custGeom>
          <a:solidFill>
            <a:schemeClr val="accent6"/>
          </a:solidFill>
          <a:ln>
            <a:noFill/>
          </a:ln>
        </p:spPr>
        <p:txBody>
          <a:bodyPr vert="horz" wrap="square" lIns="91440" tIns="45720" rIns="91440" bIns="45720" numCol="1" anchor="t" anchorCtr="0" compatLnSpc="1">
            <a:prstTxWarp prst="textNoShape">
              <a:avLst/>
            </a:prstTxWarp>
          </a:bodyPr>
          <a:lstStyle/>
          <a:p>
            <a:endParaRPr lang="id-ID"/>
          </a:p>
        </p:txBody>
      </p:sp>
      <p:sp>
        <p:nvSpPr>
          <p:cNvPr id="10" name="Rectangle 9"/>
          <p:cNvSpPr/>
          <p:nvPr/>
        </p:nvSpPr>
        <p:spPr>
          <a:xfrm>
            <a:off x="0" y="4913855"/>
            <a:ext cx="12192000" cy="194414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cxnSp>
        <p:nvCxnSpPr>
          <p:cNvPr id="25" name="Straight Connector 24"/>
          <p:cNvCxnSpPr/>
          <p:nvPr/>
        </p:nvCxnSpPr>
        <p:spPr>
          <a:xfrm>
            <a:off x="7979275" y="4931231"/>
            <a:ext cx="0" cy="1562907"/>
          </a:xfrm>
          <a:prstGeom prst="line">
            <a:avLst/>
          </a:prstGeom>
          <a:ln>
            <a:solidFill>
              <a:schemeClr val="bg1"/>
            </a:solidFill>
            <a:prstDash val="dash"/>
            <a:headEnd type="oval"/>
            <a:tailEnd type="oval"/>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8227114" y="5034600"/>
            <a:ext cx="3453440" cy="338554"/>
          </a:xfrm>
          <a:prstGeom prst="rect">
            <a:avLst/>
          </a:prstGeom>
          <a:noFill/>
        </p:spPr>
        <p:txBody>
          <a:bodyPr wrap="square" rtlCol="0">
            <a:spAutoFit/>
          </a:bodyPr>
          <a:lstStyle/>
          <a:p>
            <a:r>
              <a:rPr lang="nb-NO" sz="1600" b="1" dirty="0">
                <a:solidFill>
                  <a:schemeClr val="bg1"/>
                </a:solidFill>
              </a:rPr>
              <a:t>Milos Novovic</a:t>
            </a:r>
            <a:endParaRPr lang="id-ID" sz="1600" b="1" dirty="0">
              <a:solidFill>
                <a:schemeClr val="bg1"/>
              </a:solidFill>
            </a:endParaRPr>
          </a:p>
        </p:txBody>
      </p:sp>
      <p:grpSp>
        <p:nvGrpSpPr>
          <p:cNvPr id="64" name="Group 63"/>
          <p:cNvGrpSpPr/>
          <p:nvPr/>
        </p:nvGrpSpPr>
        <p:grpSpPr>
          <a:xfrm>
            <a:off x="8335983" y="5689358"/>
            <a:ext cx="3515775" cy="327652"/>
            <a:chOff x="8335983" y="5689358"/>
            <a:chExt cx="3515775" cy="327652"/>
          </a:xfrm>
        </p:grpSpPr>
        <p:sp>
          <p:nvSpPr>
            <p:cNvPr id="34" name="TextBox 33"/>
            <p:cNvSpPr txBox="1"/>
            <p:nvPr/>
          </p:nvSpPr>
          <p:spPr>
            <a:xfrm>
              <a:off x="8637080" y="5689358"/>
              <a:ext cx="3214678" cy="307777"/>
            </a:xfrm>
            <a:prstGeom prst="rect">
              <a:avLst/>
            </a:prstGeom>
            <a:noFill/>
          </p:spPr>
          <p:txBody>
            <a:bodyPr wrap="square" rtlCol="0">
              <a:spAutoFit/>
            </a:bodyPr>
            <a:lstStyle/>
            <a:p>
              <a:r>
                <a:rPr lang="nb-NO" sz="1400" dirty="0">
                  <a:solidFill>
                    <a:schemeClr val="bg1"/>
                  </a:solidFill>
                </a:rPr>
                <a:t>milos.novovic@bi.no</a:t>
              </a:r>
              <a:endParaRPr lang="id-ID" sz="1400" dirty="0">
                <a:solidFill>
                  <a:schemeClr val="bg1"/>
                </a:solidFill>
              </a:endParaRPr>
            </a:p>
          </p:txBody>
        </p:sp>
        <p:grpSp>
          <p:nvGrpSpPr>
            <p:cNvPr id="38" name="Group 37"/>
            <p:cNvGrpSpPr/>
            <p:nvPr/>
          </p:nvGrpSpPr>
          <p:grpSpPr>
            <a:xfrm>
              <a:off x="8335983" y="5733107"/>
              <a:ext cx="283903" cy="283903"/>
              <a:chOff x="4752975" y="3660776"/>
              <a:chExt cx="365125" cy="365125"/>
            </a:xfrm>
            <a:solidFill>
              <a:schemeClr val="bg1"/>
            </a:solidFill>
          </p:grpSpPr>
          <p:sp>
            <p:nvSpPr>
              <p:cNvPr id="36" name="Freeform 51"/>
              <p:cNvSpPr>
                <a:spLocks/>
              </p:cNvSpPr>
              <p:nvPr/>
            </p:nvSpPr>
            <p:spPr bwMode="auto">
              <a:xfrm>
                <a:off x="4843463" y="3775076"/>
                <a:ext cx="274637" cy="250825"/>
              </a:xfrm>
              <a:custGeom>
                <a:avLst/>
                <a:gdLst>
                  <a:gd name="T0" fmla="*/ 40 w 48"/>
                  <a:gd name="T1" fmla="*/ 0 h 44"/>
                  <a:gd name="T2" fmla="*/ 36 w 48"/>
                  <a:gd name="T3" fmla="*/ 0 h 44"/>
                  <a:gd name="T4" fmla="*/ 36 w 48"/>
                  <a:gd name="T5" fmla="*/ 4 h 44"/>
                  <a:gd name="T6" fmla="*/ 24 w 48"/>
                  <a:gd name="T7" fmla="*/ 16 h 44"/>
                  <a:gd name="T8" fmla="*/ 6 w 48"/>
                  <a:gd name="T9" fmla="*/ 16 h 44"/>
                  <a:gd name="T10" fmla="*/ 0 w 48"/>
                  <a:gd name="T11" fmla="*/ 22 h 44"/>
                  <a:gd name="T12" fmla="*/ 0 w 48"/>
                  <a:gd name="T13" fmla="*/ 24 h 44"/>
                  <a:gd name="T14" fmla="*/ 8 w 48"/>
                  <a:gd name="T15" fmla="*/ 32 h 44"/>
                  <a:gd name="T16" fmla="*/ 28 w 48"/>
                  <a:gd name="T17" fmla="*/ 32 h 44"/>
                  <a:gd name="T18" fmla="*/ 40 w 48"/>
                  <a:gd name="T19" fmla="*/ 44 h 44"/>
                  <a:gd name="T20" fmla="*/ 40 w 48"/>
                  <a:gd name="T21" fmla="*/ 32 h 44"/>
                  <a:gd name="T22" fmla="*/ 48 w 48"/>
                  <a:gd name="T23" fmla="*/ 24 h 44"/>
                  <a:gd name="T24" fmla="*/ 48 w 48"/>
                  <a:gd name="T25" fmla="*/ 8 h 44"/>
                  <a:gd name="T26" fmla="*/ 40 w 48"/>
                  <a:gd name="T27"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44">
                    <a:moveTo>
                      <a:pt x="40" y="0"/>
                    </a:moveTo>
                    <a:cubicBezTo>
                      <a:pt x="36" y="0"/>
                      <a:pt x="36" y="0"/>
                      <a:pt x="36" y="0"/>
                    </a:cubicBezTo>
                    <a:cubicBezTo>
                      <a:pt x="36" y="4"/>
                      <a:pt x="36" y="4"/>
                      <a:pt x="36" y="4"/>
                    </a:cubicBezTo>
                    <a:cubicBezTo>
                      <a:pt x="36" y="10"/>
                      <a:pt x="30" y="16"/>
                      <a:pt x="24" y="16"/>
                    </a:cubicBezTo>
                    <a:cubicBezTo>
                      <a:pt x="6" y="16"/>
                      <a:pt x="6" y="16"/>
                      <a:pt x="6" y="16"/>
                    </a:cubicBezTo>
                    <a:cubicBezTo>
                      <a:pt x="0" y="22"/>
                      <a:pt x="0" y="22"/>
                      <a:pt x="0" y="22"/>
                    </a:cubicBezTo>
                    <a:cubicBezTo>
                      <a:pt x="0" y="24"/>
                      <a:pt x="0" y="24"/>
                      <a:pt x="0" y="24"/>
                    </a:cubicBezTo>
                    <a:cubicBezTo>
                      <a:pt x="0" y="28"/>
                      <a:pt x="4" y="32"/>
                      <a:pt x="8" y="32"/>
                    </a:cubicBezTo>
                    <a:cubicBezTo>
                      <a:pt x="28" y="32"/>
                      <a:pt x="28" y="32"/>
                      <a:pt x="28" y="32"/>
                    </a:cubicBezTo>
                    <a:cubicBezTo>
                      <a:pt x="40" y="44"/>
                      <a:pt x="40" y="44"/>
                      <a:pt x="40" y="44"/>
                    </a:cubicBezTo>
                    <a:cubicBezTo>
                      <a:pt x="40" y="32"/>
                      <a:pt x="40" y="32"/>
                      <a:pt x="40" y="32"/>
                    </a:cubicBezTo>
                    <a:cubicBezTo>
                      <a:pt x="44" y="32"/>
                      <a:pt x="48" y="28"/>
                      <a:pt x="48" y="24"/>
                    </a:cubicBezTo>
                    <a:cubicBezTo>
                      <a:pt x="48" y="8"/>
                      <a:pt x="48" y="8"/>
                      <a:pt x="48" y="8"/>
                    </a:cubicBezTo>
                    <a:cubicBezTo>
                      <a:pt x="48" y="4"/>
                      <a:pt x="44" y="0"/>
                      <a:pt x="4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37" name="Freeform 52"/>
              <p:cNvSpPr>
                <a:spLocks/>
              </p:cNvSpPr>
              <p:nvPr/>
            </p:nvSpPr>
            <p:spPr bwMode="auto">
              <a:xfrm>
                <a:off x="4752975" y="3660776"/>
                <a:ext cx="273050" cy="250825"/>
              </a:xfrm>
              <a:custGeom>
                <a:avLst/>
                <a:gdLst>
                  <a:gd name="T0" fmla="*/ 20 w 48"/>
                  <a:gd name="T1" fmla="*/ 32 h 44"/>
                  <a:gd name="T2" fmla="*/ 40 w 48"/>
                  <a:gd name="T3" fmla="*/ 32 h 44"/>
                  <a:gd name="T4" fmla="*/ 48 w 48"/>
                  <a:gd name="T5" fmla="*/ 24 h 44"/>
                  <a:gd name="T6" fmla="*/ 48 w 48"/>
                  <a:gd name="T7" fmla="*/ 8 h 44"/>
                  <a:gd name="T8" fmla="*/ 40 w 48"/>
                  <a:gd name="T9" fmla="*/ 0 h 44"/>
                  <a:gd name="T10" fmla="*/ 8 w 48"/>
                  <a:gd name="T11" fmla="*/ 0 h 44"/>
                  <a:gd name="T12" fmla="*/ 0 w 48"/>
                  <a:gd name="T13" fmla="*/ 8 h 44"/>
                  <a:gd name="T14" fmla="*/ 0 w 48"/>
                  <a:gd name="T15" fmla="*/ 24 h 44"/>
                  <a:gd name="T16" fmla="*/ 8 w 48"/>
                  <a:gd name="T17" fmla="*/ 32 h 44"/>
                  <a:gd name="T18" fmla="*/ 8 w 48"/>
                  <a:gd name="T19" fmla="*/ 44 h 44"/>
                  <a:gd name="T20" fmla="*/ 20 w 48"/>
                  <a:gd name="T21" fmla="*/ 32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8" h="44">
                    <a:moveTo>
                      <a:pt x="20" y="32"/>
                    </a:moveTo>
                    <a:cubicBezTo>
                      <a:pt x="40" y="32"/>
                      <a:pt x="40" y="32"/>
                      <a:pt x="40" y="32"/>
                    </a:cubicBezTo>
                    <a:cubicBezTo>
                      <a:pt x="44" y="32"/>
                      <a:pt x="48" y="28"/>
                      <a:pt x="48" y="24"/>
                    </a:cubicBezTo>
                    <a:cubicBezTo>
                      <a:pt x="48" y="8"/>
                      <a:pt x="48" y="8"/>
                      <a:pt x="48" y="8"/>
                    </a:cubicBezTo>
                    <a:cubicBezTo>
                      <a:pt x="48" y="4"/>
                      <a:pt x="44" y="0"/>
                      <a:pt x="40" y="0"/>
                    </a:cubicBezTo>
                    <a:cubicBezTo>
                      <a:pt x="8" y="0"/>
                      <a:pt x="8" y="0"/>
                      <a:pt x="8" y="0"/>
                    </a:cubicBezTo>
                    <a:cubicBezTo>
                      <a:pt x="4" y="0"/>
                      <a:pt x="0" y="4"/>
                      <a:pt x="0" y="8"/>
                    </a:cubicBezTo>
                    <a:cubicBezTo>
                      <a:pt x="0" y="24"/>
                      <a:pt x="0" y="24"/>
                      <a:pt x="0" y="24"/>
                    </a:cubicBezTo>
                    <a:cubicBezTo>
                      <a:pt x="0" y="28"/>
                      <a:pt x="4" y="32"/>
                      <a:pt x="8" y="32"/>
                    </a:cubicBezTo>
                    <a:cubicBezTo>
                      <a:pt x="8" y="44"/>
                      <a:pt x="8" y="44"/>
                      <a:pt x="8" y="44"/>
                    </a:cubicBezTo>
                    <a:lnTo>
                      <a:pt x="20"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grpSp>
      </p:grpSp>
      <p:grpSp>
        <p:nvGrpSpPr>
          <p:cNvPr id="63" name="Group 62"/>
          <p:cNvGrpSpPr/>
          <p:nvPr/>
        </p:nvGrpSpPr>
        <p:grpSpPr>
          <a:xfrm>
            <a:off x="8333567" y="6079046"/>
            <a:ext cx="3518191" cy="307777"/>
            <a:chOff x="8333567" y="6079046"/>
            <a:chExt cx="3518191" cy="307777"/>
          </a:xfrm>
        </p:grpSpPr>
        <p:sp>
          <p:nvSpPr>
            <p:cNvPr id="35" name="TextBox 34"/>
            <p:cNvSpPr txBox="1"/>
            <p:nvPr/>
          </p:nvSpPr>
          <p:spPr>
            <a:xfrm>
              <a:off x="8637080" y="6079046"/>
              <a:ext cx="3214678" cy="307777"/>
            </a:xfrm>
            <a:prstGeom prst="rect">
              <a:avLst/>
            </a:prstGeom>
            <a:noFill/>
          </p:spPr>
          <p:txBody>
            <a:bodyPr wrap="square" rtlCol="0">
              <a:spAutoFit/>
            </a:bodyPr>
            <a:lstStyle/>
            <a:p>
              <a:r>
                <a:rPr lang="id-ID" sz="1400" dirty="0">
                  <a:solidFill>
                    <a:schemeClr val="bg1"/>
                  </a:solidFill>
                </a:rPr>
                <a:t>+</a:t>
              </a:r>
              <a:r>
                <a:rPr lang="nb-NO" sz="1400" dirty="0">
                  <a:solidFill>
                    <a:schemeClr val="bg1"/>
                  </a:solidFill>
                </a:rPr>
                <a:t>47 974 22 223</a:t>
              </a:r>
              <a:endParaRPr lang="id-ID" sz="1400" dirty="0">
                <a:solidFill>
                  <a:schemeClr val="bg1"/>
                </a:solidFill>
              </a:endParaRPr>
            </a:p>
          </p:txBody>
        </p:sp>
        <p:grpSp>
          <p:nvGrpSpPr>
            <p:cNvPr id="41" name="Group 40"/>
            <p:cNvGrpSpPr/>
            <p:nvPr/>
          </p:nvGrpSpPr>
          <p:grpSpPr>
            <a:xfrm>
              <a:off x="8333567" y="6088567"/>
              <a:ext cx="198350" cy="288737"/>
              <a:chOff x="2678113" y="3660776"/>
              <a:chExt cx="250825" cy="365125"/>
            </a:xfrm>
            <a:solidFill>
              <a:schemeClr val="bg1"/>
            </a:solidFill>
          </p:grpSpPr>
          <p:sp>
            <p:nvSpPr>
              <p:cNvPr id="42" name="Rectangle 36"/>
              <p:cNvSpPr>
                <a:spLocks noChangeArrowheads="1"/>
              </p:cNvSpPr>
              <p:nvPr/>
            </p:nvSpPr>
            <p:spPr bwMode="auto">
              <a:xfrm>
                <a:off x="2722563" y="3751263"/>
                <a:ext cx="160337" cy="1381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43" name="Rectangle 37"/>
              <p:cNvSpPr>
                <a:spLocks noChangeArrowheads="1"/>
              </p:cNvSpPr>
              <p:nvPr/>
            </p:nvSpPr>
            <p:spPr bwMode="auto">
              <a:xfrm>
                <a:off x="2768600" y="3706813"/>
                <a:ext cx="68262" cy="22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44" name="Freeform 38"/>
              <p:cNvSpPr>
                <a:spLocks noEditPoints="1"/>
              </p:cNvSpPr>
              <p:nvPr/>
            </p:nvSpPr>
            <p:spPr bwMode="auto">
              <a:xfrm>
                <a:off x="2678113" y="3660776"/>
                <a:ext cx="250825" cy="365125"/>
              </a:xfrm>
              <a:custGeom>
                <a:avLst/>
                <a:gdLst>
                  <a:gd name="T0" fmla="*/ 36 w 44"/>
                  <a:gd name="T1" fmla="*/ 0 h 64"/>
                  <a:gd name="T2" fmla="*/ 8 w 44"/>
                  <a:gd name="T3" fmla="*/ 0 h 64"/>
                  <a:gd name="T4" fmla="*/ 0 w 44"/>
                  <a:gd name="T5" fmla="*/ 8 h 64"/>
                  <a:gd name="T6" fmla="*/ 0 w 44"/>
                  <a:gd name="T7" fmla="*/ 56 h 64"/>
                  <a:gd name="T8" fmla="*/ 8 w 44"/>
                  <a:gd name="T9" fmla="*/ 64 h 64"/>
                  <a:gd name="T10" fmla="*/ 36 w 44"/>
                  <a:gd name="T11" fmla="*/ 64 h 64"/>
                  <a:gd name="T12" fmla="*/ 44 w 44"/>
                  <a:gd name="T13" fmla="*/ 56 h 64"/>
                  <a:gd name="T14" fmla="*/ 44 w 44"/>
                  <a:gd name="T15" fmla="*/ 8 h 64"/>
                  <a:gd name="T16" fmla="*/ 36 w 44"/>
                  <a:gd name="T17" fmla="*/ 0 h 64"/>
                  <a:gd name="T18" fmla="*/ 40 w 44"/>
                  <a:gd name="T19" fmla="*/ 56 h 64"/>
                  <a:gd name="T20" fmla="*/ 36 w 44"/>
                  <a:gd name="T21" fmla="*/ 60 h 64"/>
                  <a:gd name="T22" fmla="*/ 8 w 44"/>
                  <a:gd name="T23" fmla="*/ 60 h 64"/>
                  <a:gd name="T24" fmla="*/ 4 w 44"/>
                  <a:gd name="T25" fmla="*/ 56 h 64"/>
                  <a:gd name="T26" fmla="*/ 4 w 44"/>
                  <a:gd name="T27" fmla="*/ 8 h 64"/>
                  <a:gd name="T28" fmla="*/ 8 w 44"/>
                  <a:gd name="T29" fmla="*/ 4 h 64"/>
                  <a:gd name="T30" fmla="*/ 36 w 44"/>
                  <a:gd name="T31" fmla="*/ 4 h 64"/>
                  <a:gd name="T32" fmla="*/ 40 w 44"/>
                  <a:gd name="T33" fmla="*/ 8 h 64"/>
                  <a:gd name="T34" fmla="*/ 40 w 44"/>
                  <a:gd name="T35" fmla="*/ 56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4" h="64">
                    <a:moveTo>
                      <a:pt x="36" y="0"/>
                    </a:moveTo>
                    <a:cubicBezTo>
                      <a:pt x="8" y="0"/>
                      <a:pt x="8" y="0"/>
                      <a:pt x="8" y="0"/>
                    </a:cubicBezTo>
                    <a:cubicBezTo>
                      <a:pt x="4" y="0"/>
                      <a:pt x="0" y="4"/>
                      <a:pt x="0" y="8"/>
                    </a:cubicBezTo>
                    <a:cubicBezTo>
                      <a:pt x="0" y="56"/>
                      <a:pt x="0" y="56"/>
                      <a:pt x="0" y="56"/>
                    </a:cubicBezTo>
                    <a:cubicBezTo>
                      <a:pt x="0" y="60"/>
                      <a:pt x="4" y="64"/>
                      <a:pt x="8" y="64"/>
                    </a:cubicBezTo>
                    <a:cubicBezTo>
                      <a:pt x="36" y="64"/>
                      <a:pt x="36" y="64"/>
                      <a:pt x="36" y="64"/>
                    </a:cubicBezTo>
                    <a:cubicBezTo>
                      <a:pt x="40" y="64"/>
                      <a:pt x="44" y="60"/>
                      <a:pt x="44" y="56"/>
                    </a:cubicBezTo>
                    <a:cubicBezTo>
                      <a:pt x="44" y="8"/>
                      <a:pt x="44" y="8"/>
                      <a:pt x="44" y="8"/>
                    </a:cubicBezTo>
                    <a:cubicBezTo>
                      <a:pt x="44" y="4"/>
                      <a:pt x="40" y="0"/>
                      <a:pt x="36" y="0"/>
                    </a:cubicBezTo>
                    <a:close/>
                    <a:moveTo>
                      <a:pt x="40" y="56"/>
                    </a:moveTo>
                    <a:cubicBezTo>
                      <a:pt x="40" y="58"/>
                      <a:pt x="38" y="60"/>
                      <a:pt x="36" y="60"/>
                    </a:cubicBezTo>
                    <a:cubicBezTo>
                      <a:pt x="8" y="60"/>
                      <a:pt x="8" y="60"/>
                      <a:pt x="8" y="60"/>
                    </a:cubicBezTo>
                    <a:cubicBezTo>
                      <a:pt x="6" y="60"/>
                      <a:pt x="4" y="58"/>
                      <a:pt x="4" y="56"/>
                    </a:cubicBezTo>
                    <a:cubicBezTo>
                      <a:pt x="4" y="8"/>
                      <a:pt x="4" y="8"/>
                      <a:pt x="4" y="8"/>
                    </a:cubicBezTo>
                    <a:cubicBezTo>
                      <a:pt x="4" y="6"/>
                      <a:pt x="6" y="4"/>
                      <a:pt x="8" y="4"/>
                    </a:cubicBezTo>
                    <a:cubicBezTo>
                      <a:pt x="36" y="4"/>
                      <a:pt x="36" y="4"/>
                      <a:pt x="36" y="4"/>
                    </a:cubicBezTo>
                    <a:cubicBezTo>
                      <a:pt x="38" y="4"/>
                      <a:pt x="40" y="6"/>
                      <a:pt x="40" y="8"/>
                    </a:cubicBezTo>
                    <a:lnTo>
                      <a:pt x="40" y="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45" name="Rectangle 39"/>
              <p:cNvSpPr>
                <a:spLocks noChangeArrowheads="1"/>
              </p:cNvSpPr>
              <p:nvPr/>
            </p:nvSpPr>
            <p:spPr bwMode="auto">
              <a:xfrm>
                <a:off x="2722563" y="3957638"/>
                <a:ext cx="23812" cy="22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46" name="Rectangle 40"/>
              <p:cNvSpPr>
                <a:spLocks noChangeArrowheads="1"/>
              </p:cNvSpPr>
              <p:nvPr/>
            </p:nvSpPr>
            <p:spPr bwMode="auto">
              <a:xfrm>
                <a:off x="2768600" y="3957638"/>
                <a:ext cx="23812" cy="22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47" name="Rectangle 41"/>
              <p:cNvSpPr>
                <a:spLocks noChangeArrowheads="1"/>
              </p:cNvSpPr>
              <p:nvPr/>
            </p:nvSpPr>
            <p:spPr bwMode="auto">
              <a:xfrm>
                <a:off x="2814638" y="3957638"/>
                <a:ext cx="22225" cy="22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48" name="Rectangle 42"/>
              <p:cNvSpPr>
                <a:spLocks noChangeArrowheads="1"/>
              </p:cNvSpPr>
              <p:nvPr/>
            </p:nvSpPr>
            <p:spPr bwMode="auto">
              <a:xfrm>
                <a:off x="2860675" y="3957638"/>
                <a:ext cx="22225" cy="22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49" name="Rectangle 43"/>
              <p:cNvSpPr>
                <a:spLocks noChangeArrowheads="1"/>
              </p:cNvSpPr>
              <p:nvPr/>
            </p:nvSpPr>
            <p:spPr bwMode="auto">
              <a:xfrm>
                <a:off x="2722563" y="3911601"/>
                <a:ext cx="23812" cy="22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50" name="Rectangle 44"/>
              <p:cNvSpPr>
                <a:spLocks noChangeArrowheads="1"/>
              </p:cNvSpPr>
              <p:nvPr/>
            </p:nvSpPr>
            <p:spPr bwMode="auto">
              <a:xfrm>
                <a:off x="2768600" y="3911601"/>
                <a:ext cx="23812" cy="22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51" name="Rectangle 45"/>
              <p:cNvSpPr>
                <a:spLocks noChangeArrowheads="1"/>
              </p:cNvSpPr>
              <p:nvPr/>
            </p:nvSpPr>
            <p:spPr bwMode="auto">
              <a:xfrm>
                <a:off x="2814638" y="3911601"/>
                <a:ext cx="22225" cy="22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52" name="Rectangle 46"/>
              <p:cNvSpPr>
                <a:spLocks noChangeArrowheads="1"/>
              </p:cNvSpPr>
              <p:nvPr/>
            </p:nvSpPr>
            <p:spPr bwMode="auto">
              <a:xfrm>
                <a:off x="2860675" y="3911601"/>
                <a:ext cx="22225" cy="22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d-ID"/>
              </a:p>
            </p:txBody>
          </p:sp>
        </p:grpSp>
      </p:grpSp>
      <p:sp>
        <p:nvSpPr>
          <p:cNvPr id="54" name="TextBox 53"/>
          <p:cNvSpPr txBox="1"/>
          <p:nvPr/>
        </p:nvSpPr>
        <p:spPr>
          <a:xfrm>
            <a:off x="773185" y="5073805"/>
            <a:ext cx="3297698" cy="923330"/>
          </a:xfrm>
          <a:prstGeom prst="rect">
            <a:avLst/>
          </a:prstGeom>
          <a:noFill/>
        </p:spPr>
        <p:txBody>
          <a:bodyPr wrap="none" rtlCol="0">
            <a:spAutoFit/>
          </a:bodyPr>
          <a:lstStyle/>
          <a:p>
            <a:pPr algn="r"/>
            <a:r>
              <a:rPr lang="nb-NO" sz="5400" dirty="0" err="1">
                <a:solidFill>
                  <a:schemeClr val="bg1"/>
                </a:solidFill>
                <a:latin typeface="+mj-lt"/>
              </a:rPr>
              <a:t>Thank</a:t>
            </a:r>
            <a:r>
              <a:rPr lang="nb-NO" sz="5400" dirty="0">
                <a:solidFill>
                  <a:schemeClr val="bg1"/>
                </a:solidFill>
                <a:latin typeface="+mj-lt"/>
              </a:rPr>
              <a:t> </a:t>
            </a:r>
            <a:r>
              <a:rPr lang="nb-NO" sz="5400" dirty="0" err="1">
                <a:solidFill>
                  <a:schemeClr val="bg1"/>
                </a:solidFill>
                <a:latin typeface="+mj-lt"/>
              </a:rPr>
              <a:t>you</a:t>
            </a:r>
            <a:r>
              <a:rPr lang="nb-NO" sz="5400" dirty="0">
                <a:solidFill>
                  <a:schemeClr val="bg1"/>
                </a:solidFill>
                <a:latin typeface="+mj-lt"/>
              </a:rPr>
              <a:t>!</a:t>
            </a:r>
            <a:endParaRPr lang="en-US" sz="5400" dirty="0">
              <a:solidFill>
                <a:schemeClr val="bg1"/>
              </a:solidFill>
              <a:latin typeface="+mj-lt"/>
            </a:endParaRPr>
          </a:p>
        </p:txBody>
      </p:sp>
    </p:spTree>
    <p:extLst>
      <p:ext uri="{BB962C8B-B14F-4D97-AF65-F5344CB8AC3E}">
        <p14:creationId xmlns:p14="http://schemas.microsoft.com/office/powerpoint/2010/main" val="3466848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10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20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ppt_x"/>
                                          </p:val>
                                        </p:tav>
                                        <p:tav tm="100000">
                                          <p:val>
                                            <p:strVal val="#ppt_x"/>
                                          </p:val>
                                        </p:tav>
                                      </p:tavLst>
                                    </p:anim>
                                    <p:anim calcmode="lin" valueType="num">
                                      <p:cBhvr additive="base">
                                        <p:cTn id="16" dur="500" fill="hold"/>
                                        <p:tgtEl>
                                          <p:spTgt spid="8"/>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30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40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500" fill="hold"/>
                                        <p:tgtEl>
                                          <p:spTgt spid="6"/>
                                        </p:tgtEl>
                                        <p:attrNameLst>
                                          <p:attrName>ppt_x</p:attrName>
                                        </p:attrNameLst>
                                      </p:cBhvr>
                                      <p:tavLst>
                                        <p:tav tm="0">
                                          <p:val>
                                            <p:strVal val="#ppt_x"/>
                                          </p:val>
                                        </p:tav>
                                        <p:tav tm="100000">
                                          <p:val>
                                            <p:strVal val="#ppt_x"/>
                                          </p:val>
                                        </p:tav>
                                      </p:tavLst>
                                    </p:anim>
                                    <p:anim calcmode="lin" valueType="num">
                                      <p:cBhvr additive="base">
                                        <p:cTn id="24" dur="500" fill="hold"/>
                                        <p:tgtEl>
                                          <p:spTgt spid="6"/>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500"/>
                                  </p:stCondLst>
                                  <p:childTnLst>
                                    <p:set>
                                      <p:cBhvr>
                                        <p:cTn id="26" dur="1" fill="hold">
                                          <p:stCondLst>
                                            <p:cond delay="0"/>
                                          </p:stCondLst>
                                        </p:cTn>
                                        <p:tgtEl>
                                          <p:spTgt spid="5"/>
                                        </p:tgtEl>
                                        <p:attrNameLst>
                                          <p:attrName>style.visibility</p:attrName>
                                        </p:attrNameLst>
                                      </p:cBhvr>
                                      <p:to>
                                        <p:strVal val="visible"/>
                                      </p:to>
                                    </p:set>
                                    <p:anim calcmode="lin" valueType="num">
                                      <p:cBhvr additive="base">
                                        <p:cTn id="27" dur="500" fill="hold"/>
                                        <p:tgtEl>
                                          <p:spTgt spid="5"/>
                                        </p:tgtEl>
                                        <p:attrNameLst>
                                          <p:attrName>ppt_x</p:attrName>
                                        </p:attrNameLst>
                                      </p:cBhvr>
                                      <p:tavLst>
                                        <p:tav tm="0">
                                          <p:val>
                                            <p:strVal val="#ppt_x"/>
                                          </p:val>
                                        </p:tav>
                                        <p:tav tm="100000">
                                          <p:val>
                                            <p:strVal val="#ppt_x"/>
                                          </p:val>
                                        </p:tav>
                                      </p:tavLst>
                                    </p:anim>
                                    <p:anim calcmode="lin" valueType="num">
                                      <p:cBhvr additive="base">
                                        <p:cTn id="28" dur="500" fill="hold"/>
                                        <p:tgtEl>
                                          <p:spTgt spid="5"/>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600"/>
                                  </p:stCondLst>
                                  <p:childTnLst>
                                    <p:set>
                                      <p:cBhvr>
                                        <p:cTn id="30" dur="1" fill="hold">
                                          <p:stCondLst>
                                            <p:cond delay="0"/>
                                          </p:stCondLst>
                                        </p:cTn>
                                        <p:tgtEl>
                                          <p:spTgt spid="4"/>
                                        </p:tgtEl>
                                        <p:attrNameLst>
                                          <p:attrName>style.visibility</p:attrName>
                                        </p:attrNameLst>
                                      </p:cBhvr>
                                      <p:to>
                                        <p:strVal val="visible"/>
                                      </p:to>
                                    </p:set>
                                    <p:anim calcmode="lin" valueType="num">
                                      <p:cBhvr additive="base">
                                        <p:cTn id="31" dur="500" fill="hold"/>
                                        <p:tgtEl>
                                          <p:spTgt spid="4"/>
                                        </p:tgtEl>
                                        <p:attrNameLst>
                                          <p:attrName>ppt_x</p:attrName>
                                        </p:attrNameLst>
                                      </p:cBhvr>
                                      <p:tavLst>
                                        <p:tav tm="0">
                                          <p:val>
                                            <p:strVal val="#ppt_x"/>
                                          </p:val>
                                        </p:tav>
                                        <p:tav tm="100000">
                                          <p:val>
                                            <p:strVal val="#ppt_x"/>
                                          </p:val>
                                        </p:tav>
                                      </p:tavLst>
                                    </p:anim>
                                    <p:anim calcmode="lin" valueType="num">
                                      <p:cBhvr additive="base">
                                        <p:cTn id="32" dur="500" fill="hold"/>
                                        <p:tgtEl>
                                          <p:spTgt spid="4"/>
                                        </p:tgtEl>
                                        <p:attrNameLst>
                                          <p:attrName>ppt_y</p:attrName>
                                        </p:attrNameLst>
                                      </p:cBhvr>
                                      <p:tavLst>
                                        <p:tav tm="0">
                                          <p:val>
                                            <p:strVal val="1+#ppt_h/2"/>
                                          </p:val>
                                        </p:tav>
                                        <p:tav tm="100000">
                                          <p:val>
                                            <p:strVal val="#ppt_y"/>
                                          </p:val>
                                        </p:tav>
                                      </p:tavLst>
                                    </p:anim>
                                  </p:childTnLst>
                                </p:cTn>
                              </p:par>
                            </p:childTnLst>
                          </p:cTn>
                        </p:par>
                        <p:par>
                          <p:cTn id="33" fill="hold">
                            <p:stCondLst>
                              <p:cond delay="1100"/>
                            </p:stCondLst>
                            <p:childTnLst>
                              <p:par>
                                <p:cTn id="34" presetID="10" presetClass="entr" presetSubtype="0" fill="hold" grpId="0" nodeType="afterEffect">
                                  <p:stCondLst>
                                    <p:cond delay="0"/>
                                  </p:stCondLst>
                                  <p:childTnLst>
                                    <p:set>
                                      <p:cBhvr>
                                        <p:cTn id="35" dur="1" fill="hold">
                                          <p:stCondLst>
                                            <p:cond delay="0"/>
                                          </p:stCondLst>
                                        </p:cTn>
                                        <p:tgtEl>
                                          <p:spTgt spid="54"/>
                                        </p:tgtEl>
                                        <p:attrNameLst>
                                          <p:attrName>style.visibility</p:attrName>
                                        </p:attrNameLst>
                                      </p:cBhvr>
                                      <p:to>
                                        <p:strVal val="visible"/>
                                      </p:to>
                                    </p:set>
                                    <p:animEffect transition="in" filter="fade">
                                      <p:cBhvr>
                                        <p:cTn id="36" dur="500"/>
                                        <p:tgtEl>
                                          <p:spTgt spid="54"/>
                                        </p:tgtEl>
                                      </p:cBhvr>
                                    </p:animEffect>
                                  </p:childTnLst>
                                </p:cTn>
                              </p:par>
                            </p:childTnLst>
                          </p:cTn>
                        </p:par>
                        <p:par>
                          <p:cTn id="37" fill="hold">
                            <p:stCondLst>
                              <p:cond delay="1600"/>
                            </p:stCondLst>
                            <p:childTnLst>
                              <p:par>
                                <p:cTn id="38" presetID="10" presetClass="entr" presetSubtype="0" fill="hold" nodeType="after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fade">
                                      <p:cBhvr>
                                        <p:cTn id="40" dur="500"/>
                                        <p:tgtEl>
                                          <p:spTgt spid="25"/>
                                        </p:tgtEl>
                                      </p:cBhvr>
                                    </p:animEffect>
                                  </p:childTnLst>
                                </p:cTn>
                              </p:par>
                            </p:childTnLst>
                          </p:cTn>
                        </p:par>
                        <p:par>
                          <p:cTn id="41" fill="hold">
                            <p:stCondLst>
                              <p:cond delay="2100"/>
                            </p:stCondLst>
                            <p:childTnLst>
                              <p:par>
                                <p:cTn id="42" presetID="10" presetClass="entr" presetSubtype="0" fill="hold" grpId="0" nodeType="afterEffect">
                                  <p:stCondLst>
                                    <p:cond delay="0"/>
                                  </p:stCondLst>
                                  <p:childTnLst>
                                    <p:set>
                                      <p:cBhvr>
                                        <p:cTn id="43" dur="1" fill="hold">
                                          <p:stCondLst>
                                            <p:cond delay="0"/>
                                          </p:stCondLst>
                                        </p:cTn>
                                        <p:tgtEl>
                                          <p:spTgt spid="31"/>
                                        </p:tgtEl>
                                        <p:attrNameLst>
                                          <p:attrName>style.visibility</p:attrName>
                                        </p:attrNameLst>
                                      </p:cBhvr>
                                      <p:to>
                                        <p:strVal val="visible"/>
                                      </p:to>
                                    </p:set>
                                    <p:animEffect transition="in" filter="fade">
                                      <p:cBhvr>
                                        <p:cTn id="44" dur="500"/>
                                        <p:tgtEl>
                                          <p:spTgt spid="31"/>
                                        </p:tgtEl>
                                      </p:cBhvr>
                                    </p:animEffect>
                                  </p:childTnLst>
                                </p:cTn>
                              </p:par>
                            </p:childTnLst>
                          </p:cTn>
                        </p:par>
                        <p:par>
                          <p:cTn id="45" fill="hold">
                            <p:stCondLst>
                              <p:cond delay="2600"/>
                            </p:stCondLst>
                            <p:childTnLst>
                              <p:par>
                                <p:cTn id="46" presetID="10" presetClass="entr" presetSubtype="0" fill="hold" nodeType="afterEffect">
                                  <p:stCondLst>
                                    <p:cond delay="0"/>
                                  </p:stCondLst>
                                  <p:childTnLst>
                                    <p:set>
                                      <p:cBhvr>
                                        <p:cTn id="47" dur="1" fill="hold">
                                          <p:stCondLst>
                                            <p:cond delay="0"/>
                                          </p:stCondLst>
                                        </p:cTn>
                                        <p:tgtEl>
                                          <p:spTgt spid="64"/>
                                        </p:tgtEl>
                                        <p:attrNameLst>
                                          <p:attrName>style.visibility</p:attrName>
                                        </p:attrNameLst>
                                      </p:cBhvr>
                                      <p:to>
                                        <p:strVal val="visible"/>
                                      </p:to>
                                    </p:set>
                                    <p:animEffect transition="in" filter="fade">
                                      <p:cBhvr>
                                        <p:cTn id="48" dur="500"/>
                                        <p:tgtEl>
                                          <p:spTgt spid="64"/>
                                        </p:tgtEl>
                                      </p:cBhvr>
                                    </p:animEffect>
                                  </p:childTnLst>
                                </p:cTn>
                              </p:par>
                            </p:childTnLst>
                          </p:cTn>
                        </p:par>
                        <p:par>
                          <p:cTn id="49" fill="hold">
                            <p:stCondLst>
                              <p:cond delay="3100"/>
                            </p:stCondLst>
                            <p:childTnLst>
                              <p:par>
                                <p:cTn id="50" presetID="10" presetClass="entr" presetSubtype="0" fill="hold" nodeType="afterEffect">
                                  <p:stCondLst>
                                    <p:cond delay="0"/>
                                  </p:stCondLst>
                                  <p:childTnLst>
                                    <p:set>
                                      <p:cBhvr>
                                        <p:cTn id="51" dur="1" fill="hold">
                                          <p:stCondLst>
                                            <p:cond delay="0"/>
                                          </p:stCondLst>
                                        </p:cTn>
                                        <p:tgtEl>
                                          <p:spTgt spid="63"/>
                                        </p:tgtEl>
                                        <p:attrNameLst>
                                          <p:attrName>style.visibility</p:attrName>
                                        </p:attrNameLst>
                                      </p:cBhvr>
                                      <p:to>
                                        <p:strVal val="visible"/>
                                      </p:to>
                                    </p:set>
                                    <p:animEffect transition="in" filter="fade">
                                      <p:cBhvr>
                                        <p:cTn id="52"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31" grpId="0"/>
      <p:bldP spid="54" grpId="0"/>
    </p:bldLst>
  </p:timing>
</p:sld>
</file>

<file path=ppt/theme/theme1.xml><?xml version="1.0" encoding="utf-8"?>
<a:theme xmlns:a="http://schemas.openxmlformats.org/drawingml/2006/main" name="Office Theme">
  <a:themeElements>
    <a:clrScheme name="Ever-Blue">
      <a:dk1>
        <a:sysClr val="windowText" lastClr="000000"/>
      </a:dk1>
      <a:lt1>
        <a:sysClr val="window" lastClr="FFFFFF"/>
      </a:lt1>
      <a:dk2>
        <a:srgbClr val="44546A"/>
      </a:dk2>
      <a:lt2>
        <a:srgbClr val="E7E6E6"/>
      </a:lt2>
      <a:accent1>
        <a:srgbClr val="2980B9"/>
      </a:accent1>
      <a:accent2>
        <a:srgbClr val="2D8AC9"/>
      </a:accent2>
      <a:accent3>
        <a:srgbClr val="3693D2"/>
      </a:accent3>
      <a:accent4>
        <a:srgbClr val="50A1D8"/>
      </a:accent4>
      <a:accent5>
        <a:srgbClr val="65ACDD"/>
      </a:accent5>
      <a:accent6>
        <a:srgbClr val="7EBAE2"/>
      </a:accent6>
      <a:hlink>
        <a:srgbClr val="0563C1"/>
      </a:hlink>
      <a:folHlink>
        <a:srgbClr val="954F72"/>
      </a:folHlink>
    </a:clrScheme>
    <a:fontScheme name="Custom 1">
      <a:majorFont>
        <a:latin typeface="Source Sans Pro Ligh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AB777679557F664BB83D39BD9588098F" ma:contentTypeVersion="2" ma:contentTypeDescription="Opprett et nytt dokument." ma:contentTypeScope="" ma:versionID="448c4c94abf22923a265321da2317376">
  <xsd:schema xmlns:xsd="http://www.w3.org/2001/XMLSchema" xmlns:xs="http://www.w3.org/2001/XMLSchema" xmlns:p="http://schemas.microsoft.com/office/2006/metadata/properties" xmlns:ns3="9538ab6f-ab6b-4618-a05a-4b76f74c8e56" targetNamespace="http://schemas.microsoft.com/office/2006/metadata/properties" ma:root="true" ma:fieldsID="974295aadb69914717c4bd6e5fae1cd7" ns3:_="">
    <xsd:import namespace="9538ab6f-ab6b-4618-a05a-4b76f74c8e56"/>
    <xsd:element name="properties">
      <xsd:complexType>
        <xsd:sequence>
          <xsd:element name="documentManagement">
            <xsd:complexType>
              <xsd:all>
                <xsd:element ref="ns3:MediaServiceMetadata" minOccurs="0"/>
                <xsd:element ref="ns3: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538ab6f-ab6b-4618-a05a-4b76f74c8e5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nholdstype"/>
        <xsd:element ref="dc:title" minOccurs="0" maxOccurs="1" ma:index="4" ma:displayName="Tit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77588D4-4D79-4453-8CF6-7FEB428BC24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538ab6f-ab6b-4618-a05a-4b76f74c8e5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9F6DC54-6182-4D3A-836F-8FF9C6CBF069}">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0E433327-21F1-4DF5-8BF2-F979144AEE5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74</TotalTime>
  <Words>3529</Words>
  <Application>Microsoft Office PowerPoint</Application>
  <PresentationFormat>Widescreen</PresentationFormat>
  <Paragraphs>351</Paragraphs>
  <Slides>58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58</vt:i4>
      </vt:variant>
    </vt:vector>
  </HeadingPairs>
  <TitlesOfParts>
    <vt:vector size="62" baseType="lpstr">
      <vt:lpstr>Calibri</vt:lpstr>
      <vt:lpstr>Source Sans Pro Light</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Cases we’ll study</vt:lpstr>
      <vt:lpstr>Legal systems we’ll compare</vt:lpstr>
      <vt:lpstr>Norwegian law</vt:lpstr>
      <vt:lpstr>Norwegian law</vt:lpstr>
      <vt:lpstr>German law</vt:lpstr>
      <vt:lpstr>German law</vt:lpstr>
      <vt:lpstr>Italian law</vt:lpstr>
      <vt:lpstr>Italian law</vt:lpstr>
      <vt:lpstr>English law</vt:lpstr>
      <vt:lpstr>English law</vt:lpstr>
      <vt:lpstr>Written amendment to an existing contract</vt:lpstr>
      <vt:lpstr>Written amendment to an existing contract</vt:lpstr>
      <vt:lpstr>Irrevocable offer</vt:lpstr>
      <vt:lpstr>Irrevocable offer</vt:lpstr>
      <vt:lpstr>Modified acceptance</vt:lpstr>
      <vt:lpstr>Modified acceptance</vt:lpstr>
      <vt:lpstr>Battle of forms</vt:lpstr>
      <vt:lpstr>Battle of the forms</vt:lpstr>
      <vt:lpstr>Break-off of negotiations</vt:lpstr>
      <vt:lpstr>Break-off of negotiations</vt:lpstr>
      <vt:lpstr>PowerPoint Presentation</vt:lpstr>
      <vt:lpstr>Concepts of reasonableness and good faith</vt:lpstr>
      <vt:lpstr>General versus individually negotiated terms</vt:lpstr>
      <vt:lpstr>Cases we’ll study</vt:lpstr>
      <vt:lpstr>PowerPoint Presentation</vt:lpstr>
      <vt:lpstr>Limitation of contractual remedies</vt:lpstr>
      <vt:lpstr>Termination for immaterial breach</vt:lpstr>
      <vt:lpstr>Termination for immaterial breach</vt:lpstr>
      <vt:lpstr>Determination of price</vt:lpstr>
      <vt:lpstr>Norwegian law</vt:lpstr>
      <vt:lpstr>German law</vt:lpstr>
      <vt:lpstr>German law</vt:lpstr>
      <vt:lpstr>Italian law</vt:lpstr>
      <vt:lpstr>England</vt:lpstr>
      <vt:lpstr>Limitation of remedies</vt:lpstr>
      <vt:lpstr>Termination for immaterial breach</vt:lpstr>
      <vt:lpstr>Determination of price</vt:lpstr>
      <vt:lpstr>PowerPoint Presentation</vt:lpstr>
      <vt:lpstr>Withheld information</vt:lpstr>
      <vt:lpstr>Undue influence</vt:lpstr>
      <vt:lpstr>Norwegian law</vt:lpstr>
      <vt:lpstr>German law</vt:lpstr>
      <vt:lpstr>Italian law</vt:lpstr>
      <vt:lpstr>English law</vt:lpstr>
      <vt:lpstr>Withheld information</vt:lpstr>
      <vt:lpstr>Undue influence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Milos Novovic</dc:creator>
  <cp:lastModifiedBy>Milos Novovic</cp:lastModifiedBy>
  <cp:revision>4</cp:revision>
  <dcterms:created xsi:type="dcterms:W3CDTF">2020-02-04T16:04:20Z</dcterms:created>
  <dcterms:modified xsi:type="dcterms:W3CDTF">2020-02-11T20:20:25Z</dcterms:modified>
</cp:coreProperties>
</file>